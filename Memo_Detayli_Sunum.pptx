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0"/>
            <a:ext cx="54864" cy="6858000"/>
          </a:xfrm>
          <a:prstGeom prst="rect">
            <a:avLst/>
          </a:prstGeom>
          <a:solidFill>
            <a:srgbClr val="B88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412480" y="-1645920"/>
            <a:ext cx="5486400" cy="5486400"/>
          </a:xfrm>
          <a:prstGeom prst="ellipse">
            <a:avLst/>
          </a:prstGeom>
          <a:solidFill>
            <a:srgbClr val="262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784080" y="3383280"/>
            <a:ext cx="3566160" cy="3566160"/>
          </a:xfrm>
          <a:prstGeom prst="ellipse">
            <a:avLst/>
          </a:prstGeom>
          <a:solidFill>
            <a:srgbClr val="2F2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698480" y="4937760"/>
            <a:ext cx="1828800" cy="1828800"/>
          </a:xfrm>
          <a:prstGeom prst="ellipse">
            <a:avLst/>
          </a:prstGeom>
          <a:solidFill>
            <a:srgbClr val="3833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14300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35B"/>
                </a:solidFill>
                <a:latin typeface="Segoe UI Semibold"/>
              </a:rPr>
              <a:t>YEREL  ·  GİZLİ  ·  SENİN KONTROLÜNDE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600200"/>
            <a:ext cx="82296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0" b="1">
                <a:solidFill>
                  <a:srgbClr val="EDE8DF"/>
                </a:solidFill>
                <a:latin typeface="Segoe UI Light"/>
              </a:rPr>
              <a:t>Memo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200400"/>
            <a:ext cx="9144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C9A35B"/>
                </a:solidFill>
                <a:latin typeface="Segoe UI Semibold"/>
              </a:rPr>
              <a:t>Yapay Zeka Hafıza Kabuğu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069080"/>
            <a:ext cx="8595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>
                <a:solidFill>
                  <a:srgbClr val="EDE8DF"/>
                </a:solidFill>
                <a:latin typeface="Segoe UI"/>
              </a:rPr>
              <a:t>Kendi bilgisayarında çalışan, seni hatırlayan bir “İkinci Beyin”.</a:t>
            </a:r>
          </a:p>
          <a:p>
            <a:pPr algn="l">
              <a:lnSpc>
                <a:spcPct val="125000"/>
              </a:lnSpc>
            </a:pPr>
            <a:r>
              <a:rPr sz="1500" b="0">
                <a:solidFill>
                  <a:srgbClr val="9A9388"/>
                </a:solidFill>
                <a:latin typeface="Segoe UI"/>
              </a:rPr>
              <a:t>Bulut yok · telemetri yok · veri dışarı çıkmaz — %100 çevrimdışı.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05840" y="5257800"/>
            <a:ext cx="1386230" cy="310896"/>
          </a:xfrm>
          <a:prstGeom prst="roundRect">
            <a:avLst>
              <a:gd name="adj" fmla="val 50000"/>
            </a:avLst>
          </a:prstGeom>
          <a:solidFill>
            <a:srgbClr val="2F2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5276088"/>
            <a:ext cx="138623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C9A35B"/>
                </a:solidFill>
                <a:latin typeface="Segoe UI Semibold"/>
              </a:rPr>
              <a:t>Kalıcı Hafıza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556662" y="5257800"/>
            <a:ext cx="629107" cy="310896"/>
          </a:xfrm>
          <a:prstGeom prst="roundRect">
            <a:avLst>
              <a:gd name="adj" fmla="val 50000"/>
            </a:avLst>
          </a:prstGeom>
          <a:solidFill>
            <a:srgbClr val="2F2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556662" y="5276088"/>
            <a:ext cx="629107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C9A35B"/>
                </a:solidFill>
                <a:latin typeface="Segoe UI Semibold"/>
              </a:rPr>
              <a:t>Ajan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50361" y="5257800"/>
            <a:ext cx="1049731" cy="310896"/>
          </a:xfrm>
          <a:prstGeom prst="roundRect">
            <a:avLst>
              <a:gd name="adj" fmla="val 50000"/>
            </a:avLst>
          </a:prstGeom>
          <a:solidFill>
            <a:srgbClr val="2F2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50361" y="5276088"/>
            <a:ext cx="1049731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C9A35B"/>
                </a:solidFill>
                <a:latin typeface="Segoe UI Semibold"/>
              </a:rPr>
              <a:t>Orchestra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64684" y="5257800"/>
            <a:ext cx="965606" cy="310896"/>
          </a:xfrm>
          <a:prstGeom prst="roundRect">
            <a:avLst>
              <a:gd name="adj" fmla="val 50000"/>
            </a:avLst>
          </a:prstGeom>
          <a:solidFill>
            <a:srgbClr val="2F2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64684" y="5276088"/>
            <a:ext cx="96560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C9A35B"/>
                </a:solidFill>
                <a:latin typeface="Segoe UI Semibold"/>
              </a:rPr>
              <a:t>WhatsApp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94883" y="5257800"/>
            <a:ext cx="797356" cy="310896"/>
          </a:xfrm>
          <a:prstGeom prst="roundRect">
            <a:avLst>
              <a:gd name="adj" fmla="val 50000"/>
            </a:avLst>
          </a:prstGeom>
          <a:solidFill>
            <a:srgbClr val="2F2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94883" y="5276088"/>
            <a:ext cx="79735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C9A35B"/>
                </a:solidFill>
                <a:latin typeface="Segoe UI Semibold"/>
              </a:rPr>
              <a:t>Takvim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656831" y="5257800"/>
            <a:ext cx="1302105" cy="310896"/>
          </a:xfrm>
          <a:prstGeom prst="roundRect">
            <a:avLst>
              <a:gd name="adj" fmla="val 50000"/>
            </a:avLst>
          </a:prstGeom>
          <a:solidFill>
            <a:srgbClr val="2F2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56831" y="5276088"/>
            <a:ext cx="1302105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C9A35B"/>
                </a:solidFill>
                <a:latin typeface="Segoe UI Semibold"/>
              </a:rPr>
              <a:t>Duygu Motoru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60350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35B"/>
                </a:solidFill>
                <a:latin typeface="Segoe UI Semibold"/>
              </a:rPr>
              <a:t>v3.1.0-beta</a:t>
            </a:r>
            <a:r>
              <a:rPr sz="1300" b="0">
                <a:solidFill>
                  <a:srgbClr val="9A9388"/>
                </a:solidFill>
                <a:latin typeface="Segoe UI"/>
              </a:rPr>
              <a:t>    ·    Buğra tarafından geliştirildi    ·    Kapsamlı Tanıtım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C9A35B"/>
                </a:solidFill>
                <a:latin typeface="Segoe UI Semibold"/>
              </a:rPr>
              <a:t>REHBER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457200"/>
            <a:ext cx="1005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50" b="1">
                <a:solidFill>
                  <a:srgbClr val="9A9388"/>
                </a:solidFill>
                <a:latin typeface="Segoe UI Semibold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841248"/>
            <a:ext cx="106070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EDE8DF"/>
                </a:solidFill>
                <a:latin typeface="Segoe UI Semibold"/>
              </a:rPr>
              <a:t>İçindekiler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72768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0">
                <a:solidFill>
                  <a:srgbClr val="9A9388"/>
                </a:solidFill>
                <a:latin typeface="Segoe UI"/>
              </a:rPr>
              <a:t>Bu sunum Memo'yu dokuz bölümde, özellik özellik ele alır.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121408"/>
            <a:ext cx="10543032" cy="18288"/>
          </a:xfrm>
          <a:prstGeom prst="rect">
            <a:avLst/>
          </a:prstGeom>
          <a:solidFill>
            <a:srgbClr val="3A35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2116836"/>
            <a:ext cx="1280160" cy="32004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419088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C9A35B"/>
                </a:solidFill>
                <a:latin typeface="Segoe UI Semibold"/>
              </a:rPr>
              <a:t>MEMO</a:t>
            </a:r>
            <a:r>
              <a:rPr sz="1050" b="0">
                <a:solidFill>
                  <a:srgbClr val="6E685E"/>
                </a:solidFill>
                <a:latin typeface="Segoe UI"/>
              </a:rPr>
              <a:t>  ·  Yerel Yapay Zeka Hafıza Kabuğu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514600"/>
            <a:ext cx="3383280" cy="1051560"/>
          </a:xfrm>
          <a:prstGeom prst="roundRect">
            <a:avLst>
              <a:gd name="adj" fmla="val 6000"/>
            </a:avLst>
          </a:prstGeom>
          <a:solidFill>
            <a:srgbClr val="262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4128" y="2679192"/>
            <a:ext cx="1097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C9A35B"/>
                </a:solidFill>
                <a:latin typeface="Segoe UI Light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65960" y="2697480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EDE8DF"/>
                </a:solidFill>
                <a:latin typeface="Segoe UI Semibold"/>
              </a:rPr>
              <a:t>Memo Nedir &amp; Felsefe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3118104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9A9388"/>
                </a:solidFill>
                <a:latin typeface="Segoe UI"/>
              </a:rPr>
              <a:t>İkinci beyin, gizlilik, tasarım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07408" y="2514600"/>
            <a:ext cx="3383280" cy="1051560"/>
          </a:xfrm>
          <a:prstGeom prst="roundRect">
            <a:avLst>
              <a:gd name="adj" fmla="val 6000"/>
            </a:avLst>
          </a:prstGeom>
          <a:solidFill>
            <a:srgbClr val="262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08576" y="2679192"/>
            <a:ext cx="1097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C9A35B"/>
                </a:solidFill>
                <a:latin typeface="Segoe UI Light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50408" y="2697480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EDE8DF"/>
                </a:solidFill>
                <a:latin typeface="Segoe UI Semibold"/>
              </a:rPr>
              <a:t>Hafıza &amp; Zeka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50408" y="3118104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9A9388"/>
                </a:solidFill>
                <a:latin typeface="Segoe UI"/>
              </a:rPr>
              <a:t>RAG, sqlite-vec, embedding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91856" y="2514600"/>
            <a:ext cx="3383280" cy="1051560"/>
          </a:xfrm>
          <a:prstGeom prst="roundRect">
            <a:avLst>
              <a:gd name="adj" fmla="val 6000"/>
            </a:avLst>
          </a:prstGeom>
          <a:solidFill>
            <a:srgbClr val="262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93024" y="2679192"/>
            <a:ext cx="1097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C9A35B"/>
                </a:solidFill>
                <a:latin typeface="Segoe UI Light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34856" y="2697480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EDE8DF"/>
                </a:solidFill>
                <a:latin typeface="Segoe UI Semibold"/>
              </a:rPr>
              <a:t>Mimari &amp; Teknik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34856" y="3118104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9A9388"/>
                </a:solidFill>
                <a:latin typeface="Segoe UI"/>
              </a:rPr>
              <a:t>Flutter + Go, modüller, API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3721608"/>
            <a:ext cx="3383280" cy="1051560"/>
          </a:xfrm>
          <a:prstGeom prst="roundRect">
            <a:avLst>
              <a:gd name="adj" fmla="val 6000"/>
            </a:avLst>
          </a:prstGeom>
          <a:solidFill>
            <a:srgbClr val="262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4128" y="3886200"/>
            <a:ext cx="1097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C9A35B"/>
                </a:solidFill>
                <a:latin typeface="Segoe UI Light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65960" y="3904488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EDE8DF"/>
                </a:solidFill>
                <a:latin typeface="Segoe UI Semibold"/>
              </a:rPr>
              <a:t>Modeller &amp; Sağlayıcılar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4325112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9A9388"/>
                </a:solidFill>
                <a:latin typeface="Segoe UI"/>
              </a:rPr>
              <a:t>Model fabrikası, 7 bulut sağlayıcı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07408" y="3721608"/>
            <a:ext cx="3383280" cy="1051560"/>
          </a:xfrm>
          <a:prstGeom prst="roundRect">
            <a:avLst>
              <a:gd name="adj" fmla="val 6000"/>
            </a:avLst>
          </a:prstGeom>
          <a:solidFill>
            <a:srgbClr val="262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08576" y="3886200"/>
            <a:ext cx="1097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C9A35B"/>
                </a:solidFill>
                <a:latin typeface="Segoe UI Light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50408" y="3904488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EDE8DF"/>
                </a:solidFill>
                <a:latin typeface="Segoe UI Semibold"/>
              </a:rPr>
              <a:t>Ajan &amp; Orchestra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550408" y="4325112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9A9388"/>
                </a:solidFill>
                <a:latin typeface="Segoe UI"/>
              </a:rPr>
              <a:t>Otomasyon, çoklu model ekibi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991856" y="3721608"/>
            <a:ext cx="3383280" cy="1051560"/>
          </a:xfrm>
          <a:prstGeom prst="roundRect">
            <a:avLst>
              <a:gd name="adj" fmla="val 6000"/>
            </a:avLst>
          </a:prstGeom>
          <a:solidFill>
            <a:srgbClr val="262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93024" y="3886200"/>
            <a:ext cx="1097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C9A35B"/>
                </a:solidFill>
                <a:latin typeface="Segoe UI Light"/>
              </a:rPr>
              <a:t>06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34856" y="3904488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EDE8DF"/>
                </a:solidFill>
                <a:latin typeface="Segoe UI Semibold"/>
              </a:rPr>
              <a:t>Duyular &amp; Proaktiflik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34856" y="4325112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9A9388"/>
                </a:solidFill>
                <a:latin typeface="Segoe UI"/>
              </a:rPr>
              <a:t>Görsel, ses, web, öğrenme, takvim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2960" y="4928616"/>
            <a:ext cx="3383280" cy="1051560"/>
          </a:xfrm>
          <a:prstGeom prst="roundRect">
            <a:avLst>
              <a:gd name="adj" fmla="val 6000"/>
            </a:avLst>
          </a:prstGeom>
          <a:solidFill>
            <a:srgbClr val="262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24128" y="5093208"/>
            <a:ext cx="1097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C9A35B"/>
                </a:solidFill>
                <a:latin typeface="Segoe UI Light"/>
              </a:rPr>
              <a:t>07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65960" y="5111496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EDE8DF"/>
                </a:solidFill>
                <a:latin typeface="Segoe UI Semibold"/>
              </a:rPr>
              <a:t>Bağlanabilirlik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65960" y="5532120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9A9388"/>
                </a:solidFill>
                <a:latin typeface="Segoe UI"/>
              </a:rPr>
              <a:t>WhatsApp, mobil, uzaktan erişim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407408" y="4928616"/>
            <a:ext cx="3383280" cy="1051560"/>
          </a:xfrm>
          <a:prstGeom prst="roundRect">
            <a:avLst>
              <a:gd name="adj" fmla="val 6000"/>
            </a:avLst>
          </a:prstGeom>
          <a:solidFill>
            <a:srgbClr val="262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608576" y="5093208"/>
            <a:ext cx="1097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C9A35B"/>
                </a:solidFill>
                <a:latin typeface="Segoe UI Light"/>
              </a:rPr>
              <a:t>08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550408" y="5111496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EDE8DF"/>
                </a:solidFill>
                <a:latin typeface="Segoe UI Semibold"/>
              </a:rPr>
              <a:t>Kişilik &amp; Güvenlik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550408" y="5532120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9A9388"/>
                </a:solidFill>
                <a:latin typeface="Segoe UI"/>
              </a:rPr>
              <a:t>Duygu motoru, öz-çıkar, şifreleme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991856" y="4928616"/>
            <a:ext cx="3383280" cy="1051560"/>
          </a:xfrm>
          <a:prstGeom prst="roundRect">
            <a:avLst>
              <a:gd name="adj" fmla="val 6000"/>
            </a:avLst>
          </a:prstGeom>
          <a:solidFill>
            <a:srgbClr val="262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193024" y="5093208"/>
            <a:ext cx="1097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C9A35B"/>
                </a:solidFill>
                <a:latin typeface="Segoe UI Light"/>
              </a:rPr>
              <a:t>09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34856" y="5111496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EDE8DF"/>
                </a:solidFill>
                <a:latin typeface="Segoe UI Semibold"/>
              </a:rPr>
              <a:t>Durum &amp; Yol Haritası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34856" y="5532120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9A9388"/>
                </a:solidFill>
                <a:latin typeface="Segoe UI"/>
              </a:rPr>
              <a:t>v3.1 yenilikleri, gelecek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148085908000" cy="6270955200000"/>
          </a:xfrm>
          <a:prstGeom prst="rect">
            <a:avLst/>
          </a:prstGeom>
          <a:solidFill>
            <a:srgbClr val="1C1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961120" y="-1280160"/>
            <a:ext cx="5120640" cy="5120640"/>
          </a:xfrm>
          <a:prstGeom prst="ellipse">
            <a:avLst/>
          </a:prstGeom>
          <a:solidFill>
            <a:srgbClr val="262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149840" y="3657600"/>
            <a:ext cx="3108960" cy="3108960"/>
          </a:xfrm>
          <a:prstGeom prst="ellipse">
            <a:avLst/>
          </a:prstGeom>
          <a:solidFill>
            <a:srgbClr val="2F2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280160"/>
            <a:ext cx="640080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0" b="1">
                <a:solidFill>
                  <a:srgbClr val="38332C"/>
                </a:solidFill>
                <a:latin typeface="Segoe UI Light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05740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C9A35B"/>
                </a:solidFill>
                <a:latin typeface="Segoe UI Semibold"/>
              </a:rPr>
              <a:t>BÖLÜM BIR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423160"/>
            <a:ext cx="8229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4200" b="1">
                <a:solidFill>
                  <a:srgbClr val="EDE8DF"/>
                </a:solidFill>
                <a:latin typeface="Segoe UI Semibold"/>
              </a:rPr>
              <a:t>Memo Nedir
&amp; Felsefe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78992" y="4178808"/>
            <a:ext cx="201168" cy="36576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17320" y="4069080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9A9388"/>
                </a:solidFill>
                <a:latin typeface="Segoe UI"/>
              </a:rPr>
              <a:t>İkinci Beyin konsepti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78992" y="4654296"/>
            <a:ext cx="201168" cy="36576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17320" y="4544568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9A9388"/>
                </a:solidFill>
                <a:latin typeface="Segoe UI"/>
              </a:rPr>
              <a:t>Neden Memo? — sorun ve çözüm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78992" y="5129783"/>
            <a:ext cx="201168" cy="36576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17320" y="5020055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9A9388"/>
                </a:solidFill>
                <a:latin typeface="Segoe UI"/>
              </a:rPr>
              <a:t>Gizlilik ve yerel izolasyon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78992" y="5605271"/>
            <a:ext cx="201168" cy="36576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17320" y="5495543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9A9388"/>
                </a:solidFill>
                <a:latin typeface="Segoe UI"/>
              </a:rPr>
              <a:t>Tasarım felsefesi ve onboarding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C9A35B"/>
                </a:solidFill>
                <a:latin typeface="Segoe UI Semibold"/>
              </a:rPr>
              <a:t>BÖLÜM 01 · FELSEFE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457200"/>
            <a:ext cx="1005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50" b="1">
                <a:solidFill>
                  <a:srgbClr val="9A9388"/>
                </a:solidFill>
                <a:latin typeface="Segoe UI Semibold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841248"/>
            <a:ext cx="106070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EDE8DF"/>
                </a:solidFill>
                <a:latin typeface="Segoe UI Semibold"/>
              </a:rPr>
              <a:t>Memo Nedir?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72768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0">
                <a:solidFill>
                  <a:srgbClr val="9A9388"/>
                </a:solidFill>
                <a:latin typeface="Segoe UI"/>
              </a:rPr>
              <a:t>Kalıcı hafızaya sahip, yerel çalışan kişisel bir yapay zeka platformu — sadece bir sohbet kutusu değil.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121408"/>
            <a:ext cx="10543032" cy="18288"/>
          </a:xfrm>
          <a:prstGeom prst="rect">
            <a:avLst/>
          </a:prstGeom>
          <a:solidFill>
            <a:srgbClr val="3A35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2116836"/>
            <a:ext cx="1280160" cy="32004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419088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C9A35B"/>
                </a:solidFill>
                <a:latin typeface="Segoe UI Semibold"/>
              </a:rPr>
              <a:t>MEMO</a:t>
            </a:r>
            <a:r>
              <a:rPr sz="1050" b="0">
                <a:solidFill>
                  <a:srgbClr val="6E685E"/>
                </a:solidFill>
                <a:latin typeface="Segoe UI"/>
              </a:rPr>
              <a:t>  ·  Yerel Yapay Zeka Hafıza Kabuğu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468880"/>
            <a:ext cx="566928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550" b="0">
                <a:solidFill>
                  <a:srgbClr val="EDE8DF"/>
                </a:solidFill>
                <a:latin typeface="Segoe UI"/>
              </a:rPr>
              <a:t>Çoğu yapay zeka asistanı seni </a:t>
            </a:r>
            <a:r>
              <a:rPr sz="1550" b="1">
                <a:solidFill>
                  <a:srgbClr val="C9A35B"/>
                </a:solidFill>
                <a:latin typeface="Segoe UI Semibold"/>
              </a:rPr>
              <a:t>unutur</a:t>
            </a:r>
            <a:r>
              <a:rPr sz="1550" b="0">
                <a:solidFill>
                  <a:srgbClr val="EDE8DF"/>
                </a:solidFill>
                <a:latin typeface="Segoe UI"/>
              </a:rPr>
              <a:t> ve verini buluta gönderir.</a:t>
            </a:r>
          </a:p>
          <a:p>
            <a:pPr algn="l">
              <a:lnSpc>
                <a:spcPct val="118000"/>
              </a:lnSpc>
            </a:pPr>
            <a:r>
              <a:rPr sz="700" b="0">
                <a:solidFill>
                  <a:srgbClr val="EDE8DF"/>
                </a:solidFill>
                <a:latin typeface="Segoe UI"/>
              </a:rPr>
              <a:t/>
            </a:r>
          </a:p>
          <a:p>
            <a:pPr algn="l">
              <a:lnSpc>
                <a:spcPct val="118000"/>
              </a:lnSpc>
            </a:pPr>
            <a:r>
              <a:rPr sz="1450" b="0">
                <a:solidFill>
                  <a:srgbClr val="EDE8DF"/>
                </a:solidFill>
                <a:latin typeface="Segoe UI"/>
              </a:rPr>
              <a:t>Memo iki şeyi birden çözer: konuşmalarını anlamsal olarak indeksleyip kalıcı bir hafızada saklar ve tüm işlemi senin donanımında, çevrimdışı yürütür.</a:t>
            </a:r>
          </a:p>
          <a:p>
            <a:pPr algn="l">
              <a:lnSpc>
                <a:spcPct val="118000"/>
              </a:lnSpc>
            </a:pPr>
            <a:r>
              <a:rPr sz="700" b="0">
                <a:solidFill>
                  <a:srgbClr val="EDE8DF"/>
                </a:solidFill>
                <a:latin typeface="Segoe UI"/>
              </a:rPr>
              <a:t/>
            </a:r>
          </a:p>
          <a:p>
            <a:pPr algn="l">
              <a:lnSpc>
                <a:spcPct val="118000"/>
              </a:lnSpc>
            </a:pPr>
            <a:r>
              <a:rPr sz="1350" b="0">
                <a:solidFill>
                  <a:srgbClr val="9A9388"/>
                </a:solidFill>
                <a:latin typeface="Segoe UI"/>
              </a:rPr>
              <a:t>Yerel modeller, bulut sağlayıcılar, ajan otomasyonu ve çoklu-model orkestrası tek bir masaüstü uygulamasında toplanır.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0" y="2468880"/>
            <a:ext cx="21031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C9A35B"/>
                </a:solidFill>
                <a:latin typeface="Segoe UI Semibold"/>
              </a:rPr>
              <a:t>%100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86016" y="3218688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9A9388"/>
                </a:solidFill>
                <a:latin typeface="Segoe UI"/>
              </a:rPr>
              <a:t>yerel &amp; çevrimdışı işlem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0" y="2468880"/>
            <a:ext cx="21031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7FB4AB"/>
                </a:solidFill>
                <a:latin typeface="Segoe UI Semibold"/>
              </a:rPr>
              <a:t>∞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72015" y="3218688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9A9388"/>
                </a:solidFill>
                <a:latin typeface="Segoe UI"/>
              </a:rPr>
              <a:t>sonsuz bağlam / hafıza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3977639"/>
            <a:ext cx="21031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B8894B"/>
                </a:solidFill>
                <a:latin typeface="Segoe UI Semibold"/>
              </a:rPr>
              <a:t>7+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86016" y="4727448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9A9388"/>
                </a:solidFill>
                <a:latin typeface="Segoe UI"/>
              </a:rPr>
              <a:t>harici AI sağlayıcı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5440" y="3977639"/>
            <a:ext cx="21031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7FB4AB"/>
                </a:solidFill>
                <a:latin typeface="Segoe UI Semibold"/>
              </a:rPr>
              <a:t>12+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72015" y="4727448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9A9388"/>
                </a:solidFill>
                <a:latin typeface="Segoe UI"/>
              </a:rPr>
              <a:t>ajan yerleşik aracı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949440" y="5074920"/>
            <a:ext cx="4434840" cy="685800"/>
          </a:xfrm>
          <a:prstGeom prst="roundRect">
            <a:avLst>
              <a:gd name="adj" fmla="val 6000"/>
            </a:avLst>
          </a:prstGeom>
          <a:solidFill>
            <a:srgbClr val="262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78040" y="5193792"/>
            <a:ext cx="4114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35B"/>
                </a:solidFill>
                <a:latin typeface="Segoe UI Semibold"/>
              </a:rPr>
              <a:t>“Yapay Zekanı Kontrol Et. Hafızana Sahip Çık.”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C9A35B"/>
                </a:solidFill>
                <a:latin typeface="Segoe UI Semibold"/>
              </a:rPr>
              <a:t>BÖLÜM 01 · MOTIVASYON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457200"/>
            <a:ext cx="1005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50" b="1">
                <a:solidFill>
                  <a:srgbClr val="9A9388"/>
                </a:solidFill>
                <a:latin typeface="Segoe UI Semibold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841248"/>
            <a:ext cx="106070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EDE8DF"/>
                </a:solidFill>
                <a:latin typeface="Segoe UI Semibold"/>
              </a:rPr>
              <a:t>Neden Memo?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72768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0">
                <a:solidFill>
                  <a:srgbClr val="9A9388"/>
                </a:solidFill>
                <a:latin typeface="Segoe UI"/>
              </a:rPr>
              <a:t>Bulut tabanlı asistanların dört temel sorununa yerel bir cevap.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121408"/>
            <a:ext cx="10543032" cy="18288"/>
          </a:xfrm>
          <a:prstGeom prst="rect">
            <a:avLst/>
          </a:prstGeom>
          <a:solidFill>
            <a:srgbClr val="3A35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2116836"/>
            <a:ext cx="1280160" cy="32004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419088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C9A35B"/>
                </a:solidFill>
                <a:latin typeface="Segoe UI Semibold"/>
              </a:rPr>
              <a:t>MEMO</a:t>
            </a:r>
            <a:r>
              <a:rPr sz="1050" b="0">
                <a:solidFill>
                  <a:srgbClr val="6E685E"/>
                </a:solidFill>
                <a:latin typeface="Segoe UI"/>
              </a:rPr>
              <a:t>  ·  Yerel Yapay Zeka Hafıza Kabuğu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331720"/>
            <a:ext cx="5120640" cy="3429000"/>
          </a:xfrm>
          <a:prstGeom prst="roundRect">
            <a:avLst>
              <a:gd name="adj" fmla="val 6000"/>
            </a:avLst>
          </a:prstGeom>
          <a:solidFill>
            <a:srgbClr val="262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505456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CC6B5A"/>
                </a:solidFill>
                <a:latin typeface="Segoe UI Semibold"/>
              </a:rPr>
              <a:t>✕  SORUN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97280" y="3108960"/>
            <a:ext cx="118872" cy="118872"/>
          </a:xfrm>
          <a:prstGeom prst="rect">
            <a:avLst/>
          </a:prstGeom>
          <a:solidFill>
            <a:srgbClr val="CC6B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89888" y="3008376"/>
            <a:ext cx="4279392" cy="10332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EDE8DF"/>
                </a:solidFill>
                <a:latin typeface="Segoe UI Semibold"/>
              </a:rPr>
              <a:t>Unutkanlık  </a:t>
            </a:r>
            <a:r>
              <a:rPr sz="1250" b="0">
                <a:solidFill>
                  <a:srgbClr val="9A9388"/>
                </a:solidFill>
                <a:latin typeface="Segoe UI"/>
              </a:rPr>
              <a:t>her oturum sıfırdan, bağlam kaybolur.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97280" y="3822191"/>
            <a:ext cx="118872" cy="118872"/>
          </a:xfrm>
          <a:prstGeom prst="rect">
            <a:avLst/>
          </a:prstGeom>
          <a:solidFill>
            <a:srgbClr val="CC6B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89888" y="3721607"/>
            <a:ext cx="4279392" cy="10332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EDE8DF"/>
                </a:solidFill>
                <a:latin typeface="Segoe UI Semibold"/>
              </a:rPr>
              <a:t>Gizlilik kaygısı  </a:t>
            </a:r>
            <a:r>
              <a:rPr sz="1250" b="0">
                <a:solidFill>
                  <a:srgbClr val="9A9388"/>
                </a:solidFill>
                <a:latin typeface="Segoe UI"/>
              </a:rPr>
              <a:t>verin uzak sunuculara gider.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7280" y="4535424"/>
            <a:ext cx="118872" cy="118872"/>
          </a:xfrm>
          <a:prstGeom prst="rect">
            <a:avLst/>
          </a:prstGeom>
          <a:solidFill>
            <a:srgbClr val="CC6B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89888" y="4434840"/>
            <a:ext cx="4279392" cy="10332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EDE8DF"/>
                </a:solidFill>
                <a:latin typeface="Segoe UI Semibold"/>
              </a:rPr>
              <a:t>Bağımlılık  </a:t>
            </a:r>
            <a:r>
              <a:rPr sz="1250" b="0">
                <a:solidFill>
                  <a:srgbClr val="9A9388"/>
                </a:solidFill>
                <a:latin typeface="Segoe UI"/>
              </a:rPr>
              <a:t>internet + abonelik zorunluluğu.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97280" y="5248656"/>
            <a:ext cx="118872" cy="118872"/>
          </a:xfrm>
          <a:prstGeom prst="rect">
            <a:avLst/>
          </a:prstGeom>
          <a:solidFill>
            <a:srgbClr val="CC6B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89888" y="5148072"/>
            <a:ext cx="4279392" cy="10332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EDE8DF"/>
                </a:solidFill>
                <a:latin typeface="Segoe UI Semibold"/>
              </a:rPr>
              <a:t>Kapalı kutu  </a:t>
            </a:r>
            <a:r>
              <a:rPr sz="1250" b="0">
                <a:solidFill>
                  <a:srgbClr val="9A9388"/>
                </a:solidFill>
                <a:latin typeface="Segoe UI"/>
              </a:rPr>
              <a:t>modeli ve davranışı seçemezsin.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2331720"/>
            <a:ext cx="5120640" cy="3429000"/>
          </a:xfrm>
          <a:prstGeom prst="roundRect">
            <a:avLst>
              <a:gd name="adj" fmla="val 6000"/>
            </a:avLst>
          </a:prstGeom>
          <a:solidFill>
            <a:srgbClr val="262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37960" y="2505456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7FB4AB"/>
                </a:solidFill>
                <a:latin typeface="Segoe UI Semibold"/>
              </a:rPr>
              <a:t>✓  MEMO'NUN ÇÖZÜMÜ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37960" y="3108960"/>
            <a:ext cx="118872" cy="118872"/>
          </a:xfrm>
          <a:prstGeom prst="rect">
            <a:avLst/>
          </a:prstGeom>
          <a:solidFill>
            <a:srgbClr val="7FB4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30568" y="3008376"/>
            <a:ext cx="4279392" cy="10332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EDE8DF"/>
                </a:solidFill>
                <a:latin typeface="Segoe UI Semibold"/>
              </a:rPr>
              <a:t>Kalıcı RAG hafızası  </a:t>
            </a:r>
            <a:r>
              <a:rPr sz="1250" b="0">
                <a:solidFill>
                  <a:srgbClr val="9A9388"/>
                </a:solidFill>
                <a:latin typeface="Segoe UI"/>
              </a:rPr>
              <a:t>haftalar önceki detayı hatırlar.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37960" y="3822191"/>
            <a:ext cx="118872" cy="118872"/>
          </a:xfrm>
          <a:prstGeom prst="rect">
            <a:avLst/>
          </a:prstGeom>
          <a:solidFill>
            <a:srgbClr val="7FB4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30568" y="3721607"/>
            <a:ext cx="4279392" cy="10332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EDE8DF"/>
                </a:solidFill>
                <a:latin typeface="Segoe UI Semibold"/>
              </a:rPr>
              <a:t>Çevrimdışı izolasyon  </a:t>
            </a:r>
            <a:r>
              <a:rPr sz="1250" b="0">
                <a:solidFill>
                  <a:srgbClr val="9A9388"/>
                </a:solidFill>
                <a:latin typeface="Segoe UI"/>
              </a:rPr>
              <a:t>veri diskten çıkmaz.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37960" y="4535424"/>
            <a:ext cx="118872" cy="118872"/>
          </a:xfrm>
          <a:prstGeom prst="rect">
            <a:avLst/>
          </a:prstGeom>
          <a:solidFill>
            <a:srgbClr val="7FB4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30568" y="4434840"/>
            <a:ext cx="4279392" cy="10332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EDE8DF"/>
                </a:solidFill>
                <a:latin typeface="Segoe UI Semibold"/>
              </a:rPr>
              <a:t>Yerel motor  </a:t>
            </a:r>
            <a:r>
              <a:rPr sz="1250" b="0">
                <a:solidFill>
                  <a:srgbClr val="9A9388"/>
                </a:solidFill>
                <a:latin typeface="Segoe UI"/>
              </a:rPr>
              <a:t>llama.cpp kendi donanımında.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37960" y="5248656"/>
            <a:ext cx="118872" cy="118872"/>
          </a:xfrm>
          <a:prstGeom prst="rect">
            <a:avLst/>
          </a:prstGeom>
          <a:solidFill>
            <a:srgbClr val="7FB4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30568" y="5148072"/>
            <a:ext cx="4279392" cy="10332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EDE8DF"/>
                </a:solidFill>
                <a:latin typeface="Segoe UI Semibold"/>
              </a:rPr>
              <a:t>Tam kontrol  </a:t>
            </a:r>
            <a:r>
              <a:rPr sz="1250" b="0">
                <a:solidFill>
                  <a:srgbClr val="9A9388"/>
                </a:solidFill>
                <a:latin typeface="Segoe UI"/>
              </a:rPr>
              <a:t>model, kişilik, hafıza sende.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C9A35B"/>
                </a:solidFill>
                <a:latin typeface="Segoe UI Semibold"/>
              </a:rPr>
              <a:t>BÖLÜM 01 · GIZLILIK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457200"/>
            <a:ext cx="1005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50" b="1">
                <a:solidFill>
                  <a:srgbClr val="9A9388"/>
                </a:solidFill>
                <a:latin typeface="Segoe UI Semibold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841248"/>
            <a:ext cx="106070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EDE8DF"/>
                </a:solidFill>
                <a:latin typeface="Segoe UI Semibold"/>
              </a:rPr>
              <a:t>Gizlilik &amp; Yerel İzolasyon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72768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0">
                <a:solidFill>
                  <a:srgbClr val="9A9388"/>
                </a:solidFill>
                <a:latin typeface="Segoe UI"/>
              </a:rPr>
              <a:t>Memo'nun temel ilkesi: zihnin kendi donanımında kalır.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121408"/>
            <a:ext cx="10543032" cy="18288"/>
          </a:xfrm>
          <a:prstGeom prst="rect">
            <a:avLst/>
          </a:prstGeom>
          <a:solidFill>
            <a:srgbClr val="3A35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2116836"/>
            <a:ext cx="1280160" cy="32004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419088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C9A35B"/>
                </a:solidFill>
                <a:latin typeface="Segoe UI Semibold"/>
              </a:rPr>
              <a:t>MEMO</a:t>
            </a:r>
            <a:r>
              <a:rPr sz="1050" b="0">
                <a:solidFill>
                  <a:srgbClr val="6E685E"/>
                </a:solidFill>
                <a:latin typeface="Segoe UI"/>
              </a:rPr>
              <a:t>  ·  Yerel Yapay Zeka Hafıza Kabuğu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423160"/>
            <a:ext cx="3337560" cy="1783080"/>
          </a:xfrm>
          <a:prstGeom prst="roundRect">
            <a:avLst>
              <a:gd name="adj" fmla="val 6000"/>
            </a:avLst>
          </a:prstGeom>
          <a:solidFill>
            <a:srgbClr val="262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78992" y="2679191"/>
            <a:ext cx="457200" cy="457200"/>
          </a:xfrm>
          <a:prstGeom prst="ellipse">
            <a:avLst/>
          </a:prstGeom>
          <a:solidFill>
            <a:srgbClr val="3833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8992" y="2697479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C9A35B"/>
                </a:solidFill>
                <a:latin typeface="Segoe UI"/>
              </a:rPr>
              <a:t>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2697479"/>
            <a:ext cx="22860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EDE8DF"/>
                </a:solidFill>
                <a:latin typeface="Segoe UI Semibold"/>
              </a:rPr>
              <a:t>Telemetri Yok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264408"/>
            <a:ext cx="2788920" cy="8229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9A9388"/>
                </a:solidFill>
                <a:latin typeface="Segoe UI"/>
              </a:rPr>
              <a:t>Hiçbir kullanım verisi, log veya analitik dışarı gönderilmez. İzlenmezsin.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25112" y="2423160"/>
            <a:ext cx="3337560" cy="1783080"/>
          </a:xfrm>
          <a:prstGeom prst="roundRect">
            <a:avLst>
              <a:gd name="adj" fmla="val 6000"/>
            </a:avLst>
          </a:prstGeom>
          <a:solidFill>
            <a:srgbClr val="262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581144" y="2679191"/>
            <a:ext cx="457200" cy="457200"/>
          </a:xfrm>
          <a:prstGeom prst="ellipse">
            <a:avLst/>
          </a:prstGeom>
          <a:solidFill>
            <a:srgbClr val="3833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81144" y="2697479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7FB4AB"/>
                </a:solidFill>
                <a:latin typeface="Segoe UI"/>
              </a:rPr>
              <a:t>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93792" y="2697479"/>
            <a:ext cx="22860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EDE8DF"/>
                </a:solidFill>
                <a:latin typeface="Segoe UI Semibold"/>
              </a:rPr>
              <a:t>Bulut Bağımsız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99432" y="3264408"/>
            <a:ext cx="2788920" cy="8229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9A9388"/>
                </a:solidFill>
                <a:latin typeface="Segoe UI"/>
              </a:rPr>
              <a:t>İnternet olmadan tam çalışır. Bulut yalnızca senin açtığın opsiyonel özelliklerde devreye girer.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27264" y="2423160"/>
            <a:ext cx="3566160" cy="1783080"/>
          </a:xfrm>
          <a:prstGeom prst="roundRect">
            <a:avLst>
              <a:gd name="adj" fmla="val 6000"/>
            </a:avLst>
          </a:prstGeom>
          <a:solidFill>
            <a:srgbClr val="262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083296" y="2679191"/>
            <a:ext cx="457200" cy="457200"/>
          </a:xfrm>
          <a:prstGeom prst="ellipse">
            <a:avLst/>
          </a:prstGeom>
          <a:solidFill>
            <a:srgbClr val="3833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83296" y="2697479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B8894B"/>
                </a:solidFill>
                <a:latin typeface="Segoe UI"/>
              </a:rPr>
              <a:t>💾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95944" y="2697479"/>
            <a:ext cx="2514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EDE8DF"/>
                </a:solidFill>
                <a:latin typeface="Segoe UI Semibold"/>
              </a:rPr>
              <a:t>Güvenli Yerel Depo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01584" y="3264408"/>
            <a:ext cx="3017520" cy="8229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9A9388"/>
                </a:solidFill>
                <a:latin typeface="Segoe UI"/>
              </a:rPr>
              <a:t>Hafıza, oturumlar ve ayarlar diskinde şifreli/yerel saklanır.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" y="4434840"/>
            <a:ext cx="10570464" cy="1325880"/>
          </a:xfrm>
          <a:prstGeom prst="roundRect">
            <a:avLst>
              <a:gd name="adj" fmla="val 6000"/>
            </a:avLst>
          </a:prstGeom>
          <a:solidFill>
            <a:srgbClr val="262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97280" y="45720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C9A35B"/>
                </a:solidFill>
                <a:latin typeface="Segoe UI Semibold"/>
              </a:rPr>
              <a:t>İstediğinde dışarı açılabilir — ama kararı hep sende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" y="502920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>
                <a:solidFill>
                  <a:srgbClr val="9A9388"/>
                </a:solidFill>
                <a:latin typeface="Segoe UI"/>
              </a:rPr>
              <a:t>Harici sağlayıcılar, web araması, bulut senkronizasyonu ve uzaktan erişim varsayılan olarak KAPALIDIR. Her biri ayrı ayrı, bilinçli şekilde açılır. Açtığında bile — örneğin bulut yedeği — veri makineni terk etmeden önce uçtan uca şifrelenir.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C9A35B"/>
                </a:solidFill>
                <a:latin typeface="Segoe UI Semibold"/>
              </a:rPr>
              <a:t>BÖLÜM 01 · DENEYIM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457200"/>
            <a:ext cx="1005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50" b="1">
                <a:solidFill>
                  <a:srgbClr val="9A9388"/>
                </a:solidFill>
                <a:latin typeface="Segoe UI Semibold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841248"/>
            <a:ext cx="106070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EDE8DF"/>
                </a:solidFill>
                <a:latin typeface="Segoe UI Semibold"/>
              </a:rPr>
              <a:t>Tasarım &amp; Onboarding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72768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0">
                <a:solidFill>
                  <a:srgbClr val="9A9388"/>
                </a:solidFill>
                <a:latin typeface="Segoe UI"/>
              </a:rPr>
              <a:t>“Greige” minimalizm ve rehberli ilk kullanım — teknik olmayan kullanıcı da anlar.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121408"/>
            <a:ext cx="10543032" cy="18288"/>
          </a:xfrm>
          <a:prstGeom prst="rect">
            <a:avLst/>
          </a:prstGeom>
          <a:solidFill>
            <a:srgbClr val="3A35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2116836"/>
            <a:ext cx="1280160" cy="32004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419088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C9A35B"/>
                </a:solidFill>
                <a:latin typeface="Segoe UI Semibold"/>
              </a:rPr>
              <a:t>MEMO</a:t>
            </a:r>
            <a:r>
              <a:rPr sz="1050" b="0">
                <a:solidFill>
                  <a:srgbClr val="6E685E"/>
                </a:solidFill>
                <a:latin typeface="Segoe UI"/>
              </a:rPr>
              <a:t>  ·  Yerel Yapay Zeka Hafıza Kabuğu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542032"/>
            <a:ext cx="118872" cy="118872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5568" y="2441448"/>
            <a:ext cx="5376672" cy="8869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EDE8DF"/>
                </a:solidFill>
                <a:latin typeface="Segoe UI Semibold"/>
              </a:rPr>
              <a:t>Pewter Study koyu tema  </a:t>
            </a:r>
            <a:r>
              <a:rPr sz="1250" b="0">
                <a:solidFill>
                  <a:srgbClr val="9A9388"/>
                </a:solidFill>
                <a:latin typeface="Segoe UI"/>
              </a:rPr>
              <a:t>sıcak nötr tonlar, sert beyaz yok, uzun oturuma uygun.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3108960"/>
            <a:ext cx="118872" cy="118872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15568" y="3008376"/>
            <a:ext cx="5376672" cy="8869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EDE8DF"/>
                </a:solidFill>
                <a:latin typeface="Segoe UI Semibold"/>
              </a:rPr>
              <a:t>Greige minimalizm  </a:t>
            </a:r>
            <a:r>
              <a:rPr sz="1250" b="0">
                <a:solidFill>
                  <a:srgbClr val="9A9388"/>
                </a:solidFill>
                <a:latin typeface="Segoe UI"/>
              </a:rPr>
              <a:t>bilişsel yükü azaltan sade palet, odak odaklı UI.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3675888"/>
            <a:ext cx="118872" cy="118872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15568" y="3575304"/>
            <a:ext cx="5376672" cy="8869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EDE8DF"/>
                </a:solidFill>
                <a:latin typeface="Segoe UI Semibold"/>
              </a:rPr>
              <a:t>Kurulum sihirbazı  </a:t>
            </a:r>
            <a:r>
              <a:rPr sz="1250" b="0">
                <a:solidFill>
                  <a:srgbClr val="9A9388"/>
                </a:solidFill>
                <a:latin typeface="Segoe UI"/>
              </a:rPr>
              <a:t>tema, dil ve kişilik seçimiyle rehberli ilk açılış.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4242816"/>
            <a:ext cx="118872" cy="118872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15568" y="4142232"/>
            <a:ext cx="5376672" cy="8869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EDE8DF"/>
                </a:solidFill>
                <a:latin typeface="Segoe UI Semibold"/>
              </a:rPr>
              <a:t>Launchpad karşılama  </a:t>
            </a:r>
            <a:r>
              <a:rPr sz="1250" b="0">
                <a:solidFill>
                  <a:srgbClr val="9A9388"/>
                </a:solidFill>
                <a:latin typeface="Segoe UI"/>
              </a:rPr>
              <a:t>beş özellik kartı: Sohbet, Ajan, Orchestra, WhatsApp, Takvim.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4809744"/>
            <a:ext cx="118872" cy="118872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15568" y="4709160"/>
            <a:ext cx="5376672" cy="8869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EDE8DF"/>
                </a:solidFill>
                <a:latin typeface="Segoe UI Semibold"/>
              </a:rPr>
              <a:t>Spotlight tur  </a:t>
            </a:r>
            <a:r>
              <a:rPr sz="1250" b="0">
                <a:solidFill>
                  <a:srgbClr val="9A9388"/>
                </a:solidFill>
                <a:latin typeface="Segoe UI"/>
              </a:rPr>
              <a:t>ana ikonları sırayla tanıtan 4 adımlık coachmark.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" y="5376672"/>
            <a:ext cx="118872" cy="118872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15568" y="5276088"/>
            <a:ext cx="5376672" cy="8869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EDE8DF"/>
                </a:solidFill>
                <a:latin typeface="Segoe UI Semibold"/>
              </a:rPr>
              <a:t>Phosphor ikonlar + logolar  </a:t>
            </a:r>
            <a:r>
              <a:rPr sz="1250" b="0">
                <a:solidFill>
                  <a:srgbClr val="9A9388"/>
                </a:solidFill>
                <a:latin typeface="Segoe UI"/>
              </a:rPr>
              <a:t>gerçek firma logoları, tema renginde ikonlar.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0" y="2468880"/>
            <a:ext cx="4526280" cy="3200400"/>
          </a:xfrm>
          <a:prstGeom prst="roundRect">
            <a:avLst>
              <a:gd name="adj" fmla="val 6000"/>
            </a:avLst>
          </a:prstGeom>
          <a:solidFill>
            <a:srgbClr val="262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14032" y="2651760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C9A35B"/>
                </a:solidFill>
                <a:latin typeface="Segoe UI Semibold"/>
              </a:rPr>
              <a:t>Kişilik Hazır Setleri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14032" y="3063240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A9388"/>
                </a:solidFill>
                <a:latin typeface="Segoe UI"/>
              </a:rPr>
              <a:t>Asistanın tonunu tek dokunuşla seç: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114032" y="3520440"/>
            <a:ext cx="1874519" cy="457200"/>
          </a:xfrm>
          <a:prstGeom prst="roundRect">
            <a:avLst>
              <a:gd name="adj" fmla="val 6000"/>
            </a:avLst>
          </a:prstGeom>
          <a:solidFill>
            <a:srgbClr val="2F2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14032" y="3557016"/>
            <a:ext cx="1874519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EDE8DF"/>
                </a:solidFill>
                <a:latin typeface="Segoe UI Semibold"/>
              </a:rPr>
              <a:t>Rahat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171432" y="3520440"/>
            <a:ext cx="1874519" cy="457200"/>
          </a:xfrm>
          <a:prstGeom prst="roundRect">
            <a:avLst>
              <a:gd name="adj" fmla="val 6000"/>
            </a:avLst>
          </a:prstGeom>
          <a:solidFill>
            <a:srgbClr val="2F2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71432" y="3557016"/>
            <a:ext cx="1874519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EDE8DF"/>
                </a:solidFill>
                <a:latin typeface="Segoe UI Semibold"/>
              </a:rPr>
              <a:t>Resmî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114032" y="4087368"/>
            <a:ext cx="1874519" cy="457200"/>
          </a:xfrm>
          <a:prstGeom prst="roundRect">
            <a:avLst>
              <a:gd name="adj" fmla="val 6000"/>
            </a:avLst>
          </a:prstGeom>
          <a:solidFill>
            <a:srgbClr val="2F2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114032" y="4123944"/>
            <a:ext cx="1874519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EDE8DF"/>
                </a:solidFill>
                <a:latin typeface="Segoe UI Semibold"/>
              </a:rPr>
              <a:t>Teknik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171432" y="4087368"/>
            <a:ext cx="1874519" cy="457200"/>
          </a:xfrm>
          <a:prstGeom prst="roundRect">
            <a:avLst>
              <a:gd name="adj" fmla="val 6000"/>
            </a:avLst>
          </a:prstGeom>
          <a:solidFill>
            <a:srgbClr val="2F2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71432" y="4123944"/>
            <a:ext cx="1874519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EDE8DF"/>
                </a:solidFill>
                <a:latin typeface="Segoe UI Semibold"/>
              </a:rPr>
              <a:t>Yaratıcı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114032" y="4654296"/>
            <a:ext cx="1874519" cy="457200"/>
          </a:xfrm>
          <a:prstGeom prst="roundRect">
            <a:avLst>
              <a:gd name="adj" fmla="val 6000"/>
            </a:avLst>
          </a:prstGeom>
          <a:solidFill>
            <a:srgbClr val="2F2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114032" y="4690872"/>
            <a:ext cx="1874519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EDE8DF"/>
                </a:solidFill>
                <a:latin typeface="Segoe UI Semibold"/>
              </a:rPr>
              <a:t>Eğlenceli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171432" y="4654296"/>
            <a:ext cx="1874519" cy="457200"/>
          </a:xfrm>
          <a:prstGeom prst="roundRect">
            <a:avLst>
              <a:gd name="adj" fmla="val 6000"/>
            </a:avLst>
          </a:prstGeom>
          <a:solidFill>
            <a:srgbClr val="2F2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71432" y="4690872"/>
            <a:ext cx="1874519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EDE8DF"/>
                </a:solidFill>
                <a:latin typeface="Segoe UI Semibold"/>
              </a:rPr>
              <a:t>Kanka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14032" y="5285232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A9388"/>
                </a:solidFill>
                <a:latin typeface="Segoe UI"/>
              </a:rPr>
              <a:t>…veya kendi system prompt'unu yaz.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148085908000" cy="6270955200000"/>
          </a:xfrm>
          <a:prstGeom prst="rect">
            <a:avLst/>
          </a:prstGeom>
          <a:solidFill>
            <a:srgbClr val="1C1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961120" y="-1280160"/>
            <a:ext cx="5120640" cy="5120640"/>
          </a:xfrm>
          <a:prstGeom prst="ellipse">
            <a:avLst/>
          </a:prstGeom>
          <a:solidFill>
            <a:srgbClr val="262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149840" y="3657600"/>
            <a:ext cx="3108960" cy="3108960"/>
          </a:xfrm>
          <a:prstGeom prst="ellipse">
            <a:avLst/>
          </a:prstGeom>
          <a:solidFill>
            <a:srgbClr val="2F2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280160"/>
            <a:ext cx="640080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0" b="1">
                <a:solidFill>
                  <a:srgbClr val="38332C"/>
                </a:solidFill>
                <a:latin typeface="Segoe UI Light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05740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C9A35B"/>
                </a:solidFill>
                <a:latin typeface="Segoe UI Semibold"/>
              </a:rPr>
              <a:t>BÖLÜM İKI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423160"/>
            <a:ext cx="8229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4200" b="1">
                <a:solidFill>
                  <a:srgbClr val="EDE8DF"/>
                </a:solidFill>
                <a:latin typeface="Segoe UI Semibold"/>
              </a:rPr>
              <a:t>Hafıza
&amp; Zeka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78992" y="4178808"/>
            <a:ext cx="201168" cy="36576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17320" y="4069080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9A9388"/>
                </a:solidFill>
                <a:latin typeface="Segoe UI"/>
              </a:rPr>
              <a:t>Kalıcı RAG — geri getirme destekli üretim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78992" y="4654296"/>
            <a:ext cx="201168" cy="36576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17320" y="4544568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9A9388"/>
                </a:solidFill>
                <a:latin typeface="Segoe UI"/>
              </a:rPr>
              <a:t>SQLite + sqlite-vec vektör deposu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78992" y="5129783"/>
            <a:ext cx="201168" cy="36576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17320" y="5020055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9A9388"/>
                </a:solidFill>
                <a:latin typeface="Segoe UI"/>
              </a:rPr>
              <a:t>Anlamsal arama nasıl çalışır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78992" y="5605271"/>
            <a:ext cx="201168" cy="36576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17320" y="5495543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9A9388"/>
                </a:solidFill>
                <a:latin typeface="Segoe UI"/>
              </a:rPr>
              <a:t>Modelden bağımsız çıkarım motoru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C9A35B"/>
                </a:solidFill>
                <a:latin typeface="Segoe UI Semibold"/>
              </a:rPr>
              <a:t>BÖLÜM 02 · HAFIZA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457200"/>
            <a:ext cx="1005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50" b="1">
                <a:solidFill>
                  <a:srgbClr val="9A9388"/>
                </a:solidFill>
                <a:latin typeface="Segoe UI Semibold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841248"/>
            <a:ext cx="106070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EDE8DF"/>
                </a:solidFill>
                <a:latin typeface="Segoe UI Semibold"/>
              </a:rPr>
              <a:t>Kalıcı RAG Hafızası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72768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0">
                <a:solidFill>
                  <a:srgbClr val="9A9388"/>
                </a:solidFill>
                <a:latin typeface="Segoe UI"/>
              </a:rPr>
              <a:t>Her etkileşim hatırlanır — model penceresinden bağımsız uzun süreli bellek.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121408"/>
            <a:ext cx="10543032" cy="18288"/>
          </a:xfrm>
          <a:prstGeom prst="rect">
            <a:avLst/>
          </a:prstGeom>
          <a:solidFill>
            <a:srgbClr val="3A35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2116836"/>
            <a:ext cx="1280160" cy="32004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419088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C9A35B"/>
                </a:solidFill>
                <a:latin typeface="Segoe UI Semibold"/>
              </a:rPr>
              <a:t>MEMO</a:t>
            </a:r>
            <a:r>
              <a:rPr sz="1050" b="0">
                <a:solidFill>
                  <a:srgbClr val="6E685E"/>
                </a:solidFill>
                <a:latin typeface="Segoe UI"/>
              </a:rPr>
              <a:t>  ·  Yerel Yapay Zeka Hafıza Kabuğu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542032"/>
            <a:ext cx="118872" cy="118872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5568" y="2441448"/>
            <a:ext cx="5468112" cy="9784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EDE8DF"/>
                </a:solidFill>
                <a:latin typeface="Segoe UI Semibold"/>
              </a:rPr>
              <a:t>Anlamsal indeksleme  </a:t>
            </a:r>
            <a:r>
              <a:rPr sz="1250" b="0">
                <a:solidFill>
                  <a:srgbClr val="9A9388"/>
                </a:solidFill>
                <a:latin typeface="Segoe UI"/>
              </a:rPr>
              <a:t>her mesaj embedding'e çevrilip vektör DB'ye yazılır.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3200400"/>
            <a:ext cx="118872" cy="118872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15568" y="3099816"/>
            <a:ext cx="5468112" cy="9784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EDE8DF"/>
                </a:solidFill>
                <a:latin typeface="Segoe UI Semibold"/>
              </a:rPr>
              <a:t>Bağlamsal hatırlama  </a:t>
            </a:r>
            <a:r>
              <a:rPr sz="1250" b="0">
                <a:solidFill>
                  <a:srgbClr val="9A9388"/>
                </a:solidFill>
                <a:latin typeface="Segoe UI"/>
              </a:rPr>
              <a:t>yanıttan önce en ilgili anılar (Top-K) getirilir.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3858768"/>
            <a:ext cx="118872" cy="118872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15568" y="3758183"/>
            <a:ext cx="5468112" cy="9784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EDE8DF"/>
                </a:solidFill>
                <a:latin typeface="Segoe UI Semibold"/>
              </a:rPr>
              <a:t>Sonsuz bağlam  </a:t>
            </a:r>
            <a:r>
              <a:rPr sz="1250" b="0">
                <a:solidFill>
                  <a:srgbClr val="9A9388"/>
                </a:solidFill>
                <a:latin typeface="Segoe UI"/>
              </a:rPr>
              <a:t>haftalar/aylar önceki detaylar erişilebilir kalır.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4517136"/>
            <a:ext cx="118872" cy="118872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15568" y="4416551"/>
            <a:ext cx="5468112" cy="9784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EDE8DF"/>
                </a:solidFill>
                <a:latin typeface="Segoe UI Semibold"/>
              </a:rPr>
              <a:t>Asenkron kayıt  </a:t>
            </a:r>
            <a:r>
              <a:rPr sz="1250" b="0">
                <a:solidFill>
                  <a:srgbClr val="9A9388"/>
                </a:solidFill>
                <a:latin typeface="Segoe UI"/>
              </a:rPr>
              <a:t>etkileşim arka planda saklanır, yanıt gecikmez.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5175503"/>
            <a:ext cx="118872" cy="118872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15568" y="5074919"/>
            <a:ext cx="5468112" cy="9784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EDE8DF"/>
                </a:solidFill>
                <a:latin typeface="Segoe UI Semibold"/>
              </a:rPr>
              <a:t>Çapraz mod  </a:t>
            </a:r>
            <a:r>
              <a:rPr sz="1250" b="0">
                <a:solidFill>
                  <a:srgbClr val="9A9388"/>
                </a:solidFill>
                <a:latin typeface="Segoe UI"/>
              </a:rPr>
              <a:t>sohbet için bulut, embedding için yerel model olabilir.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0" y="2377440"/>
            <a:ext cx="4114800" cy="475488"/>
          </a:xfrm>
          <a:prstGeom prst="roundRect">
            <a:avLst>
              <a:gd name="adj" fmla="val 6000"/>
            </a:avLst>
          </a:prstGeom>
          <a:solidFill>
            <a:srgbClr val="2F2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40880" y="2395728"/>
            <a:ext cx="411480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EDE8DF"/>
                </a:solidFill>
                <a:latin typeface="Segoe UI Semibold"/>
              </a:rPr>
              <a:t>Kullanıcı mesajı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40880" y="2834640"/>
            <a:ext cx="4114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C9A35B"/>
                </a:solidFill>
                <a:latin typeface="Segoe UI"/>
              </a:rPr>
              <a:t>↓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040880" y="3054096"/>
            <a:ext cx="4114800" cy="475488"/>
          </a:xfrm>
          <a:prstGeom prst="roundRect">
            <a:avLst>
              <a:gd name="adj" fmla="val 6000"/>
            </a:avLst>
          </a:prstGeom>
          <a:solidFill>
            <a:srgbClr val="2F2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040880" y="3072384"/>
            <a:ext cx="411480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EDE8DF"/>
                </a:solidFill>
                <a:latin typeface="Segoe UI Semibold"/>
              </a:rPr>
              <a:t>Embedding modeli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3511296"/>
            <a:ext cx="4114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C9A35B"/>
                </a:solidFill>
                <a:latin typeface="Segoe UI"/>
              </a:rPr>
              <a:t>↓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040880" y="3730752"/>
            <a:ext cx="4114800" cy="475488"/>
          </a:xfrm>
          <a:prstGeom prst="roundRect">
            <a:avLst>
              <a:gd name="adj" fmla="val 6000"/>
            </a:avLst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040880" y="3749039"/>
            <a:ext cx="411480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1C1A17"/>
                </a:solidFill>
                <a:latin typeface="Segoe UI Semibold"/>
              </a:rPr>
              <a:t>vec0 ANN araması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40880" y="4187952"/>
            <a:ext cx="4114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C9A35B"/>
                </a:solidFill>
                <a:latin typeface="Segoe UI"/>
              </a:rPr>
              <a:t>↓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040880" y="4407408"/>
            <a:ext cx="4114800" cy="475488"/>
          </a:xfrm>
          <a:prstGeom prst="roundRect">
            <a:avLst>
              <a:gd name="adj" fmla="val 6000"/>
            </a:avLst>
          </a:prstGeom>
          <a:solidFill>
            <a:srgbClr val="2F2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040880" y="4425696"/>
            <a:ext cx="411480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EDE8DF"/>
                </a:solidFill>
                <a:latin typeface="Segoe UI Semibold"/>
              </a:rPr>
              <a:t>Top-K ilgili anı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40880" y="4864608"/>
            <a:ext cx="4114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C9A35B"/>
                </a:solidFill>
                <a:latin typeface="Segoe UI"/>
              </a:rPr>
              <a:t>↓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040880" y="5084064"/>
            <a:ext cx="4114800" cy="475488"/>
          </a:xfrm>
          <a:prstGeom prst="roundRect">
            <a:avLst>
              <a:gd name="adj" fmla="val 6000"/>
            </a:avLst>
          </a:prstGeom>
          <a:solidFill>
            <a:srgbClr val="2F2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040880" y="5102352"/>
            <a:ext cx="411480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EDE8DF"/>
                </a:solidFill>
                <a:latin typeface="Segoe UI Semibold"/>
              </a:rPr>
              <a:t>System prompt'a enjekte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40880" y="5541264"/>
            <a:ext cx="4114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C9A35B"/>
                </a:solidFill>
                <a:latin typeface="Segoe UI"/>
              </a:rPr>
              <a:t>↓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040880" y="5760720"/>
            <a:ext cx="4114800" cy="475488"/>
          </a:xfrm>
          <a:prstGeom prst="roundRect">
            <a:avLst>
              <a:gd name="adj" fmla="val 6000"/>
            </a:avLst>
          </a:prstGeom>
          <a:solidFill>
            <a:srgbClr val="7FB4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040880" y="5779008"/>
            <a:ext cx="411480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1C1A17"/>
                </a:solidFill>
                <a:latin typeface="Segoe UI Semibold"/>
              </a:rPr>
              <a:t>LLM yanıtı + yeni kayıt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C9A35B"/>
                </a:solidFill>
                <a:latin typeface="Segoe UI Semibold"/>
              </a:rPr>
              <a:t>BÖLÜM 02 · DEPOLAMA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457200"/>
            <a:ext cx="1005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50" b="1">
                <a:solidFill>
                  <a:srgbClr val="9A9388"/>
                </a:solidFill>
                <a:latin typeface="Segoe UI Semibold"/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841248"/>
            <a:ext cx="106070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EDE8DF"/>
                </a:solidFill>
                <a:latin typeface="Segoe UI Semibold"/>
              </a:rPr>
              <a:t>SQLite + sqlite-vec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72768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0">
                <a:solidFill>
                  <a:srgbClr val="9A9388"/>
                </a:solidFill>
                <a:latin typeface="Segoe UI"/>
              </a:rPr>
              <a:t>Tek dosyalık, ACID güvenli, ANN indeksli yerel vektör deposu.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121408"/>
            <a:ext cx="10543032" cy="18288"/>
          </a:xfrm>
          <a:prstGeom prst="rect">
            <a:avLst/>
          </a:prstGeom>
          <a:solidFill>
            <a:srgbClr val="3A35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2116836"/>
            <a:ext cx="1280160" cy="32004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419088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C9A35B"/>
                </a:solidFill>
                <a:latin typeface="Segoe UI Semibold"/>
              </a:rPr>
              <a:t>MEMO</a:t>
            </a:r>
            <a:r>
              <a:rPr sz="1050" b="0">
                <a:solidFill>
                  <a:srgbClr val="6E685E"/>
                </a:solidFill>
                <a:latin typeface="Segoe UI"/>
              </a:rPr>
              <a:t>  ·  Yerel Yapay Zeka Hafıza Kabuğu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423160"/>
            <a:ext cx="5029200" cy="3337560"/>
          </a:xfrm>
          <a:prstGeom prst="roundRect">
            <a:avLst>
              <a:gd name="adj" fmla="val 6000"/>
            </a:avLst>
          </a:prstGeom>
          <a:solidFill>
            <a:srgbClr val="262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578608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C9A35B"/>
                </a:solidFill>
                <a:latin typeface="Segoe UI Semibold"/>
              </a:rPr>
              <a:t>data/memory/memo.db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97280" y="3063240"/>
            <a:ext cx="4526280" cy="713232"/>
          </a:xfrm>
          <a:prstGeom prst="roundRect">
            <a:avLst>
              <a:gd name="adj" fmla="val 6000"/>
            </a:avLst>
          </a:prstGeom>
          <a:solidFill>
            <a:srgbClr val="2F2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25880" y="3154680"/>
            <a:ext cx="4114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7FB4AB"/>
                </a:solidFill>
                <a:latin typeface="Segoe UI Semibold"/>
              </a:rPr>
              <a:t>documents</a:t>
            </a:r>
            <a:r>
              <a:rPr sz="1100" b="0">
                <a:solidFill>
                  <a:srgbClr val="9A9388"/>
                </a:solidFill>
                <a:latin typeface="Segoe UI"/>
              </a:rPr>
              <a:t>  tablosu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3465576"/>
            <a:ext cx="4114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9A9388"/>
                </a:solidFill>
                <a:latin typeface="Segoe UI"/>
              </a:rPr>
              <a:t>id · content · created_at · metadata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97280" y="3904488"/>
            <a:ext cx="4526280" cy="713232"/>
          </a:xfrm>
          <a:prstGeom prst="roundRect">
            <a:avLst>
              <a:gd name="adj" fmla="val 6000"/>
            </a:avLst>
          </a:prstGeom>
          <a:solidFill>
            <a:srgbClr val="2F2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25880" y="3995928"/>
            <a:ext cx="4114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7FB4AB"/>
                </a:solidFill>
                <a:latin typeface="Segoe UI Semibold"/>
              </a:rPr>
              <a:t>vec0</a:t>
            </a:r>
            <a:r>
              <a:rPr sz="1100" b="0">
                <a:solidFill>
                  <a:srgbClr val="9A9388"/>
                </a:solidFill>
                <a:latin typeface="Segoe UI"/>
              </a:rPr>
              <a:t>  tablosu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4306824"/>
            <a:ext cx="4114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9A9388"/>
                </a:solidFill>
                <a:latin typeface="Segoe UI"/>
              </a:rPr>
              <a:t>id · embedding (768-boyut ANN)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97280" y="4745736"/>
            <a:ext cx="4526280" cy="713232"/>
          </a:xfrm>
          <a:prstGeom prst="roundRect">
            <a:avLst>
              <a:gd name="adj" fmla="val 6000"/>
            </a:avLst>
          </a:prstGeom>
          <a:solidFill>
            <a:srgbClr val="2F2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25880" y="4837176"/>
            <a:ext cx="4114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7FB4AB"/>
                </a:solidFill>
                <a:latin typeface="Segoe UI Semibold"/>
              </a:rPr>
              <a:t>metadata</a:t>
            </a:r>
            <a:r>
              <a:rPr sz="1100" b="0">
                <a:solidFill>
                  <a:srgbClr val="9A9388"/>
                </a:solidFill>
                <a:latin typeface="Segoe UI"/>
              </a:rPr>
              <a:t>  tablosu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5148072"/>
            <a:ext cx="4114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9A9388"/>
                </a:solidFill>
                <a:latin typeface="Segoe UI"/>
              </a:rPr>
              <a:t>key · value (koleksiyon bilgisi)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72200" y="2423160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C9A35B"/>
                </a:solidFill>
                <a:latin typeface="Segoe UI Semibold"/>
              </a:rPr>
              <a:t>SQLite'ın Sağladığı Avantajlar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72200" y="2999232"/>
            <a:ext cx="118872" cy="118872"/>
          </a:xfrm>
          <a:prstGeom prst="rect">
            <a:avLst/>
          </a:prstGeom>
          <a:solidFill>
            <a:srgbClr val="7FB4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64808" y="2898648"/>
            <a:ext cx="4919472" cy="8869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EDE8DF"/>
                </a:solidFill>
                <a:latin typeface="Segoe UI Semibold"/>
              </a:rPr>
              <a:t>Atomik yazma (ACID)  </a:t>
            </a:r>
            <a:r>
              <a:rPr sz="1250" b="0">
                <a:solidFill>
                  <a:srgbClr val="9A9388"/>
                </a:solidFill>
                <a:latin typeface="Segoe UI"/>
              </a:rPr>
              <a:t>crash'te ROLLBACK, veri bozulmaz.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72200" y="3566160"/>
            <a:ext cx="118872" cy="118872"/>
          </a:xfrm>
          <a:prstGeom prst="rect">
            <a:avLst/>
          </a:prstGeom>
          <a:solidFill>
            <a:srgbClr val="7FB4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4808" y="3465576"/>
            <a:ext cx="4919472" cy="8869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EDE8DF"/>
                </a:solidFill>
                <a:latin typeface="Segoe UI Semibold"/>
              </a:rPr>
              <a:t>Eşzamanlı erişim  </a:t>
            </a:r>
            <a:r>
              <a:rPr sz="1250" b="0">
                <a:solidFill>
                  <a:srgbClr val="9A9388"/>
                </a:solidFill>
                <a:latin typeface="Segoe UI"/>
              </a:rPr>
              <a:t>WAL modu — okuma/yazma paralel.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72200" y="4133088"/>
            <a:ext cx="118872" cy="118872"/>
          </a:xfrm>
          <a:prstGeom prst="rect">
            <a:avLst/>
          </a:prstGeom>
          <a:solidFill>
            <a:srgbClr val="7FB4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64808" y="4032504"/>
            <a:ext cx="4919472" cy="8869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EDE8DF"/>
                </a:solidFill>
                <a:latin typeface="Segoe UI Semibold"/>
              </a:rPr>
              <a:t>Artımlı güncelleme  </a:t>
            </a:r>
            <a:r>
              <a:rPr sz="1250" b="0">
                <a:solidFill>
                  <a:srgbClr val="9A9388"/>
                </a:solidFill>
                <a:latin typeface="Segoe UI"/>
              </a:rPr>
              <a:t>sadece INSERT, tüm DB yeniden yazılmaz.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72200" y="4700016"/>
            <a:ext cx="118872" cy="118872"/>
          </a:xfrm>
          <a:prstGeom prst="rect">
            <a:avLst/>
          </a:prstGeom>
          <a:solidFill>
            <a:srgbClr val="7FB4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64808" y="4599432"/>
            <a:ext cx="4919472" cy="8869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EDE8DF"/>
                </a:solidFill>
                <a:latin typeface="Segoe UI Semibold"/>
              </a:rPr>
              <a:t>Lazy loading gerekmez  </a:t>
            </a:r>
            <a:r>
              <a:rPr sz="1250" b="0">
                <a:solidFill>
                  <a:srgbClr val="9A9388"/>
                </a:solidFill>
                <a:latin typeface="Segoe UI"/>
              </a:rPr>
              <a:t>sorgu yalnız gerekli kaydı getirir.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72200" y="5266944"/>
            <a:ext cx="118872" cy="118872"/>
          </a:xfrm>
          <a:prstGeom prst="rect">
            <a:avLst/>
          </a:prstGeom>
          <a:solidFill>
            <a:srgbClr val="7FB4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64808" y="5166360"/>
            <a:ext cx="4919472" cy="8869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EDE8DF"/>
                </a:solidFill>
                <a:latin typeface="Segoe UI Semibold"/>
              </a:rPr>
              <a:t>O(log N) arama  </a:t>
            </a:r>
            <a:r>
              <a:rPr sz="1250" b="0">
                <a:solidFill>
                  <a:srgbClr val="9A9388"/>
                </a:solidFill>
                <a:latin typeface="Segoe UI"/>
              </a:rPr>
              <a:t>vec0 ANN indeksiyle hızlı benzerlik.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C9A35B"/>
                </a:solidFill>
                <a:latin typeface="Segoe UI Semibold"/>
              </a:rPr>
              <a:t>BÖLÜM 02 · MOTOR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457200"/>
            <a:ext cx="1005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50" b="1">
                <a:solidFill>
                  <a:srgbClr val="9A9388"/>
                </a:solidFill>
                <a:latin typeface="Segoe UI Semibold"/>
              </a:rP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841248"/>
            <a:ext cx="106070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EDE8DF"/>
                </a:solidFill>
                <a:latin typeface="Segoe UI Semibold"/>
              </a:rPr>
              <a:t>Arama Akışı &amp; Çıkarım Motoru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72768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0">
                <a:solidFill>
                  <a:srgbClr val="9A9388"/>
                </a:solidFill>
                <a:latin typeface="Segoe UI"/>
              </a:rPr>
              <a:t>Anlamsal arama altı adımda; çıkarım modelden bağımsız iki sunucuyla.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121408"/>
            <a:ext cx="10543032" cy="18288"/>
          </a:xfrm>
          <a:prstGeom prst="rect">
            <a:avLst/>
          </a:prstGeom>
          <a:solidFill>
            <a:srgbClr val="3A35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2116836"/>
            <a:ext cx="1280160" cy="32004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419088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C9A35B"/>
                </a:solidFill>
                <a:latin typeface="Segoe UI Semibold"/>
              </a:rPr>
              <a:t>MEMO</a:t>
            </a:r>
            <a:r>
              <a:rPr sz="1050" b="0">
                <a:solidFill>
                  <a:srgbClr val="6E685E"/>
                </a:solidFill>
                <a:latin typeface="Segoe UI"/>
              </a:rPr>
              <a:t>  ·  Yerel Yapay Zeka Hafıza Kabuğu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377440"/>
            <a:ext cx="5760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C9A35B"/>
                </a:solidFill>
                <a:latin typeface="Segoe UI Semibold"/>
              </a:rPr>
              <a:t>Bir mesaj nasıl “hatırlanır”?</a:t>
            </a:r>
          </a:p>
        </p:txBody>
      </p:sp>
      <p:sp>
        <p:nvSpPr>
          <p:cNvPr id="11" name="Oval 10"/>
          <p:cNvSpPr/>
          <p:nvPr/>
        </p:nvSpPr>
        <p:spPr>
          <a:xfrm>
            <a:off x="822960" y="2834640"/>
            <a:ext cx="384048" cy="384048"/>
          </a:xfrm>
          <a:prstGeom prst="ellipse">
            <a:avLst/>
          </a:prstGeom>
          <a:solidFill>
            <a:srgbClr val="3833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852928"/>
            <a:ext cx="384048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C9A35B"/>
                </a:solidFill>
                <a:latin typeface="Segoe UI Semibold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871216"/>
            <a:ext cx="5120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EDE8DF"/>
                </a:solidFill>
                <a:latin typeface="Segoe UI"/>
              </a:rPr>
              <a:t>Kullanıcı yazar: "ekran kartı öner"</a:t>
            </a:r>
          </a:p>
        </p:txBody>
      </p:sp>
      <p:sp>
        <p:nvSpPr>
          <p:cNvPr id="14" name="Oval 13"/>
          <p:cNvSpPr/>
          <p:nvPr/>
        </p:nvSpPr>
        <p:spPr>
          <a:xfrm>
            <a:off x="822960" y="3337560"/>
            <a:ext cx="384048" cy="384048"/>
          </a:xfrm>
          <a:prstGeom prst="ellipse">
            <a:avLst/>
          </a:prstGeom>
          <a:solidFill>
            <a:srgbClr val="3833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355848"/>
            <a:ext cx="384048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C9A35B"/>
                </a:solidFill>
                <a:latin typeface="Segoe UI Semibol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374136"/>
            <a:ext cx="5120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EDE8DF"/>
                </a:solidFill>
                <a:latin typeface="Segoe UI"/>
              </a:rPr>
              <a:t>Metin embedding modeline gider → vektör</a:t>
            </a:r>
          </a:p>
        </p:txBody>
      </p:sp>
      <p:sp>
        <p:nvSpPr>
          <p:cNvPr id="17" name="Oval 16"/>
          <p:cNvSpPr/>
          <p:nvPr/>
        </p:nvSpPr>
        <p:spPr>
          <a:xfrm>
            <a:off x="822960" y="3840480"/>
            <a:ext cx="384048" cy="384048"/>
          </a:xfrm>
          <a:prstGeom prst="ellipse">
            <a:avLst/>
          </a:prstGeom>
          <a:solidFill>
            <a:srgbClr val="3833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3858768"/>
            <a:ext cx="384048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C9A35B"/>
                </a:solidFill>
                <a:latin typeface="Segoe UI Semibol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3877056"/>
            <a:ext cx="5120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EDE8DF"/>
                </a:solidFill>
                <a:latin typeface="Segoe UI"/>
              </a:rPr>
              <a:t>vec0 üzerinde ANN benzerlik araması</a:t>
            </a:r>
          </a:p>
        </p:txBody>
      </p:sp>
      <p:sp>
        <p:nvSpPr>
          <p:cNvPr id="20" name="Oval 19"/>
          <p:cNvSpPr/>
          <p:nvPr/>
        </p:nvSpPr>
        <p:spPr>
          <a:xfrm>
            <a:off x="822960" y="4343400"/>
            <a:ext cx="384048" cy="384048"/>
          </a:xfrm>
          <a:prstGeom prst="ellipse">
            <a:avLst/>
          </a:prstGeom>
          <a:solidFill>
            <a:srgbClr val="3833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4361688"/>
            <a:ext cx="384048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C9A35B"/>
                </a:solidFill>
                <a:latin typeface="Segoe UI Semibold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4379976"/>
            <a:ext cx="5120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EDE8DF"/>
                </a:solidFill>
                <a:latin typeface="Segoe UI"/>
              </a:rPr>
              <a:t>En benzer 5 kayıt (Top-K) bulunur</a:t>
            </a:r>
          </a:p>
        </p:txBody>
      </p:sp>
      <p:sp>
        <p:nvSpPr>
          <p:cNvPr id="23" name="Oval 22"/>
          <p:cNvSpPr/>
          <p:nvPr/>
        </p:nvSpPr>
        <p:spPr>
          <a:xfrm>
            <a:off x="822960" y="4846320"/>
            <a:ext cx="384048" cy="384048"/>
          </a:xfrm>
          <a:prstGeom prst="ellipse">
            <a:avLst/>
          </a:prstGeom>
          <a:solidFill>
            <a:srgbClr val="3833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4864607"/>
            <a:ext cx="384048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C9A35B"/>
                </a:solidFill>
                <a:latin typeface="Segoe UI Semibold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4882896"/>
            <a:ext cx="5120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EDE8DF"/>
                </a:solidFill>
                <a:latin typeface="Segoe UI"/>
              </a:rPr>
              <a:t>Kayıtların içeriği system prompt'a eklenir</a:t>
            </a:r>
          </a:p>
        </p:txBody>
      </p:sp>
      <p:sp>
        <p:nvSpPr>
          <p:cNvPr id="26" name="Oval 25"/>
          <p:cNvSpPr/>
          <p:nvPr/>
        </p:nvSpPr>
        <p:spPr>
          <a:xfrm>
            <a:off x="822960" y="5349240"/>
            <a:ext cx="384048" cy="384048"/>
          </a:xfrm>
          <a:prstGeom prst="ellipse">
            <a:avLst/>
          </a:prstGeom>
          <a:solidFill>
            <a:srgbClr val="3833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5367527"/>
            <a:ext cx="384048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C9A35B"/>
                </a:solidFill>
                <a:latin typeface="Segoe UI Semibold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385816"/>
            <a:ext cx="5120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EDE8DF"/>
                </a:solidFill>
                <a:latin typeface="Segoe UI"/>
              </a:rPr>
              <a:t>LLM geçmişi “hatırlayarak” yanıtlar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858000" y="2423160"/>
            <a:ext cx="4526280" cy="3337560"/>
          </a:xfrm>
          <a:prstGeom prst="roundRect">
            <a:avLst>
              <a:gd name="adj" fmla="val 6000"/>
            </a:avLst>
          </a:prstGeom>
          <a:solidFill>
            <a:srgbClr val="262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114032" y="2606040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C9A35B"/>
                </a:solidFill>
                <a:latin typeface="Segoe UI Semibold"/>
              </a:rPr>
              <a:t>Modelden Bağımsız Motor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114032" y="3182112"/>
            <a:ext cx="118872" cy="118872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06640" y="3081528"/>
            <a:ext cx="3730752" cy="9235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EDE8DF"/>
                </a:solidFill>
                <a:latin typeface="Segoe UI Semibold"/>
              </a:rPr>
              <a:t>Dahili llama-server  </a:t>
            </a:r>
            <a:r>
              <a:rPr sz="1250" b="0">
                <a:solidFill>
                  <a:srgbClr val="9A9388"/>
                </a:solidFill>
                <a:latin typeface="Segoe UI"/>
              </a:rPr>
              <a:t>yüksek performanslı GGUF çıkarımı.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114032" y="3785615"/>
            <a:ext cx="118872" cy="118872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06640" y="3685031"/>
            <a:ext cx="3730752" cy="9235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EDE8DF"/>
                </a:solidFill>
                <a:latin typeface="Segoe UI Semibold"/>
              </a:rPr>
              <a:t>Özel embedding sunucusu  </a:t>
            </a:r>
            <a:r>
              <a:rPr sz="1250" b="0">
                <a:solidFill>
                  <a:srgbClr val="9A9388"/>
                </a:solidFill>
                <a:latin typeface="Segoe UI"/>
              </a:rPr>
              <a:t>hafıza indeksleme ayrı portta (8082).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114032" y="4389120"/>
            <a:ext cx="118872" cy="118872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406640" y="4288536"/>
            <a:ext cx="3730752" cy="9235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EDE8DF"/>
                </a:solidFill>
                <a:latin typeface="Segoe UI Semibold"/>
              </a:rPr>
              <a:t>Harici API uyumu  </a:t>
            </a:r>
            <a:r>
              <a:rPr sz="1250" b="0">
                <a:solidFill>
                  <a:srgbClr val="9A9388"/>
                </a:solidFill>
                <a:latin typeface="Segoe UI"/>
              </a:rPr>
              <a:t>LM-Studio / OpenAI uyumlu yerel API.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114032" y="4992624"/>
            <a:ext cx="118872" cy="118872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406640" y="4892040"/>
            <a:ext cx="3730752" cy="9235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EDE8DF"/>
                </a:solidFill>
                <a:latin typeface="Segoe UI Semibold"/>
              </a:rPr>
              <a:t>Otomatik başlatma  </a:t>
            </a:r>
            <a:r>
              <a:rPr sz="1250" b="0">
                <a:solidFill>
                  <a:srgbClr val="9A9388"/>
                </a:solidFill>
                <a:latin typeface="Segoe UI"/>
              </a:rPr>
              <a:t>embedding modeli açılışta hazır olur.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148085908000" cy="6270955200000"/>
          </a:xfrm>
          <a:prstGeom prst="rect">
            <a:avLst/>
          </a:prstGeom>
          <a:solidFill>
            <a:srgbClr val="1C1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961120" y="-1280160"/>
            <a:ext cx="5120640" cy="5120640"/>
          </a:xfrm>
          <a:prstGeom prst="ellipse">
            <a:avLst/>
          </a:prstGeom>
          <a:solidFill>
            <a:srgbClr val="262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149840" y="3657600"/>
            <a:ext cx="3108960" cy="3108960"/>
          </a:xfrm>
          <a:prstGeom prst="ellipse">
            <a:avLst/>
          </a:prstGeom>
          <a:solidFill>
            <a:srgbClr val="2F2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280160"/>
            <a:ext cx="640080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0" b="1">
                <a:solidFill>
                  <a:srgbClr val="38332C"/>
                </a:solidFill>
                <a:latin typeface="Segoe UI Light"/>
              </a:rP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05740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C9A35B"/>
                </a:solidFill>
                <a:latin typeface="Segoe UI Semibold"/>
              </a:rPr>
              <a:t>BÖLÜM ÜÇ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423160"/>
            <a:ext cx="8229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4200" b="1">
                <a:solidFill>
                  <a:srgbClr val="EDE8DF"/>
                </a:solidFill>
                <a:latin typeface="Segoe UI Semibold"/>
              </a:rPr>
              <a:t>Mimari
&amp; Teknik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78992" y="4178808"/>
            <a:ext cx="201168" cy="36576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17320" y="4069080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9A9388"/>
                </a:solidFill>
                <a:latin typeface="Segoe UI"/>
              </a:rPr>
              <a:t>Yüksek seviye mimari — Flutter + Go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78992" y="4654296"/>
            <a:ext cx="201168" cy="36576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17320" y="4544568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9A9388"/>
                </a:solidFill>
                <a:latin typeface="Segoe UI"/>
              </a:rPr>
              <a:t>Backend modülleri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78992" y="5129783"/>
            <a:ext cx="201168" cy="36576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17320" y="5020055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9A9388"/>
                </a:solidFill>
                <a:latin typeface="Segoe UI"/>
              </a:rPr>
              <a:t>Frontend (Riverpod / Dio)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78992" y="5605271"/>
            <a:ext cx="201168" cy="36576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17320" y="5495543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9A9388"/>
                </a:solidFill>
                <a:latin typeface="Segoe UI"/>
              </a:rPr>
              <a:t>REST API uçları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C9A35B"/>
                </a:solidFill>
                <a:latin typeface="Segoe UI Semibold"/>
              </a:rPr>
              <a:t>BÖLÜM 03 · MIMARI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457200"/>
            <a:ext cx="1005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50" b="1">
                <a:solidFill>
                  <a:srgbClr val="9A9388"/>
                </a:solidFill>
                <a:latin typeface="Segoe UI Semibold"/>
              </a:rP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841248"/>
            <a:ext cx="106070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EDE8DF"/>
                </a:solidFill>
                <a:latin typeface="Segoe UI Semibold"/>
              </a:rPr>
              <a:t>Yüksek Seviye Mimari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72768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0">
                <a:solidFill>
                  <a:srgbClr val="9A9388"/>
                </a:solidFill>
                <a:latin typeface="Segoe UI"/>
              </a:rPr>
              <a:t>Flutter masaüstü istemcisi ↔ başsız Go sunucusu, REST/JSON/SSE üzerinden.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121408"/>
            <a:ext cx="10543032" cy="18288"/>
          </a:xfrm>
          <a:prstGeom prst="rect">
            <a:avLst/>
          </a:prstGeom>
          <a:solidFill>
            <a:srgbClr val="3A35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2116836"/>
            <a:ext cx="1280160" cy="32004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419088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C9A35B"/>
                </a:solidFill>
                <a:latin typeface="Segoe UI Semibold"/>
              </a:rPr>
              <a:t>MEMO</a:t>
            </a:r>
            <a:r>
              <a:rPr sz="1050" b="0">
                <a:solidFill>
                  <a:srgbClr val="6E685E"/>
                </a:solidFill>
                <a:latin typeface="Segoe UI"/>
              </a:rPr>
              <a:t>  ·  Yerel Yapay Zeka Hafıza Kabuğu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286000"/>
            <a:ext cx="3200400" cy="3429000"/>
          </a:xfrm>
          <a:prstGeom prst="roundRect">
            <a:avLst>
              <a:gd name="adj" fmla="val 6000"/>
            </a:avLst>
          </a:prstGeom>
          <a:solidFill>
            <a:srgbClr val="262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2286000"/>
            <a:ext cx="3200400" cy="502920"/>
          </a:xfrm>
          <a:prstGeom prst="rect">
            <a:avLst/>
          </a:prstGeom>
          <a:solidFill>
            <a:srgbClr val="7FB4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313432"/>
            <a:ext cx="32004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C1A17"/>
                </a:solidFill>
                <a:latin typeface="Segoe UI Semibold"/>
              </a:rPr>
              <a:t>FRONTEND · Flutter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51560" y="3136392"/>
            <a:ext cx="118872" cy="118872"/>
          </a:xfrm>
          <a:prstGeom prst="rect">
            <a:avLst/>
          </a:prstGeom>
          <a:solidFill>
            <a:srgbClr val="7FB4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44168" y="3035808"/>
            <a:ext cx="2496312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EDE8DF"/>
                </a:solidFill>
                <a:latin typeface="Segoe UI"/>
              </a:rPr>
              <a:t>Riverpod 2.x state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51560" y="3648456"/>
            <a:ext cx="118872" cy="118872"/>
          </a:xfrm>
          <a:prstGeom prst="rect">
            <a:avLst/>
          </a:prstGeom>
          <a:solidFill>
            <a:srgbClr val="7FB4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44168" y="3547872"/>
            <a:ext cx="2496312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EDE8DF"/>
                </a:solidFill>
                <a:latin typeface="Segoe UI"/>
              </a:rPr>
              <a:t>Dio HTTP + SSE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51560" y="4160520"/>
            <a:ext cx="118872" cy="118872"/>
          </a:xfrm>
          <a:prstGeom prst="rect">
            <a:avLst/>
          </a:prstGeom>
          <a:solidFill>
            <a:srgbClr val="7FB4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44168" y="4059936"/>
            <a:ext cx="2496312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EDE8DF"/>
                </a:solidFill>
                <a:latin typeface="Segoe UI"/>
              </a:rPr>
              <a:t>Linux · Windows · macOS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51560" y="4672584"/>
            <a:ext cx="118872" cy="118872"/>
          </a:xfrm>
          <a:prstGeom prst="rect">
            <a:avLst/>
          </a:prstGeom>
          <a:solidFill>
            <a:srgbClr val="7FB4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344168" y="4572000"/>
            <a:ext cx="2496312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EDE8DF"/>
                </a:solidFill>
                <a:latin typeface="Segoe UI"/>
              </a:rPr>
              <a:t>ApiClient ~600 satır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51560" y="5184648"/>
            <a:ext cx="118872" cy="118872"/>
          </a:xfrm>
          <a:prstGeom prst="rect">
            <a:avLst/>
          </a:prstGeom>
          <a:solidFill>
            <a:srgbClr val="7FB4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44168" y="5084064"/>
            <a:ext cx="2496312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EDE8DF"/>
                </a:solidFill>
                <a:latin typeface="Segoe UI"/>
              </a:rPr>
              <a:t>8 sekmeli ayarlar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97680" y="2286000"/>
            <a:ext cx="7086600" cy="3429000"/>
          </a:xfrm>
          <a:prstGeom prst="roundRect">
            <a:avLst>
              <a:gd name="adj" fmla="val 6000"/>
            </a:avLst>
          </a:prstGeom>
          <a:solidFill>
            <a:srgbClr val="262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297680" y="2286000"/>
            <a:ext cx="7086600" cy="502920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97680" y="2313432"/>
            <a:ext cx="7086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C1A17"/>
                </a:solidFill>
                <a:latin typeface="Segoe UI Semibold"/>
              </a:rPr>
              <a:t>BACKEND · Go  (:8090)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80560" y="3035808"/>
            <a:ext cx="1572768" cy="1078992"/>
          </a:xfrm>
          <a:prstGeom prst="roundRect">
            <a:avLst>
              <a:gd name="adj" fmla="val 6000"/>
            </a:avLst>
          </a:prstGeom>
          <a:solidFill>
            <a:srgbClr val="2F2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26280" y="3200400"/>
            <a:ext cx="1481328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EDE8DF"/>
                </a:solidFill>
                <a:latin typeface="Segoe UI Semibold"/>
              </a:rPr>
              <a:t>Memory Store</a:t>
            </a:r>
          </a:p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9A9388"/>
                </a:solidFill>
                <a:latin typeface="Segoe UI"/>
              </a:rPr>
              <a:t>sqlite-vec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81344" y="3035808"/>
            <a:ext cx="1572768" cy="1078992"/>
          </a:xfrm>
          <a:prstGeom prst="roundRect">
            <a:avLst>
              <a:gd name="adj" fmla="val 6000"/>
            </a:avLst>
          </a:prstGeom>
          <a:solidFill>
            <a:srgbClr val="2F2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27064" y="3200400"/>
            <a:ext cx="1481328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EDE8DF"/>
                </a:solidFill>
                <a:latin typeface="Segoe UI Semibold"/>
              </a:rPr>
              <a:t>Session Mgr</a:t>
            </a:r>
          </a:p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9A9388"/>
                </a:solidFill>
                <a:latin typeface="Segoe UI"/>
              </a:rPr>
              <a:t>JSON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882128" y="3035808"/>
            <a:ext cx="1572768" cy="1078992"/>
          </a:xfrm>
          <a:prstGeom prst="roundRect">
            <a:avLst>
              <a:gd name="adj" fmla="val 6000"/>
            </a:avLst>
          </a:prstGeom>
          <a:solidFill>
            <a:srgbClr val="2F2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27848" y="3200400"/>
            <a:ext cx="1481328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EDE8DF"/>
                </a:solidFill>
                <a:latin typeface="Segoe UI Semibold"/>
              </a:rPr>
              <a:t>Llama Mgr</a:t>
            </a:r>
          </a:p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9A9388"/>
                </a:solidFill>
                <a:latin typeface="Segoe UI"/>
              </a:rPr>
              <a:t>subprocess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582912" y="3035808"/>
            <a:ext cx="1572768" cy="1078992"/>
          </a:xfrm>
          <a:prstGeom prst="roundRect">
            <a:avLst>
              <a:gd name="adj" fmla="val 6000"/>
            </a:avLst>
          </a:prstGeom>
          <a:solidFill>
            <a:srgbClr val="2F2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628632" y="3200400"/>
            <a:ext cx="1481328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EDE8DF"/>
                </a:solidFill>
                <a:latin typeface="Segoe UI Semibold"/>
              </a:rPr>
              <a:t>Provider Router</a:t>
            </a:r>
          </a:p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9A9388"/>
                </a:solidFill>
                <a:latin typeface="Segoe UI"/>
              </a:rPr>
              <a:t>fallback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480560" y="4270248"/>
            <a:ext cx="1572768" cy="1078992"/>
          </a:xfrm>
          <a:prstGeom prst="roundRect">
            <a:avLst>
              <a:gd name="adj" fmla="val 6000"/>
            </a:avLst>
          </a:prstGeom>
          <a:solidFill>
            <a:srgbClr val="2F2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26280" y="4434840"/>
            <a:ext cx="1481328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EDE8DF"/>
                </a:solidFill>
                <a:latin typeface="Segoe UI Semibold"/>
              </a:rPr>
              <a:t>Agent Engine</a:t>
            </a:r>
          </a:p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9A9388"/>
                </a:solidFill>
                <a:latin typeface="Segoe UI"/>
              </a:rPr>
              <a:t>tool calling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81344" y="4270248"/>
            <a:ext cx="1572768" cy="1078992"/>
          </a:xfrm>
          <a:prstGeom prst="roundRect">
            <a:avLst>
              <a:gd name="adj" fmla="val 6000"/>
            </a:avLst>
          </a:prstGeom>
          <a:solidFill>
            <a:srgbClr val="2F2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27064" y="4434840"/>
            <a:ext cx="1481328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EDE8DF"/>
                </a:solidFill>
                <a:latin typeface="Segoe UI Semibold"/>
              </a:rPr>
              <a:t>Orchestra</a:t>
            </a:r>
          </a:p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9A9388"/>
                </a:solidFill>
                <a:latin typeface="Segoe UI"/>
              </a:rPr>
              <a:t>çoklu model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882128" y="4270248"/>
            <a:ext cx="1572768" cy="1078992"/>
          </a:xfrm>
          <a:prstGeom prst="roundRect">
            <a:avLst>
              <a:gd name="adj" fmla="val 6000"/>
            </a:avLst>
          </a:prstGeom>
          <a:solidFill>
            <a:srgbClr val="2F2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927848" y="4434840"/>
            <a:ext cx="1481328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EDE8DF"/>
                </a:solidFill>
                <a:latin typeface="Segoe UI Semibold"/>
              </a:rPr>
              <a:t>Cloud Sync</a:t>
            </a:r>
          </a:p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9A9388"/>
                </a:solidFill>
                <a:latin typeface="Segoe UI"/>
              </a:rPr>
              <a:t>Drive/AES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582912" y="4270248"/>
            <a:ext cx="1572768" cy="1078992"/>
          </a:xfrm>
          <a:prstGeom prst="roundRect">
            <a:avLst>
              <a:gd name="adj" fmla="val 6000"/>
            </a:avLst>
          </a:prstGeom>
          <a:solidFill>
            <a:srgbClr val="2F2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628632" y="4434840"/>
            <a:ext cx="1481328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EDE8DF"/>
                </a:solidFill>
                <a:latin typeface="Segoe UI Semibold"/>
              </a:rPr>
              <a:t>Model Store</a:t>
            </a:r>
          </a:p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9A9388"/>
                </a:solidFill>
                <a:latin typeface="Segoe UI"/>
              </a:rPr>
              <a:t>HF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2960" y="580644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9A9388"/>
                </a:solidFill>
                <a:latin typeface="Segoe UI"/>
              </a:rPr>
              <a:t>app.go (2400+ satır) merkezî orkestratör — LLM yaşam döngüsü, hafıza, oturum, sağlayıcı, ajan ve orkestra yönetimi.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C9A35B"/>
                </a:solidFill>
                <a:latin typeface="Segoe UI Semibold"/>
              </a:rPr>
              <a:t>BÖLÜM 03 · BACKEND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457200"/>
            <a:ext cx="1005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50" b="1">
                <a:solidFill>
                  <a:srgbClr val="9A9388"/>
                </a:solidFill>
                <a:latin typeface="Segoe UI Semibold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841248"/>
            <a:ext cx="106070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EDE8DF"/>
                </a:solidFill>
                <a:latin typeface="Segoe UI Semibold"/>
              </a:rPr>
              <a:t>Backend Modülleri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72768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0">
                <a:solidFill>
                  <a:srgbClr val="9A9388"/>
                </a:solidFill>
                <a:latin typeface="Segoe UI"/>
              </a:rPr>
              <a:t>Go ile yazılmış paketler — her biri net bir sorumluluk taşır.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121408"/>
            <a:ext cx="10543032" cy="18288"/>
          </a:xfrm>
          <a:prstGeom prst="rect">
            <a:avLst/>
          </a:prstGeom>
          <a:solidFill>
            <a:srgbClr val="3A35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2116836"/>
            <a:ext cx="1280160" cy="32004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419088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C9A35B"/>
                </a:solidFill>
                <a:latin typeface="Segoe UI Semibold"/>
              </a:rPr>
              <a:t>MEMO</a:t>
            </a:r>
            <a:r>
              <a:rPr sz="1050" b="0">
                <a:solidFill>
                  <a:srgbClr val="6E685E"/>
                </a:solidFill>
                <a:latin typeface="Segoe UI"/>
              </a:rPr>
              <a:t>  ·  Yerel Yapay Zeka Hafıza Kabuğu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468880"/>
            <a:ext cx="5120640" cy="713232"/>
          </a:xfrm>
          <a:prstGeom prst="roundRect">
            <a:avLst>
              <a:gd name="adj" fmla="val 6000"/>
            </a:avLst>
          </a:prstGeom>
          <a:solidFill>
            <a:srgbClr val="262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2596896"/>
            <a:ext cx="54864" cy="457200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2551176"/>
            <a:ext cx="4846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7FB4AB"/>
                </a:solidFill>
                <a:latin typeface="Segoe UI Semibold"/>
              </a:rPr>
              <a:t>internal/memory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2862072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80" b="0">
                <a:solidFill>
                  <a:srgbClr val="9A9388"/>
                </a:solidFill>
                <a:latin typeface="Segoe UI"/>
              </a:rPr>
              <a:t>SQLite + sqlite-vec deposu, ANN arama, embedding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44768" y="2468880"/>
            <a:ext cx="5120640" cy="713232"/>
          </a:xfrm>
          <a:prstGeom prst="roundRect">
            <a:avLst>
              <a:gd name="adj" fmla="val 6000"/>
            </a:avLst>
          </a:prstGeom>
          <a:solidFill>
            <a:srgbClr val="262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44768" y="2596896"/>
            <a:ext cx="54864" cy="457200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73368" y="2551176"/>
            <a:ext cx="4846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7FB4AB"/>
                </a:solidFill>
                <a:latin typeface="Segoe UI Semibold"/>
              </a:rPr>
              <a:t>internal/llama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3368" y="2862072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80" b="0">
                <a:solidFill>
                  <a:srgbClr val="9A9388"/>
                </a:solidFill>
                <a:latin typeface="Segoe UI"/>
              </a:rPr>
              <a:t>llama-server süreç yönetimi, GPU katman tespiti, kurulum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3310128"/>
            <a:ext cx="5120640" cy="713232"/>
          </a:xfrm>
          <a:prstGeom prst="roundRect">
            <a:avLst>
              <a:gd name="adj" fmla="val 6000"/>
            </a:avLst>
          </a:prstGeom>
          <a:solidFill>
            <a:srgbClr val="262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2960" y="3438144"/>
            <a:ext cx="54864" cy="457200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1560" y="3392424"/>
            <a:ext cx="4846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7FB4AB"/>
                </a:solidFill>
                <a:latin typeface="Segoe UI Semibold"/>
              </a:rPr>
              <a:t>internal/provider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3703320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80" b="0">
                <a:solidFill>
                  <a:srgbClr val="9A9388"/>
                </a:solidFill>
                <a:latin typeface="Segoe UI"/>
              </a:rPr>
              <a:t>7 sağlayıcı, Router + fallback, AES-256 şifreli anahtar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44768" y="3310128"/>
            <a:ext cx="5120640" cy="713232"/>
          </a:xfrm>
          <a:prstGeom prst="roundRect">
            <a:avLst>
              <a:gd name="adj" fmla="val 6000"/>
            </a:avLst>
          </a:prstGeom>
          <a:solidFill>
            <a:srgbClr val="262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3438144"/>
            <a:ext cx="54864" cy="457200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73368" y="3392424"/>
            <a:ext cx="4846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7FB4AB"/>
                </a:solidFill>
                <a:latin typeface="Segoe UI Semibold"/>
              </a:rPr>
              <a:t>internal/agent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73368" y="3703320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80" b="0">
                <a:solidFill>
                  <a:srgbClr val="9A9388"/>
                </a:solidFill>
                <a:latin typeface="Segoe UI"/>
              </a:rPr>
              <a:t>8+ araç, izin yöneticisi, sandbox, pipeline, denetim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" y="4151376"/>
            <a:ext cx="5120640" cy="713232"/>
          </a:xfrm>
          <a:prstGeom prst="roundRect">
            <a:avLst>
              <a:gd name="adj" fmla="val 6000"/>
            </a:avLst>
          </a:prstGeom>
          <a:solidFill>
            <a:srgbClr val="262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2960" y="4279392"/>
            <a:ext cx="54864" cy="457200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51560" y="4233672"/>
            <a:ext cx="4846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7FB4AB"/>
                </a:solidFill>
                <a:latin typeface="Segoe UI Semibold"/>
              </a:rPr>
              <a:t>internal/orchestra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" y="4544568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80" b="0">
                <a:solidFill>
                  <a:srgbClr val="9A9388"/>
                </a:solidFill>
                <a:latin typeface="Segoe UI"/>
              </a:rPr>
              <a:t>şef + 8 rol, paralel/sıralı görev, retry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44768" y="4151376"/>
            <a:ext cx="5120640" cy="713232"/>
          </a:xfrm>
          <a:prstGeom prst="roundRect">
            <a:avLst>
              <a:gd name="adj" fmla="val 6000"/>
            </a:avLst>
          </a:prstGeom>
          <a:solidFill>
            <a:srgbClr val="262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44768" y="4279392"/>
            <a:ext cx="54864" cy="457200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73368" y="4233672"/>
            <a:ext cx="4846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7FB4AB"/>
                </a:solidFill>
                <a:latin typeface="Segoe UI Semibold"/>
              </a:rPr>
              <a:t>internal/cloudsync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73368" y="4544568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80" b="0">
                <a:solidFill>
                  <a:srgbClr val="9A9388"/>
                </a:solidFill>
                <a:latin typeface="Segoe UI"/>
              </a:rPr>
              <a:t>Drive OAuth2, AES-256-GCM, PBKDF2, zip arşiv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2960" y="4992624"/>
            <a:ext cx="5120640" cy="713232"/>
          </a:xfrm>
          <a:prstGeom prst="roundRect">
            <a:avLst>
              <a:gd name="adj" fmla="val 6000"/>
            </a:avLst>
          </a:prstGeom>
          <a:solidFill>
            <a:srgbClr val="262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22960" y="5120640"/>
            <a:ext cx="54864" cy="457200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51560" y="5074920"/>
            <a:ext cx="4846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7FB4AB"/>
                </a:solidFill>
                <a:latin typeface="Segoe UI Semibold"/>
              </a:rPr>
              <a:t>internal/calendar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" y="5385816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80" b="0">
                <a:solidFill>
                  <a:srgbClr val="9A9388"/>
                </a:solidFill>
                <a:latin typeface="Segoe UI"/>
              </a:rPr>
              <a:t>etkinlik deposu, hatırlatma döngüsü, niyet köprüsü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144768" y="4992624"/>
            <a:ext cx="5120640" cy="713232"/>
          </a:xfrm>
          <a:prstGeom prst="roundRect">
            <a:avLst>
              <a:gd name="adj" fmla="val 6000"/>
            </a:avLst>
          </a:prstGeom>
          <a:solidFill>
            <a:srgbClr val="262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144768" y="5120640"/>
            <a:ext cx="54864" cy="457200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73368" y="5074920"/>
            <a:ext cx="4846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7FB4AB"/>
                </a:solidFill>
                <a:latin typeface="Segoe UI Semibold"/>
              </a:rPr>
              <a:t>internal/sessions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73368" y="5385816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80" b="0">
                <a:solidFill>
                  <a:srgbClr val="9A9388"/>
                </a:solidFill>
                <a:latin typeface="Segoe UI"/>
              </a:rPr>
              <a:t>JSON oturum CRUD, otomatik başlık üretimi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C9A35B"/>
                </a:solidFill>
                <a:latin typeface="Segoe UI Semibold"/>
              </a:rPr>
              <a:t>BÖLÜM 03 · FRONTEND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457200"/>
            <a:ext cx="1005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50" b="1">
                <a:solidFill>
                  <a:srgbClr val="9A9388"/>
                </a:solidFill>
                <a:latin typeface="Segoe UI Semibold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841248"/>
            <a:ext cx="106070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EDE8DF"/>
                </a:solidFill>
                <a:latin typeface="Segoe UI Semibold"/>
              </a:rPr>
              <a:t>Flutter İstemcisi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72768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0">
                <a:solidFill>
                  <a:srgbClr val="9A9388"/>
                </a:solidFill>
                <a:latin typeface="Segoe UI"/>
              </a:rPr>
              <a:t>Riverpod tabanlı durum yönetimi, Dio + SSE ile akışlı iletişim.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121408"/>
            <a:ext cx="10543032" cy="18288"/>
          </a:xfrm>
          <a:prstGeom prst="rect">
            <a:avLst/>
          </a:prstGeom>
          <a:solidFill>
            <a:srgbClr val="3A35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2116836"/>
            <a:ext cx="1280160" cy="32004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419088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C9A35B"/>
                </a:solidFill>
                <a:latin typeface="Segoe UI Semibold"/>
              </a:rPr>
              <a:t>MEMO</a:t>
            </a:r>
            <a:r>
              <a:rPr sz="1050" b="0">
                <a:solidFill>
                  <a:srgbClr val="6E685E"/>
                </a:solidFill>
                <a:latin typeface="Segoe UI"/>
              </a:rPr>
              <a:t>  ·  Yerel Yapay Zeka Hafıza Kabuğu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542032"/>
            <a:ext cx="118872" cy="118872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5568" y="2441448"/>
            <a:ext cx="5376672" cy="8869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EDE8DF"/>
                </a:solidFill>
                <a:latin typeface="Segoe UI Semibold"/>
              </a:rPr>
              <a:t>Riverpod 2.x  </a:t>
            </a:r>
            <a:r>
              <a:rPr sz="1250" b="0">
                <a:solidFill>
                  <a:srgbClr val="9A9388"/>
                </a:solidFill>
                <a:latin typeface="Segoe UI"/>
              </a:rPr>
              <a:t>Notifier / AsyncNotifier ile reaktif state.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3108960"/>
            <a:ext cx="118872" cy="118872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15568" y="3008376"/>
            <a:ext cx="5376672" cy="8869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EDE8DF"/>
                </a:solidFill>
                <a:latin typeface="Segoe UI Semibold"/>
              </a:rPr>
              <a:t>Dio + SSE interceptor  </a:t>
            </a:r>
            <a:r>
              <a:rPr sz="1250" b="0">
                <a:solidFill>
                  <a:srgbClr val="9A9388"/>
                </a:solidFill>
                <a:latin typeface="Segoe UI"/>
              </a:rPr>
              <a:t>token akışı gerçek zamanlı işlenir.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3675888"/>
            <a:ext cx="118872" cy="118872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15568" y="3575304"/>
            <a:ext cx="5376672" cy="8869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EDE8DF"/>
                </a:solidFill>
                <a:latin typeface="Segoe UI Semibold"/>
              </a:rPr>
              <a:t>Canlı Mod (streaming)  </a:t>
            </a:r>
            <a:r>
              <a:rPr sz="1250" b="0">
                <a:solidFill>
                  <a:srgbClr val="9A9388"/>
                </a:solidFill>
                <a:latin typeface="Segoe UI"/>
              </a:rPr>
              <a:t>token-bazlı yazma + “düşünüyor…” + ▊ imleç.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4242816"/>
            <a:ext cx="118872" cy="118872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15568" y="4142232"/>
            <a:ext cx="5376672" cy="8869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EDE8DF"/>
                </a:solidFill>
                <a:latin typeface="Segoe UI Semibold"/>
              </a:rPr>
              <a:t>Performans HUD  </a:t>
            </a:r>
            <a:r>
              <a:rPr sz="1250" b="0">
                <a:solidFill>
                  <a:srgbClr val="9A9388"/>
                </a:solidFill>
                <a:latin typeface="Segoe UI"/>
              </a:rPr>
              <a:t>tok/s, toplam token, süre — zaman damgasında.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4809744"/>
            <a:ext cx="118872" cy="118872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15568" y="4709160"/>
            <a:ext cx="5376672" cy="8869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EDE8DF"/>
                </a:solidFill>
                <a:latin typeface="Segoe UI Semibold"/>
              </a:rPr>
              <a:t>8 sekmeli ayarlar  </a:t>
            </a:r>
            <a:r>
              <a:rPr sz="1250" b="0">
                <a:solidFill>
                  <a:srgbClr val="9A9388"/>
                </a:solidFill>
                <a:latin typeface="Segoe UI"/>
              </a:rPr>
              <a:t>Genel, Bellek, Providers, Orchestra, Agent…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" y="5376672"/>
            <a:ext cx="118872" cy="118872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15568" y="5276088"/>
            <a:ext cx="5376672" cy="8869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EDE8DF"/>
                </a:solidFill>
                <a:latin typeface="Segoe UI Semibold"/>
              </a:rPr>
              <a:t>Çoklu platform  </a:t>
            </a:r>
            <a:r>
              <a:rPr sz="1250" b="0">
                <a:solidFill>
                  <a:srgbClr val="9A9388"/>
                </a:solidFill>
                <a:latin typeface="Segoe UI"/>
              </a:rPr>
              <a:t>Linux · Windows · macOS tek kod tabanı.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0" y="2468880"/>
            <a:ext cx="4526280" cy="3200400"/>
          </a:xfrm>
          <a:prstGeom prst="roundRect">
            <a:avLst>
              <a:gd name="adj" fmla="val 6000"/>
            </a:avLst>
          </a:prstGeom>
          <a:solidFill>
            <a:srgbClr val="262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14032" y="2651760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C9A35B"/>
                </a:solidFill>
                <a:latin typeface="Segoe UI Semibold"/>
              </a:rPr>
              <a:t>Öne Çıkan Bileşenler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14032" y="3163824"/>
            <a:ext cx="109728" cy="109728"/>
          </a:xfrm>
          <a:prstGeom prst="rect">
            <a:avLst/>
          </a:prstGeom>
          <a:solidFill>
            <a:srgbClr val="7FB4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0" y="3081528"/>
            <a:ext cx="3840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EDE8DF"/>
                </a:solidFill>
                <a:latin typeface="Segoe UI Semibold"/>
              </a:rPr>
              <a:t>ChatScreen  </a:t>
            </a:r>
            <a:r>
              <a:rPr sz="1100" b="0">
                <a:solidFill>
                  <a:srgbClr val="9A9388"/>
                </a:solidFill>
                <a:latin typeface="Segoe UI"/>
              </a:rPr>
              <a:t>mesaj listesi + giriş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114032" y="3584448"/>
            <a:ext cx="109728" cy="109728"/>
          </a:xfrm>
          <a:prstGeom prst="rect">
            <a:avLst/>
          </a:prstGeom>
          <a:solidFill>
            <a:srgbClr val="7FB4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0" y="3502152"/>
            <a:ext cx="3840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EDE8DF"/>
                </a:solidFill>
                <a:latin typeface="Segoe UI Semibold"/>
              </a:rPr>
              <a:t>ModelStoreScreen  </a:t>
            </a:r>
            <a:r>
              <a:rPr sz="1100" b="0">
                <a:solidFill>
                  <a:srgbClr val="9A9388"/>
                </a:solidFill>
                <a:latin typeface="Segoe UI"/>
              </a:rPr>
              <a:t>HF arama + indirme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114032" y="4005072"/>
            <a:ext cx="109728" cy="109728"/>
          </a:xfrm>
          <a:prstGeom prst="rect">
            <a:avLst/>
          </a:prstGeom>
          <a:solidFill>
            <a:srgbClr val="7FB4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0" y="3922776"/>
            <a:ext cx="3840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EDE8DF"/>
                </a:solidFill>
                <a:latin typeface="Segoe UI Semibold"/>
              </a:rPr>
              <a:t>SettingsDialog  </a:t>
            </a:r>
            <a:r>
              <a:rPr sz="1100" b="0">
                <a:solidFill>
                  <a:srgbClr val="9A9388"/>
                </a:solidFill>
                <a:latin typeface="Segoe UI"/>
              </a:rPr>
              <a:t>sekmeli ayar paneli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114032" y="4425696"/>
            <a:ext cx="109728" cy="109728"/>
          </a:xfrm>
          <a:prstGeom prst="rect">
            <a:avLst/>
          </a:prstGeom>
          <a:solidFill>
            <a:srgbClr val="7FB4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0" y="4343400"/>
            <a:ext cx="3840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EDE8DF"/>
                </a:solidFill>
                <a:latin typeface="Segoe UI Semibold"/>
              </a:rPr>
              <a:t>SetupWizard  </a:t>
            </a:r>
            <a:r>
              <a:rPr sz="1100" b="0">
                <a:solidFill>
                  <a:srgbClr val="9A9388"/>
                </a:solidFill>
                <a:latin typeface="Segoe UI"/>
              </a:rPr>
              <a:t>ilk kullanım akışı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114032" y="4846320"/>
            <a:ext cx="109728" cy="109728"/>
          </a:xfrm>
          <a:prstGeom prst="rect">
            <a:avLst/>
          </a:prstGeom>
          <a:solidFill>
            <a:srgbClr val="7FB4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15200" y="4764024"/>
            <a:ext cx="3840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EDE8DF"/>
                </a:solidFill>
                <a:latin typeface="Segoe UI Semibold"/>
              </a:rPr>
              <a:t>OrchestraConfig  </a:t>
            </a:r>
            <a:r>
              <a:rPr sz="1100" b="0">
                <a:solidFill>
                  <a:srgbClr val="9A9388"/>
                </a:solidFill>
                <a:latin typeface="Segoe UI"/>
              </a:rPr>
              <a:t>rol/model atama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114032" y="5266944"/>
            <a:ext cx="109728" cy="109728"/>
          </a:xfrm>
          <a:prstGeom prst="rect">
            <a:avLst/>
          </a:prstGeom>
          <a:solidFill>
            <a:srgbClr val="7FB4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5200" y="5184648"/>
            <a:ext cx="3840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EDE8DF"/>
                </a:solidFill>
                <a:latin typeface="Segoe UI Semibold"/>
              </a:rPr>
              <a:t>ProviderConfig  </a:t>
            </a:r>
            <a:r>
              <a:rPr sz="1100" b="0">
                <a:solidFill>
                  <a:srgbClr val="9A9388"/>
                </a:solidFill>
                <a:latin typeface="Segoe UI"/>
              </a:rPr>
              <a:t>sağlayıcı ekleme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C9A35B"/>
                </a:solidFill>
                <a:latin typeface="Segoe UI Semibold"/>
              </a:rPr>
              <a:t>BÖLÜM 03 · 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457200"/>
            <a:ext cx="1005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50" b="1">
                <a:solidFill>
                  <a:srgbClr val="9A9388"/>
                </a:solidFill>
                <a:latin typeface="Segoe UI Semibold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841248"/>
            <a:ext cx="106070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EDE8DF"/>
                </a:solidFill>
                <a:latin typeface="Segoe UI Semibold"/>
              </a:rPr>
              <a:t>REST API Uçları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72768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0">
                <a:solidFill>
                  <a:srgbClr val="9A9388"/>
                </a:solidFill>
                <a:latin typeface="Segoe UI"/>
              </a:rPr>
              <a:t>Frontend ile backend ~40+ uç üzerinden konuşur — seçme örnekler.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121408"/>
            <a:ext cx="10543032" cy="18288"/>
          </a:xfrm>
          <a:prstGeom prst="rect">
            <a:avLst/>
          </a:prstGeom>
          <a:solidFill>
            <a:srgbClr val="3A35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2116836"/>
            <a:ext cx="1280160" cy="32004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419088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C9A35B"/>
                </a:solidFill>
                <a:latin typeface="Segoe UI Semibold"/>
              </a:rPr>
              <a:t>MEMO</a:t>
            </a:r>
            <a:r>
              <a:rPr sz="1050" b="0">
                <a:solidFill>
                  <a:srgbClr val="6E685E"/>
                </a:solidFill>
                <a:latin typeface="Segoe UI"/>
              </a:rPr>
              <a:t>  ·  Yerel Yapay Zeka Hafıza Kabuğu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377440"/>
            <a:ext cx="5074920" cy="420624"/>
          </a:xfrm>
          <a:prstGeom prst="roundRect">
            <a:avLst>
              <a:gd name="adj" fmla="val 12000"/>
            </a:avLst>
          </a:prstGeom>
          <a:solidFill>
            <a:srgbClr val="2F2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2423160"/>
            <a:ext cx="732269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9A9388"/>
                </a:solidFill>
                <a:latin typeface="Segoe UI Semibold"/>
              </a:rPr>
              <a:t>METOT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02701" y="2423160"/>
            <a:ext cx="1813809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9A9388"/>
                </a:solidFill>
                <a:latin typeface="Segoe UI Semibold"/>
              </a:rPr>
              <a:t>UÇ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99391" y="2423160"/>
            <a:ext cx="1980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9A9388"/>
                </a:solidFill>
                <a:latin typeface="Segoe UI Semibold"/>
              </a:rPr>
              <a:t>AÇIKLAMA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44768" y="2377440"/>
            <a:ext cx="5074920" cy="420624"/>
          </a:xfrm>
          <a:prstGeom prst="roundRect">
            <a:avLst>
              <a:gd name="adj" fmla="val 12000"/>
            </a:avLst>
          </a:prstGeom>
          <a:solidFill>
            <a:srgbClr val="2F2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59" y="2423160"/>
            <a:ext cx="732269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9A9388"/>
                </a:solidFill>
                <a:latin typeface="Segoe UI Semibold"/>
              </a:rPr>
              <a:t>METOT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4509" y="2423160"/>
            <a:ext cx="1813809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9A9388"/>
                </a:solidFill>
                <a:latin typeface="Segoe UI Semibold"/>
              </a:rPr>
              <a:t>UÇ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21199" y="2423160"/>
            <a:ext cx="1980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9A9388"/>
                </a:solidFill>
                <a:latin typeface="Segoe UI Semibold"/>
              </a:rPr>
              <a:t>AÇIKLAMA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7552" y="2971800"/>
            <a:ext cx="732269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C9A35B"/>
                </a:solidFill>
                <a:latin typeface="Segoe UI"/>
              </a:rPr>
              <a:t>POST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02701" y="2971800"/>
            <a:ext cx="1813809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EDE8DF"/>
                </a:solidFill>
                <a:latin typeface="Segoe UI"/>
              </a:rPr>
              <a:t>/api/send/stream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99391" y="2971800"/>
            <a:ext cx="1980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A9388"/>
                </a:solidFill>
                <a:latin typeface="Segoe UI"/>
              </a:rPr>
              <a:t>Akışlı mesaj (SSE)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3346704"/>
            <a:ext cx="5074920" cy="10972"/>
          </a:xfrm>
          <a:prstGeom prst="rect">
            <a:avLst/>
          </a:prstGeom>
          <a:solidFill>
            <a:srgbClr val="3A35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87552" y="3483864"/>
            <a:ext cx="732269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C9A35B"/>
                </a:solidFill>
                <a:latin typeface="Segoe UI"/>
              </a:rPr>
              <a:t>POST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02701" y="3483864"/>
            <a:ext cx="1813809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EDE8DF"/>
                </a:solidFill>
                <a:latin typeface="Segoe UI"/>
              </a:rPr>
              <a:t>/api/send_file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99391" y="3483864"/>
            <a:ext cx="1980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A9388"/>
                </a:solidFill>
                <a:latin typeface="Segoe UI"/>
              </a:rPr>
              <a:t>Dosya / görsel mesaj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" y="3858768"/>
            <a:ext cx="5074920" cy="10972"/>
          </a:xfrm>
          <a:prstGeom prst="rect">
            <a:avLst/>
          </a:prstGeom>
          <a:solidFill>
            <a:srgbClr val="3A35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7552" y="3995928"/>
            <a:ext cx="732269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7FB4AB"/>
                </a:solidFill>
                <a:latin typeface="Segoe UI"/>
              </a:rPr>
              <a:t>GET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02701" y="3995928"/>
            <a:ext cx="1813809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EDE8DF"/>
                </a:solidFill>
                <a:latin typeface="Segoe UI"/>
              </a:rPr>
              <a:t>/api/chats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99391" y="3995928"/>
            <a:ext cx="1980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A9388"/>
                </a:solidFill>
                <a:latin typeface="Segoe UI"/>
              </a:rPr>
              <a:t>Oturumları listele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2960" y="4370832"/>
            <a:ext cx="5074920" cy="10972"/>
          </a:xfrm>
          <a:prstGeom prst="rect">
            <a:avLst/>
          </a:prstGeom>
          <a:solidFill>
            <a:srgbClr val="3A35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87552" y="4507992"/>
            <a:ext cx="732269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7FB4AB"/>
                </a:solidFill>
                <a:latin typeface="Segoe UI"/>
              </a:rPr>
              <a:t>GET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02701" y="4507992"/>
            <a:ext cx="1813809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EDE8DF"/>
                </a:solidFill>
                <a:latin typeface="Segoe UI"/>
              </a:rPr>
              <a:t>/api/status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99391" y="4507992"/>
            <a:ext cx="1980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A9388"/>
                </a:solidFill>
                <a:latin typeface="Segoe UI"/>
              </a:rPr>
              <a:t>Sistem + hafıza sayısı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22960" y="4882896"/>
            <a:ext cx="5074920" cy="10972"/>
          </a:xfrm>
          <a:prstGeom prst="rect">
            <a:avLst/>
          </a:prstGeom>
          <a:solidFill>
            <a:srgbClr val="3A35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87552" y="5020056"/>
            <a:ext cx="732269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C9A35B"/>
                </a:solidFill>
                <a:latin typeface="Segoe UI"/>
              </a:rPr>
              <a:t>POST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02701" y="5020056"/>
            <a:ext cx="1813809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EDE8DF"/>
                </a:solidFill>
                <a:latin typeface="Segoe UI"/>
              </a:rPr>
              <a:t>/api/incognito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899391" y="5020056"/>
            <a:ext cx="1980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A9388"/>
                </a:solidFill>
                <a:latin typeface="Segoe UI"/>
              </a:rPr>
              <a:t>Gizli modu aç/kapat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22960" y="5394960"/>
            <a:ext cx="5074920" cy="10972"/>
          </a:xfrm>
          <a:prstGeom prst="rect">
            <a:avLst/>
          </a:prstGeom>
          <a:solidFill>
            <a:srgbClr val="3A35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87552" y="5532120"/>
            <a:ext cx="732269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C9A35B"/>
                </a:solidFill>
                <a:latin typeface="Segoe UI"/>
              </a:rPr>
              <a:t>POST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02701" y="5532120"/>
            <a:ext cx="1813809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EDE8DF"/>
                </a:solidFill>
                <a:latin typeface="Segoe UI"/>
              </a:rPr>
              <a:t>/api/models/search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899391" y="5532120"/>
            <a:ext cx="1980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A9388"/>
                </a:solidFill>
                <a:latin typeface="Segoe UI"/>
              </a:rPr>
              <a:t>HuggingFace GGUF arama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22960" y="5907024"/>
            <a:ext cx="5074920" cy="10972"/>
          </a:xfrm>
          <a:prstGeom prst="rect">
            <a:avLst/>
          </a:prstGeom>
          <a:solidFill>
            <a:srgbClr val="3A35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09359" y="2971800"/>
            <a:ext cx="732269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C9A35B"/>
                </a:solidFill>
                <a:latin typeface="Segoe UI"/>
              </a:rPr>
              <a:t>POST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224509" y="2971800"/>
            <a:ext cx="1813809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EDE8DF"/>
                </a:solidFill>
                <a:latin typeface="Segoe UI"/>
              </a:rPr>
              <a:t>/api/models/download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221199" y="2971800"/>
            <a:ext cx="1980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A9388"/>
                </a:solidFill>
                <a:latin typeface="Segoe UI"/>
              </a:rPr>
              <a:t>Model indirme başlat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144768" y="3346704"/>
            <a:ext cx="5074920" cy="10972"/>
          </a:xfrm>
          <a:prstGeom prst="rect">
            <a:avLst/>
          </a:prstGeom>
          <a:solidFill>
            <a:srgbClr val="3A35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309359" y="3483864"/>
            <a:ext cx="732269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7FB4AB"/>
                </a:solidFill>
                <a:latin typeface="Segoe UI"/>
              </a:rPr>
              <a:t>GET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224509" y="3483864"/>
            <a:ext cx="1813809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EDE8DF"/>
                </a:solidFill>
                <a:latin typeface="Segoe UI"/>
              </a:rPr>
              <a:t>/api/gpu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221199" y="3483864"/>
            <a:ext cx="1980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A9388"/>
                </a:solidFill>
                <a:latin typeface="Segoe UI"/>
              </a:rPr>
              <a:t>GPU tespiti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144768" y="3858768"/>
            <a:ext cx="5074920" cy="10972"/>
          </a:xfrm>
          <a:prstGeom prst="rect">
            <a:avLst/>
          </a:prstGeom>
          <a:solidFill>
            <a:srgbClr val="3A35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309359" y="3995928"/>
            <a:ext cx="732269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B8894B"/>
                </a:solidFill>
                <a:latin typeface="Segoe UI"/>
              </a:rPr>
              <a:t>PUT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224509" y="3995928"/>
            <a:ext cx="1813809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EDE8DF"/>
                </a:solidFill>
                <a:latin typeface="Segoe UI"/>
              </a:rPr>
              <a:t>/api/providers/active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221199" y="3995928"/>
            <a:ext cx="1980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A9388"/>
                </a:solidFill>
                <a:latin typeface="Segoe UI"/>
              </a:rPr>
              <a:t>Aktif sağlayıcı seç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144768" y="4370832"/>
            <a:ext cx="5074920" cy="10972"/>
          </a:xfrm>
          <a:prstGeom prst="rect">
            <a:avLst/>
          </a:prstGeom>
          <a:solidFill>
            <a:srgbClr val="3A35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309359" y="4507992"/>
            <a:ext cx="732269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B8894B"/>
                </a:solidFill>
                <a:latin typeface="Segoe UI"/>
              </a:rPr>
              <a:t>PUT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224509" y="4507992"/>
            <a:ext cx="1813809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EDE8DF"/>
                </a:solidFill>
                <a:latin typeface="Segoe UI"/>
              </a:rPr>
              <a:t>/api/agent/enabled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221199" y="4507992"/>
            <a:ext cx="1980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A9388"/>
                </a:solidFill>
                <a:latin typeface="Segoe UI"/>
              </a:rPr>
              <a:t>Ajan modunu aç/kapat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144768" y="4882896"/>
            <a:ext cx="5074920" cy="10972"/>
          </a:xfrm>
          <a:prstGeom prst="rect">
            <a:avLst/>
          </a:prstGeom>
          <a:solidFill>
            <a:srgbClr val="3A35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309359" y="5020056"/>
            <a:ext cx="732269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B8894B"/>
                </a:solidFill>
                <a:latin typeface="Segoe UI"/>
              </a:rPr>
              <a:t>PUT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224509" y="5020056"/>
            <a:ext cx="1813809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EDE8DF"/>
                </a:solidFill>
                <a:latin typeface="Segoe UI"/>
              </a:rPr>
              <a:t>/api/orchestra/config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221199" y="5020056"/>
            <a:ext cx="1980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A9388"/>
                </a:solidFill>
                <a:latin typeface="Segoe UI"/>
              </a:rPr>
              <a:t>Orchestra yapılandırma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144768" y="5394960"/>
            <a:ext cx="5074920" cy="10972"/>
          </a:xfrm>
          <a:prstGeom prst="rect">
            <a:avLst/>
          </a:prstGeom>
          <a:solidFill>
            <a:srgbClr val="3A35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309359" y="5532120"/>
            <a:ext cx="732269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7FB4AB"/>
                </a:solidFill>
                <a:latin typeface="Segoe UI"/>
              </a:rPr>
              <a:t>GET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224509" y="5532120"/>
            <a:ext cx="1813809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EDE8DF"/>
                </a:solidFill>
                <a:latin typeface="Segoe UI"/>
              </a:rPr>
              <a:t>/api/calendar/events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221199" y="5532120"/>
            <a:ext cx="1980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A9388"/>
                </a:solidFill>
                <a:latin typeface="Segoe UI"/>
              </a:rPr>
              <a:t>Takvim etkinlikleri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144768" y="5907024"/>
            <a:ext cx="5074920" cy="10972"/>
          </a:xfrm>
          <a:prstGeom prst="rect">
            <a:avLst/>
          </a:prstGeom>
          <a:solidFill>
            <a:srgbClr val="3A35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148085908000" cy="6270955200000"/>
          </a:xfrm>
          <a:prstGeom prst="rect">
            <a:avLst/>
          </a:prstGeom>
          <a:solidFill>
            <a:srgbClr val="1C1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961120" y="-1280160"/>
            <a:ext cx="5120640" cy="5120640"/>
          </a:xfrm>
          <a:prstGeom prst="ellipse">
            <a:avLst/>
          </a:prstGeom>
          <a:solidFill>
            <a:srgbClr val="262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149840" y="3657600"/>
            <a:ext cx="3108960" cy="3108960"/>
          </a:xfrm>
          <a:prstGeom prst="ellipse">
            <a:avLst/>
          </a:prstGeom>
          <a:solidFill>
            <a:srgbClr val="2F2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280160"/>
            <a:ext cx="640080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0" b="1">
                <a:solidFill>
                  <a:srgbClr val="38332C"/>
                </a:solidFill>
                <a:latin typeface="Segoe UI Light"/>
              </a:rP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05740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C9A35B"/>
                </a:solidFill>
                <a:latin typeface="Segoe UI Semibold"/>
              </a:rPr>
              <a:t>BÖLÜM DÖRT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423160"/>
            <a:ext cx="8229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4200" b="1">
                <a:solidFill>
                  <a:srgbClr val="EDE8DF"/>
                </a:solidFill>
                <a:latin typeface="Segoe UI Semibold"/>
              </a:rPr>
              <a:t>Modeller
&amp; Sağlayıcılar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78992" y="4178808"/>
            <a:ext cx="201168" cy="36576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17320" y="4069080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9A9388"/>
                </a:solidFill>
                <a:latin typeface="Segoe UI"/>
              </a:rPr>
              <a:t>Model Fabrikası — Hugging Face entegrasyonu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78992" y="4654296"/>
            <a:ext cx="201168" cy="36576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17320" y="4544568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9A9388"/>
                </a:solidFill>
                <a:latin typeface="Segoe UI"/>
              </a:rPr>
              <a:t>Yeni Model Mağazası (v3.1)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78992" y="5129783"/>
            <a:ext cx="201168" cy="36576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17320" y="5020055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9A9388"/>
                </a:solidFill>
                <a:latin typeface="Segoe UI"/>
              </a:rPr>
              <a:t>7 harici bulut sağlayıcı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78992" y="5605271"/>
            <a:ext cx="201168" cy="36576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17320" y="5495543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9A9388"/>
                </a:solidFill>
                <a:latin typeface="Segoe UI"/>
              </a:rPr>
              <a:t>Router, fallback ve şifreli anahtarlar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C9A35B"/>
                </a:solidFill>
                <a:latin typeface="Segoe UI Semibold"/>
              </a:rPr>
              <a:t>BÖLÜM 04 · FABRIKA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457200"/>
            <a:ext cx="1005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50" b="1">
                <a:solidFill>
                  <a:srgbClr val="9A9388"/>
                </a:solidFill>
                <a:latin typeface="Segoe UI Semibold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841248"/>
            <a:ext cx="106070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EDE8DF"/>
                </a:solidFill>
                <a:latin typeface="Segoe UI Semibold"/>
              </a:rPr>
              <a:t>Model Fabrikası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72768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0">
                <a:solidFill>
                  <a:srgbClr val="9A9388"/>
                </a:solidFill>
                <a:latin typeface="Segoe UI"/>
              </a:rPr>
              <a:t>Model keşfi, teşhisi ve indirmesi uygulama içinden — uçtan uca.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121408"/>
            <a:ext cx="10543032" cy="18288"/>
          </a:xfrm>
          <a:prstGeom prst="rect">
            <a:avLst/>
          </a:prstGeom>
          <a:solidFill>
            <a:srgbClr val="3A35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2116836"/>
            <a:ext cx="1280160" cy="32004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419088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C9A35B"/>
                </a:solidFill>
                <a:latin typeface="Segoe UI Semibold"/>
              </a:rPr>
              <a:t>MEMO</a:t>
            </a:r>
            <a:r>
              <a:rPr sz="1050" b="0">
                <a:solidFill>
                  <a:srgbClr val="6E685E"/>
                </a:solidFill>
                <a:latin typeface="Segoe UI"/>
              </a:rPr>
              <a:t>  ·  Yerel Yapay Zeka Hafıza Kabuğu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423160"/>
            <a:ext cx="3337560" cy="1874519"/>
          </a:xfrm>
          <a:prstGeom prst="roundRect">
            <a:avLst>
              <a:gd name="adj" fmla="val 6000"/>
            </a:avLst>
          </a:prstGeom>
          <a:solidFill>
            <a:srgbClr val="262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78992" y="2679191"/>
            <a:ext cx="457200" cy="457200"/>
          </a:xfrm>
          <a:prstGeom prst="ellipse">
            <a:avLst/>
          </a:prstGeom>
          <a:solidFill>
            <a:srgbClr val="3833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8992" y="2697479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C9A35B"/>
                </a:solidFill>
                <a:latin typeface="Segoe UI"/>
              </a:rPr>
              <a:t>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2697479"/>
            <a:ext cx="22860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EDE8DF"/>
                </a:solidFill>
                <a:latin typeface="Segoe UI Semibold"/>
              </a:rPr>
              <a:t>HF Araması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264408"/>
            <a:ext cx="2788920" cy="9143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9A9388"/>
                </a:solidFill>
                <a:latin typeface="Segoe UI"/>
              </a:rPr>
              <a:t>Hugging Face GGUF modellerini ara, repo ID yapıştır, dosyaları anında listele.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25112" y="2423160"/>
            <a:ext cx="3337560" cy="1874519"/>
          </a:xfrm>
          <a:prstGeom prst="roundRect">
            <a:avLst>
              <a:gd name="adj" fmla="val 6000"/>
            </a:avLst>
          </a:prstGeom>
          <a:solidFill>
            <a:srgbClr val="262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581144" y="2679191"/>
            <a:ext cx="457200" cy="457200"/>
          </a:xfrm>
          <a:prstGeom prst="ellipse">
            <a:avLst/>
          </a:prstGeom>
          <a:solidFill>
            <a:srgbClr val="3833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81144" y="2697479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7FB4AB"/>
                </a:solidFill>
                <a:latin typeface="Segoe UI"/>
              </a:rPr>
              <a:t>🖥️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93792" y="2697479"/>
            <a:ext cx="22860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EDE8DF"/>
                </a:solidFill>
                <a:latin typeface="Segoe UI Semibold"/>
              </a:rPr>
              <a:t>Sistem Teşhisi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99432" y="3264408"/>
            <a:ext cx="2788920" cy="9143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9A9388"/>
                </a:solidFill>
                <a:latin typeface="Segoe UI"/>
              </a:rPr>
              <a:t>NVIDIA/AMD VRAM otomatik algılanır. “GPU Uyumlu” / “⚠️ VRAM Yetersiz” rozeti.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27264" y="2423160"/>
            <a:ext cx="3566160" cy="1874519"/>
          </a:xfrm>
          <a:prstGeom prst="roundRect">
            <a:avLst>
              <a:gd name="adj" fmla="val 6000"/>
            </a:avLst>
          </a:prstGeom>
          <a:solidFill>
            <a:srgbClr val="262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083296" y="2679191"/>
            <a:ext cx="457200" cy="457200"/>
          </a:xfrm>
          <a:prstGeom prst="ellipse">
            <a:avLst/>
          </a:prstGeom>
          <a:solidFill>
            <a:srgbClr val="3833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83296" y="2697479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B8894B"/>
                </a:solidFill>
                <a:latin typeface="Segoe UI"/>
              </a:rPr>
              <a:t>⬇️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95944" y="2697479"/>
            <a:ext cx="2514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EDE8DF"/>
                </a:solidFill>
                <a:latin typeface="Segoe UI Semibold"/>
              </a:rPr>
              <a:t>İndirme Yöneticisi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01584" y="3264408"/>
            <a:ext cx="3017520" cy="9143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9A9388"/>
                </a:solidFill>
                <a:latin typeface="Segoe UI"/>
              </a:rPr>
              <a:t>Paralel, yüzde + hız takipli indirme. Tek tıkla Başlat / Durdur / Güncelle.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" y="4526280"/>
            <a:ext cx="10570464" cy="1234440"/>
          </a:xfrm>
          <a:prstGeom prst="roundRect">
            <a:avLst>
              <a:gd name="adj" fmla="val 6000"/>
            </a:avLst>
          </a:prstGeom>
          <a:solidFill>
            <a:srgbClr val="262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97280" y="46634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C9A35B"/>
                </a:solidFill>
                <a:latin typeface="Segoe UI Semibold"/>
              </a:rPr>
              <a:t>GPU Tespiti &amp; Katman Önerisi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" y="5102352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9A9388"/>
                </a:solidFill>
                <a:latin typeface="Segoe UI"/>
              </a:rPr>
              <a:t>nvidia-smi (NVIDIA) · rocm-smi (AMD) · Apple Metal algılanır; VRAM'e göre GPU katman sayısı önerilir. Yetersizse CPU'ya zarif düşüş.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C9A35B"/>
                </a:solidFill>
                <a:latin typeface="Segoe UI Semibold"/>
              </a:rPr>
              <a:t>BÖLÜM 04 · V3.1 YENILIK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457200"/>
            <a:ext cx="1005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50" b="1">
                <a:solidFill>
                  <a:srgbClr val="9A9388"/>
                </a:solidFill>
                <a:latin typeface="Segoe UI Semibold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841248"/>
            <a:ext cx="106070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EDE8DF"/>
                </a:solidFill>
                <a:latin typeface="Segoe UI Semibold"/>
              </a:rPr>
              <a:t>Yeni Model Mağazası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72768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0">
                <a:solidFill>
                  <a:srgbClr val="9A9388"/>
                </a:solidFill>
                <a:latin typeface="Segoe UI"/>
              </a:rPr>
              <a:t>LM Studio benzeri, sıfırdan yeniden tasarlanmış keşif deneyimi.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121408"/>
            <a:ext cx="10543032" cy="18288"/>
          </a:xfrm>
          <a:prstGeom prst="rect">
            <a:avLst/>
          </a:prstGeom>
          <a:solidFill>
            <a:srgbClr val="3A35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2116836"/>
            <a:ext cx="1280160" cy="32004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419088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C9A35B"/>
                </a:solidFill>
                <a:latin typeface="Segoe UI Semibold"/>
              </a:rPr>
              <a:t>MEMO</a:t>
            </a:r>
            <a:r>
              <a:rPr sz="1050" b="0">
                <a:solidFill>
                  <a:srgbClr val="6E685E"/>
                </a:solidFill>
                <a:latin typeface="Segoe UI"/>
              </a:rPr>
              <a:t>  ·  Yerel Yapay Zeka Hafıza Kabuğu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496312"/>
            <a:ext cx="118872" cy="118872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5568" y="2395728"/>
            <a:ext cx="5193792" cy="9235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EDE8DF"/>
                </a:solidFill>
                <a:latin typeface="Segoe UI Semibold"/>
              </a:rPr>
              <a:t>İki panelli düzen  </a:t>
            </a:r>
            <a:r>
              <a:rPr sz="1250" b="0">
                <a:solidFill>
                  <a:srgbClr val="9A9388"/>
                </a:solidFill>
                <a:latin typeface="Segoe UI"/>
              </a:rPr>
              <a:t>solda liste, sağda zengin detay görünümü.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3099816"/>
            <a:ext cx="118872" cy="118872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15568" y="2999232"/>
            <a:ext cx="5193792" cy="9235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EDE8DF"/>
                </a:solidFill>
                <a:latin typeface="Segoe UI Semibold"/>
              </a:rPr>
              <a:t>Gerçek model logoları  </a:t>
            </a:r>
            <a:r>
              <a:rPr sz="1250" b="0">
                <a:solidFill>
                  <a:srgbClr val="9A9388"/>
                </a:solidFill>
                <a:latin typeface="Segoe UI"/>
              </a:rPr>
              <a:t>Google, Qwen/Alibaba, Microsoft, nomic…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3703320"/>
            <a:ext cx="118872" cy="118872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15568" y="3602736"/>
            <a:ext cx="5193792" cy="9235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EDE8DF"/>
                </a:solidFill>
                <a:latin typeface="Segoe UI Semibold"/>
              </a:rPr>
              <a:t>Sadece resmî modeller  </a:t>
            </a:r>
            <a:r>
              <a:rPr sz="1250" b="0">
                <a:solidFill>
                  <a:srgbClr val="9A9388"/>
                </a:solidFill>
                <a:latin typeface="Segoe UI"/>
              </a:rPr>
              <a:t>“Önerilen” bölümünde üçüncü taraf çatal yok.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4306824"/>
            <a:ext cx="118872" cy="118872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15568" y="4206240"/>
            <a:ext cx="5193792" cy="9235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EDE8DF"/>
                </a:solidFill>
                <a:latin typeface="Segoe UI Semibold"/>
              </a:rPr>
              <a:t>Sade kalite etiketleri  </a:t>
            </a:r>
            <a:r>
              <a:rPr sz="1250" b="0">
                <a:solidFill>
                  <a:srgbClr val="9A9388"/>
                </a:solidFill>
                <a:latin typeface="Segoe UI"/>
              </a:rPr>
              <a:t>Q4_K_M yerine “Dengeli / Yüksek / En küçük”.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4910328"/>
            <a:ext cx="118872" cy="118872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15568" y="4809744"/>
            <a:ext cx="5193792" cy="9235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EDE8DF"/>
                </a:solidFill>
                <a:latin typeface="Segoe UI Semibold"/>
              </a:rPr>
              <a:t>README + yazar  </a:t>
            </a:r>
            <a:r>
              <a:rPr sz="1250" b="0">
                <a:solidFill>
                  <a:srgbClr val="9A9388"/>
                </a:solidFill>
                <a:latin typeface="Segoe UI"/>
              </a:rPr>
              <a:t>detayda HF README ve “bu yazardan daha fazlası”.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0" y="2423160"/>
            <a:ext cx="4800600" cy="1554480"/>
          </a:xfrm>
          <a:prstGeom prst="roundRect">
            <a:avLst>
              <a:gd name="adj" fmla="val 6000"/>
            </a:avLst>
          </a:prstGeom>
          <a:solidFill>
            <a:srgbClr val="262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12280" y="2560320"/>
            <a:ext cx="4389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35B"/>
                </a:solidFill>
                <a:latin typeface="Segoe UI Semibold"/>
              </a:rPr>
              <a:t>Donanım Uyumluluk Rozetleri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12280" y="2999232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7FB4AB"/>
                </a:solidFill>
                <a:latin typeface="Segoe UI Semibold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0" y="2999232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A9388"/>
                </a:solidFill>
                <a:latin typeface="Segoe UI"/>
              </a:rPr>
              <a:t>Uygun — hızlı çalışır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12280" y="3310127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B8894B"/>
                </a:solidFill>
                <a:latin typeface="Segoe UI Semibold"/>
              </a:rPr>
              <a:t>~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0" y="3310127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A9388"/>
                </a:solidFill>
                <a:latin typeface="Segoe UI"/>
              </a:rPr>
              <a:t>CPU ile çalışır — yavaş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12280" y="3621024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C6B5A"/>
                </a:solidFill>
                <a:latin typeface="Segoe UI Semibold"/>
              </a:rPr>
              <a:t>×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0" y="3621024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A9388"/>
                </a:solidFill>
                <a:latin typeface="Segoe UI"/>
              </a:rPr>
              <a:t>Çok büyük — sığmayabilir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0" y="4160520"/>
            <a:ext cx="4800600" cy="1600200"/>
          </a:xfrm>
          <a:prstGeom prst="roundRect">
            <a:avLst>
              <a:gd name="adj" fmla="val 6000"/>
            </a:avLst>
          </a:prstGeom>
          <a:solidFill>
            <a:srgbClr val="262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12280" y="4297680"/>
            <a:ext cx="4389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35B"/>
                </a:solidFill>
                <a:latin typeface="Segoe UI Semibold"/>
              </a:rPr>
              <a:t>Yetenek Etiketleri &amp; Filtre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12280" y="473659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C9A35B"/>
                </a:solidFill>
                <a:latin typeface="Segoe UI"/>
              </a:rPr>
              <a:t>🔧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69480" y="4736592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A9388"/>
                </a:solidFill>
                <a:latin typeface="Segoe UI"/>
              </a:rPr>
              <a:t>Araç Kullanımı — ajan modu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12280" y="5047488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C9A35B"/>
                </a:solidFill>
                <a:latin typeface="Segoe UI"/>
              </a:rPr>
              <a:t>👁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69480" y="5047488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A9388"/>
                </a:solidFill>
                <a:latin typeface="Segoe UI"/>
              </a:rPr>
              <a:t>Görüntü — resim anlama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12280" y="5358383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C9A35B"/>
                </a:solidFill>
                <a:latin typeface="Segoe UI"/>
              </a:rPr>
              <a:t>&lt;/&gt;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69480" y="5358383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A9388"/>
                </a:solidFill>
                <a:latin typeface="Segoe UI"/>
              </a:rPr>
              <a:t>Kod — programlama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C9A35B"/>
                </a:solidFill>
                <a:latin typeface="Segoe UI Semibold"/>
              </a:rPr>
              <a:t>BÖLÜM 04 · BULUT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457200"/>
            <a:ext cx="1005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50" b="1">
                <a:solidFill>
                  <a:srgbClr val="9A9388"/>
                </a:solidFill>
                <a:latin typeface="Segoe UI Semibold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841248"/>
            <a:ext cx="106070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EDE8DF"/>
                </a:solidFill>
                <a:latin typeface="Segoe UI Semibold"/>
              </a:rPr>
              <a:t>Harici Sağlayıcılar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72768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0">
                <a:solidFill>
                  <a:srgbClr val="9A9388"/>
                </a:solidFill>
                <a:latin typeface="Segoe UI"/>
              </a:rPr>
              <a:t>Kendi API anahtarınla 7 bulut sağlayıcı — yerelin yanında veya yerine.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121408"/>
            <a:ext cx="10543032" cy="18288"/>
          </a:xfrm>
          <a:prstGeom prst="rect">
            <a:avLst/>
          </a:prstGeom>
          <a:solidFill>
            <a:srgbClr val="3A35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2116836"/>
            <a:ext cx="1280160" cy="32004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419088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C9A35B"/>
                </a:solidFill>
                <a:latin typeface="Segoe UI Semibold"/>
              </a:rPr>
              <a:t>MEMO</a:t>
            </a:r>
            <a:r>
              <a:rPr sz="1050" b="0">
                <a:solidFill>
                  <a:srgbClr val="6E685E"/>
                </a:solidFill>
                <a:latin typeface="Segoe UI"/>
              </a:rPr>
              <a:t>  ·  Yerel Yapay Zeka Hafıza Kabuğu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468880"/>
            <a:ext cx="2542032" cy="1078992"/>
          </a:xfrm>
          <a:prstGeom prst="roundRect">
            <a:avLst>
              <a:gd name="adj" fmla="val 6000"/>
            </a:avLst>
          </a:prstGeom>
          <a:solidFill>
            <a:srgbClr val="262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2633472"/>
            <a:ext cx="54864" cy="749808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2670048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EDE8DF"/>
                </a:solidFill>
                <a:latin typeface="Segoe UI Semibold"/>
              </a:rPr>
              <a:t>OpenAI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072384"/>
            <a:ext cx="2286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9A9388"/>
                </a:solidFill>
                <a:latin typeface="Segoe UI"/>
              </a:rPr>
              <a:t>GPT-4o · GPT-4.1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02152" y="2468880"/>
            <a:ext cx="2542032" cy="1078992"/>
          </a:xfrm>
          <a:prstGeom prst="roundRect">
            <a:avLst>
              <a:gd name="adj" fmla="val 6000"/>
            </a:avLst>
          </a:prstGeom>
          <a:solidFill>
            <a:srgbClr val="262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2152" y="2633472"/>
            <a:ext cx="54864" cy="749808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30752" y="2670048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EDE8DF"/>
                </a:solidFill>
                <a:latin typeface="Segoe UI Semibold"/>
              </a:rPr>
              <a:t>Google Gemini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30752" y="3072384"/>
            <a:ext cx="2286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9A9388"/>
                </a:solidFill>
                <a:latin typeface="Segoe UI"/>
              </a:rPr>
              <a:t>2.0 Flash · 2.5 Pro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81344" y="2468880"/>
            <a:ext cx="2542032" cy="1078992"/>
          </a:xfrm>
          <a:prstGeom prst="roundRect">
            <a:avLst>
              <a:gd name="adj" fmla="val 6000"/>
            </a:avLst>
          </a:prstGeom>
          <a:solidFill>
            <a:srgbClr val="262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81344" y="2633472"/>
            <a:ext cx="54864" cy="749808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9944" y="2670048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EDE8DF"/>
                </a:solidFill>
                <a:latin typeface="Segoe UI Semibold"/>
              </a:rPr>
              <a:t>Anthropic Claude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9944" y="3072384"/>
            <a:ext cx="2286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9A9388"/>
                </a:solidFill>
                <a:latin typeface="Segoe UI"/>
              </a:rPr>
              <a:t>Sonnet 4 · Opus 4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860536" y="2468880"/>
            <a:ext cx="2542032" cy="1078992"/>
          </a:xfrm>
          <a:prstGeom prst="roundRect">
            <a:avLst>
              <a:gd name="adj" fmla="val 6000"/>
            </a:avLst>
          </a:prstGeom>
          <a:solidFill>
            <a:srgbClr val="262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860536" y="2633472"/>
            <a:ext cx="54864" cy="749808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89136" y="2670048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EDE8DF"/>
                </a:solidFill>
                <a:latin typeface="Segoe UI Semibold"/>
              </a:rPr>
              <a:t>xAI Grok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89136" y="3072384"/>
            <a:ext cx="2286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9A9388"/>
                </a:solidFill>
                <a:latin typeface="Segoe UI"/>
              </a:rPr>
              <a:t>Grok-2 / 3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" y="3703320"/>
            <a:ext cx="2542032" cy="1078992"/>
          </a:xfrm>
          <a:prstGeom prst="roundRect">
            <a:avLst>
              <a:gd name="adj" fmla="val 6000"/>
            </a:avLst>
          </a:prstGeom>
          <a:solidFill>
            <a:srgbClr val="262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2960" y="3867912"/>
            <a:ext cx="54864" cy="749808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51560" y="3904488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EDE8DF"/>
                </a:solidFill>
                <a:latin typeface="Segoe UI Semibold"/>
              </a:rPr>
              <a:t>Groq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" y="4306824"/>
            <a:ext cx="2286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9A9388"/>
                </a:solidFill>
                <a:latin typeface="Segoe UI"/>
              </a:rPr>
              <a:t>Llama 4 · DeepSeek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502152" y="3703320"/>
            <a:ext cx="2542032" cy="1078992"/>
          </a:xfrm>
          <a:prstGeom prst="roundRect">
            <a:avLst>
              <a:gd name="adj" fmla="val 6000"/>
            </a:avLst>
          </a:prstGeom>
          <a:solidFill>
            <a:srgbClr val="262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502152" y="3867912"/>
            <a:ext cx="54864" cy="749808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730752" y="3904488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EDE8DF"/>
                </a:solidFill>
                <a:latin typeface="Segoe UI Semibold"/>
              </a:rPr>
              <a:t>OpenRouter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730752" y="4306824"/>
            <a:ext cx="2286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9A9388"/>
                </a:solidFill>
                <a:latin typeface="Segoe UI"/>
              </a:rPr>
              <a:t>300+ model, tek API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81344" y="3703320"/>
            <a:ext cx="2542032" cy="1078992"/>
          </a:xfrm>
          <a:prstGeom prst="roundRect">
            <a:avLst>
              <a:gd name="adj" fmla="val 6000"/>
            </a:avLst>
          </a:prstGeom>
          <a:solidFill>
            <a:srgbClr val="262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181344" y="3867912"/>
            <a:ext cx="54864" cy="749808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9944" y="3904488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EDE8DF"/>
                </a:solidFill>
                <a:latin typeface="Segoe UI Semibold"/>
              </a:rPr>
              <a:t>Ollama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9944" y="4306824"/>
            <a:ext cx="2286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9A9388"/>
                </a:solidFill>
                <a:latin typeface="Segoe UI"/>
              </a:rPr>
              <a:t>yerel alternatif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860536" y="3703320"/>
            <a:ext cx="2542032" cy="1078992"/>
          </a:xfrm>
          <a:prstGeom prst="roundRect">
            <a:avLst>
              <a:gd name="adj" fmla="val 6000"/>
            </a:avLst>
          </a:prstGeom>
          <a:solidFill>
            <a:srgbClr val="2F2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089136" y="3904488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7FB4AB"/>
                </a:solidFill>
                <a:latin typeface="Segoe UI Semibold"/>
              </a:rPr>
              <a:t>Ortak Arayüz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089136" y="4270248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9A9388"/>
                </a:solidFill>
                <a:latin typeface="Segoe UI"/>
              </a:rPr>
              <a:t>ChatCompletion · Stream · ListModels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" y="507492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9A9388"/>
                </a:solidFill>
                <a:latin typeface="Segoe UI"/>
              </a:rPr>
              <a:t>Çapraz mod: sohbet için bulut yapay zekası kullanırken, hafıza embedding'i için yerel model çalışabilir — ikisi bağımsızdır.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C9A35B"/>
                </a:solidFill>
                <a:latin typeface="Segoe UI Semibold"/>
              </a:rPr>
              <a:t>BÖLÜM 04 · DAYANIKLILIK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457200"/>
            <a:ext cx="1005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50" b="1">
                <a:solidFill>
                  <a:srgbClr val="9A9388"/>
                </a:solidFill>
                <a:latin typeface="Segoe UI Semibold"/>
              </a:rP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841248"/>
            <a:ext cx="106070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EDE8DF"/>
                </a:solidFill>
                <a:latin typeface="Segoe UI Semibold"/>
              </a:rPr>
              <a:t>Router, Yedek &amp; Şifreleme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72768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0">
                <a:solidFill>
                  <a:srgbClr val="9A9388"/>
                </a:solidFill>
                <a:latin typeface="Segoe UI"/>
              </a:rPr>
              <a:t>Sağlayıcı katmanı hata toleranslı ve güvenli tasarlanmıştır.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121408"/>
            <a:ext cx="10543032" cy="18288"/>
          </a:xfrm>
          <a:prstGeom prst="rect">
            <a:avLst/>
          </a:prstGeom>
          <a:solidFill>
            <a:srgbClr val="3A35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2116836"/>
            <a:ext cx="1280160" cy="32004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419088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C9A35B"/>
                </a:solidFill>
                <a:latin typeface="Segoe UI Semibold"/>
              </a:rPr>
              <a:t>MEMO</a:t>
            </a:r>
            <a:r>
              <a:rPr sz="1050" b="0">
                <a:solidFill>
                  <a:srgbClr val="6E685E"/>
                </a:solidFill>
                <a:latin typeface="Segoe UI"/>
              </a:rPr>
              <a:t>  ·  Yerel Yapay Zeka Hafıza Kabuğu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423160"/>
            <a:ext cx="3337560" cy="1965960"/>
          </a:xfrm>
          <a:prstGeom prst="roundRect">
            <a:avLst>
              <a:gd name="adj" fmla="val 6000"/>
            </a:avLst>
          </a:prstGeom>
          <a:solidFill>
            <a:srgbClr val="262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78992" y="2679191"/>
            <a:ext cx="457200" cy="457200"/>
          </a:xfrm>
          <a:prstGeom prst="ellipse">
            <a:avLst/>
          </a:prstGeom>
          <a:solidFill>
            <a:srgbClr val="3833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8992" y="2697479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C9A35B"/>
                </a:solidFill>
                <a:latin typeface="Segoe UI"/>
              </a:rPr>
              <a:t>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2697479"/>
            <a:ext cx="22860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EDE8DF"/>
                </a:solidFill>
                <a:latin typeface="Segoe UI Semibold"/>
              </a:rPr>
              <a:t>Akıllı Yedek Zinciri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264408"/>
            <a:ext cx="2788920" cy="10058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9A9388"/>
                </a:solidFill>
                <a:latin typeface="Segoe UI"/>
              </a:rPr>
              <a:t>Sağlayıcılar öncelik sırasıyla denenir. 3 ardışık hatada otomatik devre dışı; sağlık kontrolüyle düzelince geri açılır.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25112" y="2423160"/>
            <a:ext cx="3337560" cy="1965960"/>
          </a:xfrm>
          <a:prstGeom prst="roundRect">
            <a:avLst>
              <a:gd name="adj" fmla="val 6000"/>
            </a:avLst>
          </a:prstGeom>
          <a:solidFill>
            <a:srgbClr val="262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581144" y="2679191"/>
            <a:ext cx="457200" cy="457200"/>
          </a:xfrm>
          <a:prstGeom prst="ellipse">
            <a:avLst/>
          </a:prstGeom>
          <a:solidFill>
            <a:srgbClr val="3833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81144" y="2697479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7FB4AB"/>
                </a:solidFill>
                <a:latin typeface="Segoe UI"/>
              </a:rPr>
              <a:t>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93792" y="2697479"/>
            <a:ext cx="22860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EDE8DF"/>
                </a:solidFill>
                <a:latin typeface="Segoe UI Semibold"/>
              </a:rPr>
              <a:t>AES-256-GCM Anahtar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99432" y="3264408"/>
            <a:ext cx="2788920" cy="10058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9A9388"/>
                </a:solidFill>
                <a:latin typeface="Segoe UI"/>
              </a:rPr>
              <a:t>API anahtarları makineye özel anahtarla şifreli saklanır (data/providers.json). Log/config'de düz metin yok.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27264" y="2423160"/>
            <a:ext cx="3566160" cy="1965960"/>
          </a:xfrm>
          <a:prstGeom prst="roundRect">
            <a:avLst>
              <a:gd name="adj" fmla="val 6000"/>
            </a:avLst>
          </a:prstGeom>
          <a:solidFill>
            <a:srgbClr val="262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083296" y="2679191"/>
            <a:ext cx="457200" cy="457200"/>
          </a:xfrm>
          <a:prstGeom prst="ellipse">
            <a:avLst/>
          </a:prstGeom>
          <a:solidFill>
            <a:srgbClr val="3833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83296" y="2697479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B8894B"/>
                </a:solidFill>
                <a:latin typeface="Segoe UI"/>
              </a:rPr>
              <a:t>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95944" y="2697479"/>
            <a:ext cx="2514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EDE8DF"/>
                </a:solidFill>
                <a:latin typeface="Segoe UI Semibold"/>
              </a:rPr>
              <a:t>Canlı Sağlayıcı Geçişi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01584" y="3264408"/>
            <a:ext cx="3017520" cy="10058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9A9388"/>
                </a:solidFill>
                <a:latin typeface="Segoe UI"/>
              </a:rPr>
              <a:t>Sohbet ortasında /model ile aktif sağlayıcıyı değiştir — yeniden başlatma ve bağlam kaybı yok.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" y="4617720"/>
            <a:ext cx="10570464" cy="1143000"/>
          </a:xfrm>
          <a:prstGeom prst="roundRect">
            <a:avLst>
              <a:gd name="adj" fmla="val 6000"/>
            </a:avLst>
          </a:prstGeom>
          <a:solidFill>
            <a:srgbClr val="262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97280" y="47548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C9A35B"/>
                </a:solidFill>
                <a:latin typeface="Segoe UI Semibold"/>
              </a:rPr>
              <a:t>Model Bazında Bağlam Penceresi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" y="5175504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9A9388"/>
                </a:solidFill>
                <a:latin typeface="Segoe UI"/>
              </a:rPr>
              <a:t>Bağlam bütçesi artık sağlayıcı tipine değil modele göre belirlenir. “Context window (tokens)” alanına modelin gerçek penceresini gir (örn. 1.000.000 = 1M). Boşsa makul varsayılan: Gemini 1M · Claude 200K · diğerleri 128K.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148085908000" cy="6270955200000"/>
          </a:xfrm>
          <a:prstGeom prst="rect">
            <a:avLst/>
          </a:prstGeom>
          <a:solidFill>
            <a:srgbClr val="1C1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961120" y="-1280160"/>
            <a:ext cx="5120640" cy="5120640"/>
          </a:xfrm>
          <a:prstGeom prst="ellipse">
            <a:avLst/>
          </a:prstGeom>
          <a:solidFill>
            <a:srgbClr val="262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149840" y="3657600"/>
            <a:ext cx="3108960" cy="3108960"/>
          </a:xfrm>
          <a:prstGeom prst="ellipse">
            <a:avLst/>
          </a:prstGeom>
          <a:solidFill>
            <a:srgbClr val="2F2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280160"/>
            <a:ext cx="640080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0" b="1">
                <a:solidFill>
                  <a:srgbClr val="38332C"/>
                </a:solidFill>
                <a:latin typeface="Segoe UI Light"/>
              </a:rPr>
              <a:t>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05740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C9A35B"/>
                </a:solidFill>
                <a:latin typeface="Segoe UI Semibold"/>
              </a:rPr>
              <a:t>BÖLÜM BEŞ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423160"/>
            <a:ext cx="8229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4200" b="1">
                <a:solidFill>
                  <a:srgbClr val="EDE8DF"/>
                </a:solidFill>
                <a:latin typeface="Segoe UI Semibold"/>
              </a:rPr>
              <a:t>Ajan
&amp; Orchestra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78992" y="4178808"/>
            <a:ext cx="201168" cy="36576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17320" y="4069080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9A9388"/>
                </a:solidFill>
                <a:latin typeface="Segoe UI"/>
              </a:rPr>
              <a:t>Ajan Modu — bilgisayarında iş yapan AI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78992" y="4654296"/>
            <a:ext cx="201168" cy="36576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17320" y="4544568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9A9388"/>
                </a:solidFill>
                <a:latin typeface="Segoe UI"/>
              </a:rPr>
              <a:t>Güvenlik: sandbox, izin, kara liste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78992" y="5129783"/>
            <a:ext cx="201168" cy="36576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17320" y="5020055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9A9388"/>
                </a:solidFill>
                <a:latin typeface="Segoe UI"/>
              </a:rPr>
              <a:t>Orchestra — çoklu model ekibi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78992" y="5605271"/>
            <a:ext cx="201168" cy="36576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17320" y="5495543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9A9388"/>
                </a:solidFill>
                <a:latin typeface="Segoe UI"/>
              </a:rPr>
              <a:t>Orchestra + Ajan birleşik mod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C9A35B"/>
                </a:solidFill>
                <a:latin typeface="Segoe UI Semibold"/>
              </a:rPr>
              <a:t>BÖLÜM 05 · AJAN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457200"/>
            <a:ext cx="1005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50" b="1">
                <a:solidFill>
                  <a:srgbClr val="9A9388"/>
                </a:solidFill>
                <a:latin typeface="Segoe UI Semibold"/>
              </a:rPr>
              <a:t>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841248"/>
            <a:ext cx="106070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EDE8DF"/>
                </a:solidFill>
                <a:latin typeface="Segoe UI Semibold"/>
              </a:rPr>
              <a:t>Ajan Modu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72768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0">
                <a:solidFill>
                  <a:srgbClr val="9A9388"/>
                </a:solidFill>
                <a:latin typeface="Segoe UI"/>
              </a:rPr>
              <a:t>Memo dosya gezen, komut çalıştıran, kod yazan bir yapay zeka ajanına dönüşür.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121408"/>
            <a:ext cx="10543032" cy="18288"/>
          </a:xfrm>
          <a:prstGeom prst="rect">
            <a:avLst/>
          </a:prstGeom>
          <a:solidFill>
            <a:srgbClr val="3A35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2116836"/>
            <a:ext cx="1280160" cy="32004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419088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C9A35B"/>
                </a:solidFill>
                <a:latin typeface="Segoe UI Semibold"/>
              </a:rPr>
              <a:t>MEMO</a:t>
            </a:r>
            <a:r>
              <a:rPr sz="1050" b="0">
                <a:solidFill>
                  <a:srgbClr val="6E685E"/>
                </a:solidFill>
                <a:latin typeface="Segoe UI"/>
              </a:rPr>
              <a:t>  ·  Yerel Yapay Zeka Hafıza Kabuğu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542032"/>
            <a:ext cx="118872" cy="118872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5568" y="2441448"/>
            <a:ext cx="5376672" cy="8869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EDE8DF"/>
                </a:solidFill>
                <a:latin typeface="Segoe UI Semibold"/>
              </a:rPr>
              <a:t>12+ yerleşik araç  </a:t>
            </a:r>
            <a:r>
              <a:rPr sz="1250" b="0">
                <a:solidFill>
                  <a:srgbClr val="9A9388"/>
                </a:solidFill>
                <a:latin typeface="Segoe UI"/>
              </a:rPr>
              <a:t>read/write/edit/delete_file, run_command, search, web_search…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3108960"/>
            <a:ext cx="118872" cy="118872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15568" y="3008376"/>
            <a:ext cx="5376672" cy="8869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EDE8DF"/>
                </a:solidFill>
                <a:latin typeface="Segoe UI Semibold"/>
              </a:rPr>
              <a:t>LLM ↔ Araç döngüsü  </a:t>
            </a:r>
            <a:r>
              <a:rPr sz="1250" b="0">
                <a:solidFill>
                  <a:srgbClr val="9A9388"/>
                </a:solidFill>
                <a:latin typeface="Segoe UI"/>
              </a:rPr>
              <a:t>araç çağrısı → izin → çalıştır → sonuç → döngü (max 20).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3675888"/>
            <a:ext cx="118872" cy="118872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15568" y="3575304"/>
            <a:ext cx="5376672" cy="8869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EDE8DF"/>
                </a:solidFill>
                <a:latin typeface="Segoe UI Semibold"/>
              </a:rPr>
              <a:t>Araç başına zaman aşımı  </a:t>
            </a:r>
            <a:r>
              <a:rPr sz="1250" b="0">
                <a:solidFill>
                  <a:srgbClr val="9A9388"/>
                </a:solidFill>
                <a:latin typeface="Segoe UI"/>
              </a:rPr>
              <a:t>60sn üst sınır; iptalde anında durur (context yayılımı).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4242816"/>
            <a:ext cx="118872" cy="118872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15568" y="4142232"/>
            <a:ext cx="5376672" cy="8869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EDE8DF"/>
                </a:solidFill>
                <a:latin typeface="Segoe UI Semibold"/>
              </a:rPr>
              <a:t>Olay akışı (SSE)  </a:t>
            </a:r>
            <a:r>
              <a:rPr sz="1250" b="0">
                <a:solidFill>
                  <a:srgbClr val="9A9388"/>
                </a:solidFill>
                <a:latin typeface="Segoe UI"/>
              </a:rPr>
              <a:t>araç çalıştırma olayları frontend'e canlı iletilir.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4809744"/>
            <a:ext cx="118872" cy="118872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15568" y="4709160"/>
            <a:ext cx="5376672" cy="8869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EDE8DF"/>
                </a:solidFill>
                <a:latin typeface="Segoe UI Semibold"/>
              </a:rPr>
              <a:t>Yerel modelle kararlı  </a:t>
            </a:r>
            <a:r>
              <a:rPr sz="1250" b="0">
                <a:solidFill>
                  <a:srgbClr val="9A9388"/>
                </a:solidFill>
                <a:latin typeface="Segoe UI"/>
              </a:rPr>
              <a:t>araç çağrısı desteği HF meta verisinden otomatik algılanır.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" y="5376672"/>
            <a:ext cx="118872" cy="118872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15568" y="5276088"/>
            <a:ext cx="5376672" cy="8869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EDE8DF"/>
                </a:solidFill>
                <a:latin typeface="Segoe UI Semibold"/>
              </a:rPr>
              <a:t>Dosya yedekleme  </a:t>
            </a:r>
            <a:r>
              <a:rPr sz="1250" b="0">
                <a:solidFill>
                  <a:srgbClr val="9A9388"/>
                </a:solidFill>
                <a:latin typeface="Segoe UI"/>
              </a:rPr>
              <a:t>edit/insert/delete öncesi otomatik yedek alınır.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0" y="2468880"/>
            <a:ext cx="4526280" cy="3200400"/>
          </a:xfrm>
          <a:prstGeom prst="roundRect">
            <a:avLst>
              <a:gd name="adj" fmla="val 6000"/>
            </a:avLst>
          </a:prstGeom>
          <a:solidFill>
            <a:srgbClr val="262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14032" y="2651760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C9A35B"/>
                </a:solidFill>
                <a:latin typeface="Segoe UI Semibold"/>
              </a:rPr>
              <a:t>Temiz Durum Çizgisi (v3.1)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14032" y="3108960"/>
            <a:ext cx="4069080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9A9388"/>
                </a:solidFill>
                <a:latin typeface="Segoe UI"/>
              </a:rPr>
              <a:t>Ham JSON araç argümanları artık sohbete sızmıyor. Her araç için ayrı kart yerine, akan baloncuk araçlar çalışırken güncellenen tek bir animasyonlu satır gösterir.</a:t>
            </a:r>
          </a:p>
          <a:p>
            <a:pPr algn="l">
              <a:lnSpc>
                <a:spcPct val="110000"/>
              </a:lnSpc>
            </a:pPr>
            <a:r>
              <a:rPr sz="800" b="0">
                <a:solidFill>
                  <a:srgbClr val="9A9388"/>
                </a:solidFill>
                <a:latin typeface="Segoe UI"/>
              </a:rPr>
              <a:t/>
            </a:r>
          </a:p>
          <a:p>
            <a:pPr algn="l">
              <a:lnSpc>
                <a:spcPct val="110000"/>
              </a:lnSpc>
            </a:pPr>
            <a:r>
              <a:rPr sz="1250" b="0">
                <a:solidFill>
                  <a:srgbClr val="9A9388"/>
                </a:solidFill>
                <a:latin typeface="Segoe UI"/>
              </a:rPr>
              <a:t>Tamamlanan işlemler kompakt rozet olur:</a:t>
            </a:r>
          </a:p>
          <a:p>
            <a:pPr algn="l">
              <a:lnSpc>
                <a:spcPct val="110000"/>
              </a:lnSpc>
            </a:pPr>
            <a:r>
              <a:rPr sz="1250" b="1">
                <a:solidFill>
                  <a:srgbClr val="7FB4AB"/>
                </a:solidFill>
                <a:latin typeface="Segoe UI Semibold"/>
              </a:rPr>
              <a:t>[ Dosya okudu · 120ms ]</a:t>
            </a:r>
          </a:p>
          <a:p>
            <a:pPr algn="l">
              <a:lnSpc>
                <a:spcPct val="110000"/>
              </a:lnSpc>
            </a:pPr>
            <a:r>
              <a:rPr sz="600" b="0">
                <a:solidFill>
                  <a:srgbClr val="9A9388"/>
                </a:solidFill>
                <a:latin typeface="Segoe UI"/>
              </a:rPr>
              <a:t/>
            </a:r>
          </a:p>
          <a:p>
            <a:pPr algn="l">
              <a:lnSpc>
                <a:spcPct val="110000"/>
              </a:lnSpc>
            </a:pPr>
            <a:r>
              <a:rPr sz="1250" b="0">
                <a:solidFill>
                  <a:srgbClr val="9A9388"/>
                </a:solidFill>
                <a:latin typeface="Segoe UI"/>
              </a:rPr>
              <a:t>Sonuç: Claude Code'a benzer — minimal, bilgilendirici, teknik olmayan.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C9A35B"/>
                </a:solidFill>
                <a:latin typeface="Segoe UI Semibold"/>
              </a:rPr>
              <a:t>BÖLÜM 05 · GÜVENLIK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457200"/>
            <a:ext cx="1005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50" b="1">
                <a:solidFill>
                  <a:srgbClr val="9A9388"/>
                </a:solidFill>
                <a:latin typeface="Segoe UI Semibold"/>
              </a:rPr>
              <a:t>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841248"/>
            <a:ext cx="106070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EDE8DF"/>
                </a:solidFill>
                <a:latin typeface="Segoe UI Semibold"/>
              </a:rPr>
              <a:t>Ajan Güvenliği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72768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0">
                <a:solidFill>
                  <a:srgbClr val="9A9388"/>
                </a:solidFill>
                <a:latin typeface="Segoe UI"/>
              </a:rPr>
              <a:t>Güçlü yetki, sıkı sınırlar — sandbox ve izin sistemiyle dengelenir.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121408"/>
            <a:ext cx="10543032" cy="18288"/>
          </a:xfrm>
          <a:prstGeom prst="rect">
            <a:avLst/>
          </a:prstGeom>
          <a:solidFill>
            <a:srgbClr val="3A35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2116836"/>
            <a:ext cx="1280160" cy="32004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419088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C9A35B"/>
                </a:solidFill>
                <a:latin typeface="Segoe UI Semibold"/>
              </a:rPr>
              <a:t>MEMO</a:t>
            </a:r>
            <a:r>
              <a:rPr sz="1050" b="0">
                <a:solidFill>
                  <a:srgbClr val="6E685E"/>
                </a:solidFill>
                <a:latin typeface="Segoe UI"/>
              </a:rPr>
              <a:t>  ·  Yerel Yapay Zeka Hafıza Kabuğu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423160"/>
            <a:ext cx="3337560" cy="1828800"/>
          </a:xfrm>
          <a:prstGeom prst="roundRect">
            <a:avLst>
              <a:gd name="adj" fmla="val 6000"/>
            </a:avLst>
          </a:prstGeom>
          <a:solidFill>
            <a:srgbClr val="262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78992" y="2679191"/>
            <a:ext cx="457200" cy="457200"/>
          </a:xfrm>
          <a:prstGeom prst="ellipse">
            <a:avLst/>
          </a:prstGeom>
          <a:solidFill>
            <a:srgbClr val="3833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8992" y="2697479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CC6B5A"/>
                </a:solidFill>
                <a:latin typeface="Segoe UI"/>
              </a:rPr>
              <a:t>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2697479"/>
            <a:ext cx="22860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EDE8DF"/>
                </a:solidFill>
                <a:latin typeface="Segoe UI Semibold"/>
              </a:rPr>
              <a:t>Sandbox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264408"/>
            <a:ext cx="2788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9A9388"/>
                </a:solidFill>
                <a:latin typeface="Segoe UI"/>
              </a:rPr>
              <a:t>Path traversal koruması, symlink çözümleme (EvalSymlinks), proje kök dizini sınırı.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25112" y="2423160"/>
            <a:ext cx="3337560" cy="1828800"/>
          </a:xfrm>
          <a:prstGeom prst="roundRect">
            <a:avLst>
              <a:gd name="adj" fmla="val 6000"/>
            </a:avLst>
          </a:prstGeom>
          <a:solidFill>
            <a:srgbClr val="262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581144" y="2679191"/>
            <a:ext cx="457200" cy="457200"/>
          </a:xfrm>
          <a:prstGeom prst="ellipse">
            <a:avLst/>
          </a:prstGeom>
          <a:solidFill>
            <a:srgbClr val="3833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81144" y="2697479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B8894B"/>
                </a:solidFill>
                <a:latin typeface="Segoe UI"/>
              </a:rPr>
              <a:t>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93792" y="2697479"/>
            <a:ext cx="22860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EDE8DF"/>
                </a:solidFill>
                <a:latin typeface="Segoe UI Semibold"/>
              </a:rPr>
              <a:t>Komut Kara Listesi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99432" y="3264408"/>
            <a:ext cx="2788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9A9388"/>
                </a:solidFill>
                <a:latin typeface="Segoe UI"/>
              </a:rPr>
              <a:t>rm -rf /, sudo, mkfs, fork bomb, sh -c, python -c, su/doas… 23+ pattern engellenir.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27264" y="2423160"/>
            <a:ext cx="3566160" cy="1828800"/>
          </a:xfrm>
          <a:prstGeom prst="roundRect">
            <a:avLst>
              <a:gd name="adj" fmla="val 6000"/>
            </a:avLst>
          </a:prstGeom>
          <a:solidFill>
            <a:srgbClr val="262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083296" y="2679191"/>
            <a:ext cx="457200" cy="457200"/>
          </a:xfrm>
          <a:prstGeom prst="ellipse">
            <a:avLst/>
          </a:prstGeom>
          <a:solidFill>
            <a:srgbClr val="3833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83296" y="2697479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7FB4AB"/>
                </a:solidFill>
                <a:latin typeface="Segoe UI"/>
              </a:rPr>
              <a:t>⏱️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95944" y="2697479"/>
            <a:ext cx="2514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EDE8DF"/>
                </a:solidFill>
                <a:latin typeface="Segoe UI Semibold"/>
              </a:rPr>
              <a:t>Rate Limiting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01584" y="3264408"/>
            <a:ext cx="30175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9A9388"/>
                </a:solidFill>
                <a:latin typeface="Segoe UI"/>
              </a:rPr>
              <a:t>Dakikada 30 araç çağrısı, komut başına 5sn bekleme. Son 1000 işlem denetim günlüğünde.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" y="4480560"/>
            <a:ext cx="10570464" cy="1280160"/>
          </a:xfrm>
          <a:prstGeom prst="roundRect">
            <a:avLst>
              <a:gd name="adj" fmla="val 6000"/>
            </a:avLst>
          </a:prstGeom>
          <a:solidFill>
            <a:srgbClr val="262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97280" y="46177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C9A35B"/>
                </a:solidFill>
                <a:latin typeface="Segoe UI Semibold"/>
              </a:rPr>
              <a:t>6 İzin Politikası — kontrol tamamen sende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97280" y="5074920"/>
            <a:ext cx="1302105" cy="310896"/>
          </a:xfrm>
          <a:prstGeom prst="roundRect">
            <a:avLst>
              <a:gd name="adj" fmla="val 50000"/>
            </a:avLst>
          </a:prstGeom>
          <a:solidFill>
            <a:srgbClr val="2F2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97280" y="5093207"/>
            <a:ext cx="1302105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EDE8DF"/>
                </a:solidFill>
                <a:latin typeface="Segoe UI Semibold"/>
              </a:rPr>
              <a:t>PromptAlways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563977" y="5074920"/>
            <a:ext cx="1049731" cy="310896"/>
          </a:xfrm>
          <a:prstGeom prst="roundRect">
            <a:avLst>
              <a:gd name="adj" fmla="val 50000"/>
            </a:avLst>
          </a:prstGeom>
          <a:solidFill>
            <a:srgbClr val="2F2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563977" y="5093207"/>
            <a:ext cx="1049731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EDE8DF"/>
                </a:solidFill>
                <a:latin typeface="Segoe UI Semibold"/>
              </a:rPr>
              <a:t>AllowOnce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778300" y="5074920"/>
            <a:ext cx="1302105" cy="310896"/>
          </a:xfrm>
          <a:prstGeom prst="roundRect">
            <a:avLst>
              <a:gd name="adj" fmla="val 50000"/>
            </a:avLst>
          </a:prstGeom>
          <a:solidFill>
            <a:srgbClr val="2F2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778300" y="5093207"/>
            <a:ext cx="1302105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EDE8DF"/>
                </a:solidFill>
                <a:latin typeface="Segoe UI Semibold"/>
              </a:rPr>
              <a:t>AllowSession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244998" y="5074920"/>
            <a:ext cx="1302105" cy="310896"/>
          </a:xfrm>
          <a:prstGeom prst="roundRect">
            <a:avLst>
              <a:gd name="adj" fmla="val 50000"/>
            </a:avLst>
          </a:prstGeom>
          <a:solidFill>
            <a:srgbClr val="2F2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244998" y="5093207"/>
            <a:ext cx="1302105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EDE8DF"/>
                </a:solidFill>
                <a:latin typeface="Segoe UI Semibold"/>
              </a:rPr>
              <a:t>AllowForever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711696" y="5074920"/>
            <a:ext cx="965606" cy="310896"/>
          </a:xfrm>
          <a:prstGeom prst="roundRect">
            <a:avLst>
              <a:gd name="adj" fmla="val 50000"/>
            </a:avLst>
          </a:prstGeom>
          <a:solidFill>
            <a:srgbClr val="2F2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711696" y="5093207"/>
            <a:ext cx="96560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EDE8DF"/>
                </a:solidFill>
                <a:latin typeface="Segoe UI Semibold"/>
              </a:rPr>
              <a:t>DenyOnce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841894" y="5074920"/>
            <a:ext cx="1217980" cy="310896"/>
          </a:xfrm>
          <a:prstGeom prst="roundRect">
            <a:avLst>
              <a:gd name="adj" fmla="val 50000"/>
            </a:avLst>
          </a:prstGeom>
          <a:solidFill>
            <a:srgbClr val="2F2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841894" y="5093207"/>
            <a:ext cx="12179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EDE8DF"/>
                </a:solidFill>
                <a:latin typeface="Segoe UI Semibold"/>
              </a:rPr>
              <a:t>DenyForever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97280" y="548640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9A9388"/>
                </a:solidFill>
                <a:latin typeface="Segoe UI"/>
              </a:rPr>
              <a:t>İzinler SHA-256 argüman hash'iyle eşleştirilir ve data/permissions.json'da kalıcı saklanır. İzin diyaloğu anında yanıt verir, 60sn'de otomatik reddeder.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C9A35B"/>
                </a:solidFill>
                <a:latin typeface="Segoe UI Semibold"/>
              </a:rPr>
              <a:t>BÖLÜM 05 · ORCHESTRA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457200"/>
            <a:ext cx="1005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50" b="1">
                <a:solidFill>
                  <a:srgbClr val="9A9388"/>
                </a:solidFill>
                <a:latin typeface="Segoe UI Semibold"/>
              </a:rPr>
              <a:t>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841248"/>
            <a:ext cx="106070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EDE8DF"/>
                </a:solidFill>
                <a:latin typeface="Segoe UI Semibold"/>
              </a:rPr>
              <a:t>Orchestra Modu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72768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0">
                <a:solidFill>
                  <a:srgbClr val="9A9388"/>
                </a:solidFill>
                <a:latin typeface="Segoe UI"/>
              </a:rPr>
              <a:t>Birden çok model bir ekip gibi: şef planlar, uzmanlar paralel çalışır, sonuç birleşir.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121408"/>
            <a:ext cx="10543032" cy="18288"/>
          </a:xfrm>
          <a:prstGeom prst="rect">
            <a:avLst/>
          </a:prstGeom>
          <a:solidFill>
            <a:srgbClr val="3A35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2116836"/>
            <a:ext cx="1280160" cy="32004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419088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C9A35B"/>
                </a:solidFill>
                <a:latin typeface="Segoe UI Semibold"/>
              </a:rPr>
              <a:t>MEMO</a:t>
            </a:r>
            <a:r>
              <a:rPr sz="1050" b="0">
                <a:solidFill>
                  <a:srgbClr val="6E685E"/>
                </a:solidFill>
                <a:latin typeface="Segoe UI"/>
              </a:rPr>
              <a:t>  ·  Yerel Yapay Zeka Hafıza Kabuğu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377440"/>
            <a:ext cx="3383280" cy="1325880"/>
          </a:xfrm>
          <a:prstGeom prst="roundRect">
            <a:avLst>
              <a:gd name="adj" fmla="val 6000"/>
            </a:avLst>
          </a:prstGeom>
          <a:solidFill>
            <a:srgbClr val="262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2377440"/>
            <a:ext cx="3383280" cy="64008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2542032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C9A35B"/>
                </a:solidFill>
                <a:latin typeface="Segoe UI Semibold"/>
              </a:rPr>
              <a:t>1 · Şef Planlar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2971800"/>
            <a:ext cx="3017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>
                <a:solidFill>
                  <a:srgbClr val="9A9388"/>
                </a:solidFill>
                <a:latin typeface="Segoe UI"/>
              </a:rPr>
              <a:t>İstek analiz edilip alt görevlere bölünür (yapılandırılmış plan).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33088" y="2743200"/>
            <a:ext cx="365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C9A35B"/>
                </a:solidFill>
                <a:latin typeface="Segoe UI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07408" y="2377440"/>
            <a:ext cx="3383280" cy="1325880"/>
          </a:xfrm>
          <a:prstGeom prst="roundRect">
            <a:avLst>
              <a:gd name="adj" fmla="val 6000"/>
            </a:avLst>
          </a:prstGeom>
          <a:solidFill>
            <a:srgbClr val="262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07408" y="2377440"/>
            <a:ext cx="3383280" cy="64008"/>
          </a:xfrm>
          <a:prstGeom prst="rect">
            <a:avLst/>
          </a:prstGeom>
          <a:solidFill>
            <a:srgbClr val="7FB4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36008" y="2542032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7FB4AB"/>
                </a:solidFill>
                <a:latin typeface="Segoe UI Semibold"/>
              </a:rPr>
              <a:t>2 · Uzmanlar Yürütür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36008" y="2971800"/>
            <a:ext cx="3017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>
                <a:solidFill>
                  <a:srgbClr val="9A9388"/>
                </a:solidFill>
                <a:latin typeface="Segoe UI"/>
              </a:rPr>
              <a:t>Görevler farklı modellere atanır, bağımsızlar paralel koşar.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17536" y="2743200"/>
            <a:ext cx="365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C9A35B"/>
                </a:solidFill>
                <a:latin typeface="Segoe UI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91856" y="2377440"/>
            <a:ext cx="3383280" cy="1325880"/>
          </a:xfrm>
          <a:prstGeom prst="roundRect">
            <a:avLst>
              <a:gd name="adj" fmla="val 6000"/>
            </a:avLst>
          </a:prstGeom>
          <a:solidFill>
            <a:srgbClr val="262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991856" y="2377440"/>
            <a:ext cx="3383280" cy="64008"/>
          </a:xfrm>
          <a:prstGeom prst="rect">
            <a:avLst/>
          </a:prstGeom>
          <a:solidFill>
            <a:srgbClr val="B88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0456" y="2542032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B8894B"/>
                </a:solidFill>
                <a:latin typeface="Segoe UI Semibold"/>
              </a:rPr>
              <a:t>3 · Sentez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0456" y="2971800"/>
            <a:ext cx="3017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>
                <a:solidFill>
                  <a:srgbClr val="9A9388"/>
                </a:solidFill>
                <a:latin typeface="Segoe UI"/>
              </a:rPr>
              <a:t>Şef tüm çıktıları nihai tek bir yanıtta birleştirir.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" y="3977639"/>
            <a:ext cx="10570464" cy="1783080"/>
          </a:xfrm>
          <a:prstGeom prst="roundRect">
            <a:avLst>
              <a:gd name="adj" fmla="val 6000"/>
            </a:avLst>
          </a:prstGeom>
          <a:solidFill>
            <a:srgbClr val="262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97280" y="41148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C9A35B"/>
                </a:solidFill>
                <a:latin typeface="Segoe UI Semibold"/>
              </a:rPr>
              <a:t>8 Yerleşik Uzman Rolü  ·  her biri ayrı sağlayıcı/modele atanabilir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97280" y="4672583"/>
            <a:ext cx="109728" cy="109728"/>
          </a:xfrm>
          <a:prstGeom prst="rect">
            <a:avLst/>
          </a:prstGeom>
          <a:solidFill>
            <a:srgbClr val="7FB4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25880" y="4581144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DE8DF"/>
                </a:solidFill>
                <a:latin typeface="Segoe UI Semibold"/>
              </a:rPr>
              <a:t>Planner </a:t>
            </a:r>
            <a:r>
              <a:rPr sz="1100" b="0">
                <a:solidFill>
                  <a:srgbClr val="9A9388"/>
                </a:solidFill>
                <a:latin typeface="Segoe UI"/>
              </a:rPr>
              <a:t>· mimari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703320" y="4672583"/>
            <a:ext cx="109728" cy="109728"/>
          </a:xfrm>
          <a:prstGeom prst="rect">
            <a:avLst/>
          </a:prstGeom>
          <a:solidFill>
            <a:srgbClr val="7FB4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931920" y="4581144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DE8DF"/>
                </a:solidFill>
                <a:latin typeface="Segoe UI Semibold"/>
              </a:rPr>
              <a:t>Frontend </a:t>
            </a:r>
            <a:r>
              <a:rPr sz="1100" b="0">
                <a:solidFill>
                  <a:srgbClr val="9A9388"/>
                </a:solidFill>
                <a:latin typeface="Segoe UI"/>
              </a:rPr>
              <a:t>· UI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09360" y="4672583"/>
            <a:ext cx="109728" cy="109728"/>
          </a:xfrm>
          <a:prstGeom prst="rect">
            <a:avLst/>
          </a:prstGeom>
          <a:solidFill>
            <a:srgbClr val="7FB4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37960" y="4581144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DE8DF"/>
                </a:solidFill>
                <a:latin typeface="Segoe UI Semibold"/>
              </a:rPr>
              <a:t>Backend </a:t>
            </a:r>
            <a:r>
              <a:rPr sz="1100" b="0">
                <a:solidFill>
                  <a:srgbClr val="9A9388"/>
                </a:solidFill>
                <a:latin typeface="Segoe UI"/>
              </a:rPr>
              <a:t>· API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915400" y="4672583"/>
            <a:ext cx="109728" cy="109728"/>
          </a:xfrm>
          <a:prstGeom prst="rect">
            <a:avLst/>
          </a:prstGeom>
          <a:solidFill>
            <a:srgbClr val="7FB4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0" y="4581144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DE8DF"/>
                </a:solidFill>
                <a:latin typeface="Segoe UI Semibold"/>
              </a:rPr>
              <a:t>Bug Fixer </a:t>
            </a:r>
            <a:r>
              <a:rPr sz="1100" b="0">
                <a:solidFill>
                  <a:srgbClr val="9A9388"/>
                </a:solidFill>
                <a:latin typeface="Segoe UI"/>
              </a:rPr>
              <a:t>· hata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97280" y="5221223"/>
            <a:ext cx="109728" cy="109728"/>
          </a:xfrm>
          <a:prstGeom prst="rect">
            <a:avLst/>
          </a:prstGeom>
          <a:solidFill>
            <a:srgbClr val="7FB4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325880" y="5129783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DE8DF"/>
                </a:solidFill>
                <a:latin typeface="Segoe UI Semibold"/>
              </a:rPr>
              <a:t>Reviewer </a:t>
            </a:r>
            <a:r>
              <a:rPr sz="1100" b="0">
                <a:solidFill>
                  <a:srgbClr val="9A9388"/>
                </a:solidFill>
                <a:latin typeface="Segoe UI"/>
              </a:rPr>
              <a:t>· kalite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703320" y="5221223"/>
            <a:ext cx="109728" cy="109728"/>
          </a:xfrm>
          <a:prstGeom prst="rect">
            <a:avLst/>
          </a:prstGeom>
          <a:solidFill>
            <a:srgbClr val="7FB4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931920" y="5129783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DE8DF"/>
                </a:solidFill>
                <a:latin typeface="Segoe UI Semibold"/>
              </a:rPr>
              <a:t>Security </a:t>
            </a:r>
            <a:r>
              <a:rPr sz="1100" b="0">
                <a:solidFill>
                  <a:srgbClr val="9A9388"/>
                </a:solidFill>
                <a:latin typeface="Segoe UI"/>
              </a:rPr>
              <a:t>· güvenlik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09360" y="5221223"/>
            <a:ext cx="109728" cy="109728"/>
          </a:xfrm>
          <a:prstGeom prst="rect">
            <a:avLst/>
          </a:prstGeom>
          <a:solidFill>
            <a:srgbClr val="7FB4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37960" y="5129783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DE8DF"/>
                </a:solidFill>
                <a:latin typeface="Segoe UI Semibold"/>
              </a:rPr>
              <a:t>DevOps </a:t>
            </a:r>
            <a:r>
              <a:rPr sz="1100" b="0">
                <a:solidFill>
                  <a:srgbClr val="9A9388"/>
                </a:solidFill>
                <a:latin typeface="Segoe UI"/>
              </a:rPr>
              <a:t>· altyapı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915400" y="5221223"/>
            <a:ext cx="109728" cy="109728"/>
          </a:xfrm>
          <a:prstGeom prst="rect">
            <a:avLst/>
          </a:prstGeom>
          <a:solidFill>
            <a:srgbClr val="7FB4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0" y="5129783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DE8DF"/>
                </a:solidFill>
                <a:latin typeface="Segoe UI Semibold"/>
              </a:rPr>
              <a:t>General </a:t>
            </a:r>
            <a:r>
              <a:rPr sz="1100" b="0">
                <a:solidFill>
                  <a:srgbClr val="9A9388"/>
                </a:solidFill>
                <a:latin typeface="Segoe UI"/>
              </a:rPr>
              <a:t>· yedek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C9A35B"/>
                </a:solidFill>
                <a:latin typeface="Segoe UI Semibold"/>
              </a:rPr>
              <a:t>BÖLÜM 05 · BIRLEŞIK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457200"/>
            <a:ext cx="1005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50" b="1">
                <a:solidFill>
                  <a:srgbClr val="9A9388"/>
                </a:solidFill>
                <a:latin typeface="Segoe UI Semibold"/>
              </a:rPr>
              <a:t>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841248"/>
            <a:ext cx="106070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EDE8DF"/>
                </a:solidFill>
                <a:latin typeface="Segoe UI Semibold"/>
              </a:rPr>
              <a:t>Orchestra + Ajan &amp; Kurulum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72768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0">
                <a:solidFill>
                  <a:srgbClr val="9A9388"/>
                </a:solidFill>
                <a:latin typeface="Segoe UI"/>
              </a:rPr>
              <a:t>İki sistemin en iyisi bir arada; yeniden tasarlanmış kullanıcı dostu ekran.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121408"/>
            <a:ext cx="10543032" cy="18288"/>
          </a:xfrm>
          <a:prstGeom prst="rect">
            <a:avLst/>
          </a:prstGeom>
          <a:solidFill>
            <a:srgbClr val="3A35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2116836"/>
            <a:ext cx="1280160" cy="32004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419088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C9A35B"/>
                </a:solidFill>
                <a:latin typeface="Segoe UI Semibold"/>
              </a:rPr>
              <a:t>MEMO</a:t>
            </a:r>
            <a:r>
              <a:rPr sz="1050" b="0">
                <a:solidFill>
                  <a:srgbClr val="6E685E"/>
                </a:solidFill>
                <a:latin typeface="Segoe UI"/>
              </a:rPr>
              <a:t>  ·  Yerel Yapay Zeka Hafıza Kabuğu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423160"/>
            <a:ext cx="5120640" cy="3337560"/>
          </a:xfrm>
          <a:prstGeom prst="roundRect">
            <a:avLst>
              <a:gd name="adj" fmla="val 6000"/>
            </a:avLst>
          </a:prstGeom>
          <a:solidFill>
            <a:srgbClr val="262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578608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C9A35B"/>
                </a:solidFill>
                <a:latin typeface="Segoe UI Semibold"/>
              </a:rPr>
              <a:t>Birleşik Mod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017520"/>
            <a:ext cx="46634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>
                <a:solidFill>
                  <a:srgbClr val="9A9388"/>
                </a:solidFill>
                <a:latin typeface="Segoe UI"/>
              </a:rPr>
              <a:t>Hem Orchestra hem Ajan açıkken: önce Orchestra planlar, sonra ajan planı adım adım yürütür — dosya düzenler, komut çalıştırır, kod yazar.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411480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7FB4AB"/>
                </a:solidFill>
                <a:latin typeface="Segoe UI Semibold"/>
              </a:rPr>
              <a:t>Yürütme Modeli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97280" y="4645152"/>
            <a:ext cx="118872" cy="118872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89888" y="4544568"/>
            <a:ext cx="4370831" cy="7040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EDE8DF"/>
                </a:solidFill>
                <a:latin typeface="Segoe UI Semibold"/>
              </a:rPr>
              <a:t>Paralel görevler  </a:t>
            </a:r>
            <a:r>
              <a:rPr sz="1050" b="0">
                <a:solidFill>
                  <a:srgbClr val="9A9388"/>
                </a:solidFill>
                <a:latin typeface="Segoe UI"/>
              </a:rPr>
              <a:t>goroutine + WaitGroup.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7280" y="5029200"/>
            <a:ext cx="118872" cy="118872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89888" y="4928616"/>
            <a:ext cx="4370831" cy="7040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EDE8DF"/>
                </a:solidFill>
                <a:latin typeface="Segoe UI Semibold"/>
              </a:rPr>
              <a:t>Sıralı görevler  </a:t>
            </a:r>
            <a:r>
              <a:rPr sz="1050" b="0">
                <a:solidFill>
                  <a:srgbClr val="9A9388"/>
                </a:solidFill>
                <a:latin typeface="Segoe UI"/>
              </a:rPr>
              <a:t>depends_on ile DAG çözümleme.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97280" y="5413248"/>
            <a:ext cx="118872" cy="118872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89888" y="5312664"/>
            <a:ext cx="4370831" cy="7040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EDE8DF"/>
                </a:solidFill>
                <a:latin typeface="Segoe UI Semibold"/>
              </a:rPr>
              <a:t>Retry  </a:t>
            </a:r>
            <a:r>
              <a:rPr sz="1050" b="0">
                <a:solidFill>
                  <a:srgbClr val="9A9388"/>
                </a:solidFill>
                <a:latin typeface="Segoe UI"/>
              </a:rPr>
              <a:t>rate-limit farkındalıklı üstel geri sarma.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2423160"/>
            <a:ext cx="5120640" cy="3337560"/>
          </a:xfrm>
          <a:prstGeom prst="roundRect">
            <a:avLst>
              <a:gd name="adj" fmla="val 6000"/>
            </a:avLst>
          </a:prstGeom>
          <a:solidFill>
            <a:srgbClr val="262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37960" y="2578608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C9A35B"/>
                </a:solidFill>
                <a:latin typeface="Segoe UI Semibold"/>
              </a:rPr>
              <a:t>Yeniden Tasarlanan Kurulum (v3.1)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37960" y="3182112"/>
            <a:ext cx="118872" cy="118872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30568" y="3081528"/>
            <a:ext cx="4279392" cy="8503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EDE8DF"/>
                </a:solidFill>
                <a:latin typeface="Segoe UI Semibold"/>
              </a:rPr>
              <a:t>Görsel anlatım  </a:t>
            </a:r>
            <a:r>
              <a:rPr sz="1250" b="0">
                <a:solidFill>
                  <a:srgbClr val="9A9388"/>
                </a:solidFill>
                <a:latin typeface="Segoe UI"/>
              </a:rPr>
              <a:t>“Şef → Uzmanlar → Sentez” akışı en üstte.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37960" y="3712463"/>
            <a:ext cx="118872" cy="118872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30568" y="3611880"/>
            <a:ext cx="4279392" cy="8503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EDE8DF"/>
                </a:solidFill>
                <a:latin typeface="Segoe UI Semibold"/>
              </a:rPr>
              <a:t>Hızlı kurulum  </a:t>
            </a:r>
            <a:r>
              <a:rPr sz="1250" b="0">
                <a:solidFill>
                  <a:srgbClr val="9A9388"/>
                </a:solidFill>
                <a:latin typeface="Segoe UI"/>
              </a:rPr>
              <a:t>tek modeli tüm rollere tek dokunuşla ata.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37960" y="4242816"/>
            <a:ext cx="118872" cy="118872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30568" y="4142231"/>
            <a:ext cx="4279392" cy="8503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EDE8DF"/>
                </a:solidFill>
                <a:latin typeface="Segoe UI Semibold"/>
              </a:rPr>
              <a:t>Katlanabilir rol kartları  </a:t>
            </a:r>
            <a:r>
              <a:rPr sz="1250" b="0">
                <a:solidFill>
                  <a:srgbClr val="9A9388"/>
                </a:solidFill>
                <a:latin typeface="Segoe UI"/>
              </a:rPr>
              <a:t>özet satır + “Gelişmiş” altında system prompt.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37960" y="4773168"/>
            <a:ext cx="118872" cy="118872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30568" y="4672583"/>
            <a:ext cx="4279392" cy="8503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EDE8DF"/>
                </a:solidFill>
                <a:latin typeface="Segoe UI Semibold"/>
              </a:rPr>
              <a:t>Net durum  </a:t>
            </a:r>
            <a:r>
              <a:rPr sz="1250" b="0">
                <a:solidFill>
                  <a:srgbClr val="9A9388"/>
                </a:solidFill>
                <a:latin typeface="Segoe UI"/>
              </a:rPr>
              <a:t>atanmamış roller turuncu uyarı, açık rol sayısı başlıkta.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37960" y="5303520"/>
            <a:ext cx="118872" cy="118872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30568" y="5202936"/>
            <a:ext cx="4279392" cy="8503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EDE8DF"/>
                </a:solidFill>
                <a:latin typeface="Segoe UI Semibold"/>
              </a:rPr>
              <a:t>Slash komutu  </a:t>
            </a:r>
            <a:r>
              <a:rPr sz="1250" b="0">
                <a:solidFill>
                  <a:srgbClr val="9A9388"/>
                </a:solidFill>
                <a:latin typeface="Segoe UI"/>
              </a:rPr>
              <a:t>/orchestra on · off · config · status.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148085908000" cy="6270955200000"/>
          </a:xfrm>
          <a:prstGeom prst="rect">
            <a:avLst/>
          </a:prstGeom>
          <a:solidFill>
            <a:srgbClr val="1C1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961120" y="-1280160"/>
            <a:ext cx="5120640" cy="5120640"/>
          </a:xfrm>
          <a:prstGeom prst="ellipse">
            <a:avLst/>
          </a:prstGeom>
          <a:solidFill>
            <a:srgbClr val="262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149840" y="3657600"/>
            <a:ext cx="3108960" cy="3108960"/>
          </a:xfrm>
          <a:prstGeom prst="ellipse">
            <a:avLst/>
          </a:prstGeom>
          <a:solidFill>
            <a:srgbClr val="2F2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280160"/>
            <a:ext cx="640080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0" b="1">
                <a:solidFill>
                  <a:srgbClr val="38332C"/>
                </a:solidFill>
                <a:latin typeface="Segoe UI Light"/>
              </a:rPr>
              <a:t>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05740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C9A35B"/>
                </a:solidFill>
                <a:latin typeface="Segoe UI Semibold"/>
              </a:rPr>
              <a:t>BÖLÜM ALTI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423160"/>
            <a:ext cx="8229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4200" b="1">
                <a:solidFill>
                  <a:srgbClr val="EDE8DF"/>
                </a:solidFill>
                <a:latin typeface="Segoe UI Semibold"/>
              </a:rPr>
              <a:t>Duyular
&amp; Proaktiflik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78992" y="4178808"/>
            <a:ext cx="201168" cy="36576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17320" y="4069080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9A9388"/>
                </a:solidFill>
                <a:latin typeface="Segoe UI"/>
              </a:rPr>
              <a:t>Çoklu modalite — görsel, dosya, ses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78992" y="4654296"/>
            <a:ext cx="201168" cy="36576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17320" y="4544568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9A9388"/>
                </a:solidFill>
                <a:latin typeface="Segoe UI"/>
              </a:rPr>
              <a:t>Sıfır kurulumlu web araması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78992" y="5129783"/>
            <a:ext cx="201168" cy="36576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17320" y="5020055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9A9388"/>
                </a:solidFill>
                <a:latin typeface="Segoe UI"/>
              </a:rPr>
              <a:t>Proaktif öğrenme — niyet çıkarımı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78992" y="5605271"/>
            <a:ext cx="201168" cy="36576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17320" y="5495543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9A9388"/>
                </a:solidFill>
                <a:latin typeface="Segoe UI"/>
              </a:rPr>
              <a:t>Takvim sistemi ve hatırlatmalar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C9A35B"/>
                </a:solidFill>
                <a:latin typeface="Segoe UI Semibold"/>
              </a:rPr>
              <a:t>BÖLÜM 06 · DUYULAR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457200"/>
            <a:ext cx="1005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50" b="1">
                <a:solidFill>
                  <a:srgbClr val="9A9388"/>
                </a:solidFill>
                <a:latin typeface="Segoe UI Semibold"/>
              </a:rPr>
              <a:t>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841248"/>
            <a:ext cx="106070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EDE8DF"/>
                </a:solidFill>
                <a:latin typeface="Segoe UI Semibold"/>
              </a:rPr>
              <a:t>Çoklu Modalite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72768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0">
                <a:solidFill>
                  <a:srgbClr val="9A9388"/>
                </a:solidFill>
                <a:latin typeface="Segoe UI"/>
              </a:rPr>
              <a:t>Memo sadece okumaz — görür, dinler ve dosyaları anlar.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121408"/>
            <a:ext cx="10543032" cy="18288"/>
          </a:xfrm>
          <a:prstGeom prst="rect">
            <a:avLst/>
          </a:prstGeom>
          <a:solidFill>
            <a:srgbClr val="3A35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2116836"/>
            <a:ext cx="1280160" cy="32004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419088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C9A35B"/>
                </a:solidFill>
                <a:latin typeface="Segoe UI Semibold"/>
              </a:rPr>
              <a:t>MEMO</a:t>
            </a:r>
            <a:r>
              <a:rPr sz="1050" b="0">
                <a:solidFill>
                  <a:srgbClr val="6E685E"/>
                </a:solidFill>
                <a:latin typeface="Segoe UI"/>
              </a:rPr>
              <a:t>  ·  Yerel Yapay Zeka Hafıza Kabuğu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468880"/>
            <a:ext cx="3337560" cy="2194560"/>
          </a:xfrm>
          <a:prstGeom prst="roundRect">
            <a:avLst>
              <a:gd name="adj" fmla="val 6000"/>
            </a:avLst>
          </a:prstGeom>
          <a:solidFill>
            <a:srgbClr val="262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78992" y="2724912"/>
            <a:ext cx="457200" cy="457200"/>
          </a:xfrm>
          <a:prstGeom prst="ellipse">
            <a:avLst/>
          </a:prstGeom>
          <a:solidFill>
            <a:srgbClr val="3833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8992" y="274320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C9A35B"/>
                </a:solidFill>
                <a:latin typeface="Segoe UI"/>
              </a:rPr>
              <a:t>👁️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2743200"/>
            <a:ext cx="22860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EDE8DF"/>
                </a:solidFill>
                <a:latin typeface="Segoe UI Semibold"/>
              </a:rPr>
              <a:t>Görsel Destek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310128"/>
            <a:ext cx="2788920" cy="12344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9A9388"/>
                </a:solidFill>
                <a:latin typeface="Segoe UI"/>
              </a:rPr>
              <a:t>Görselleri sürükle-bırak ile analiz et. Llava/Moondream modelleriyle yerel Base64 işleme — güvenli.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25112" y="2468880"/>
            <a:ext cx="3337560" cy="2194560"/>
          </a:xfrm>
          <a:prstGeom prst="roundRect">
            <a:avLst>
              <a:gd name="adj" fmla="val 6000"/>
            </a:avLst>
          </a:prstGeom>
          <a:solidFill>
            <a:srgbClr val="262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581144" y="2724912"/>
            <a:ext cx="457200" cy="457200"/>
          </a:xfrm>
          <a:prstGeom prst="ellipse">
            <a:avLst/>
          </a:prstGeom>
          <a:solidFill>
            <a:srgbClr val="3833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81144" y="274320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7FB4AB"/>
                </a:solidFill>
                <a:latin typeface="Segoe UI"/>
              </a:rPr>
              <a:t>🎙️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93792" y="2743200"/>
            <a:ext cx="22860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EDE8DF"/>
                </a:solidFill>
                <a:latin typeface="Segoe UI Semibold"/>
              </a:rPr>
              <a:t>Sesli Giriş (Whisper)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99432" y="3310128"/>
            <a:ext cx="2788920" cy="12344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9A9388"/>
                </a:solidFill>
                <a:latin typeface="Segoe UI"/>
              </a:rPr>
              <a:t>whisper.cpp ile cihaz-üstü transkripsiyon. Otomatik dil algılama (TR/EN/karışık), basılı-tut kaydet, model otomatik iner.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27264" y="2468880"/>
            <a:ext cx="3566160" cy="2194560"/>
          </a:xfrm>
          <a:prstGeom prst="roundRect">
            <a:avLst>
              <a:gd name="adj" fmla="val 6000"/>
            </a:avLst>
          </a:prstGeom>
          <a:solidFill>
            <a:srgbClr val="262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083296" y="2724912"/>
            <a:ext cx="457200" cy="457200"/>
          </a:xfrm>
          <a:prstGeom prst="ellipse">
            <a:avLst/>
          </a:prstGeom>
          <a:solidFill>
            <a:srgbClr val="3833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83296" y="274320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B8894B"/>
                </a:solidFill>
                <a:latin typeface="Segoe UI"/>
              </a:rPr>
              <a:t>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95944" y="2743200"/>
            <a:ext cx="2514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EDE8DF"/>
                </a:solidFill>
                <a:latin typeface="Segoe UI Semibold"/>
              </a:rPr>
              <a:t>Dosya Bağlamı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01584" y="3310128"/>
            <a:ext cx="3017520" cy="12344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9A9388"/>
                </a:solidFill>
                <a:latin typeface="Segoe UI"/>
              </a:rPr>
              <a:t>Kod (.go/.js/.py) ve doküman (.md/.txt) ekleyerek belirli görev için anlık devasa bağlam kazandır.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493776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0">
                <a:solidFill>
                  <a:srgbClr val="9A9388"/>
                </a:solidFill>
                <a:latin typeface="Segoe UI"/>
              </a:rPr>
              <a:t>Whisper tamamen yerel çalışır — internet gerekmez. Hem yerel modellerle hem de bulut sağlayıcılarla birlikte kullanılabilir; hiçbir ses verisi cihazından çıkmaz.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C9A35B"/>
                </a:solidFill>
                <a:latin typeface="Segoe UI Semibold"/>
              </a:rPr>
              <a:t>BÖLÜM 06 · WEB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457200"/>
            <a:ext cx="1005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50" b="1">
                <a:solidFill>
                  <a:srgbClr val="9A9388"/>
                </a:solidFill>
                <a:latin typeface="Segoe UI Semibold"/>
              </a:rPr>
              <a:t>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841248"/>
            <a:ext cx="106070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EDE8DF"/>
                </a:solidFill>
                <a:latin typeface="Segoe UI Semibold"/>
              </a:rPr>
              <a:t>Sıfır Kurulumlu Web Araması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72768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0">
                <a:solidFill>
                  <a:srgbClr val="9A9388"/>
                </a:solidFill>
                <a:latin typeface="Segoe UI"/>
              </a:rPr>
              <a:t>API anahtarı, hesap veya yapılandırma gerektirmeden güncel web bilgisi.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121408"/>
            <a:ext cx="10543032" cy="18288"/>
          </a:xfrm>
          <a:prstGeom prst="rect">
            <a:avLst/>
          </a:prstGeom>
          <a:solidFill>
            <a:srgbClr val="3A35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2116836"/>
            <a:ext cx="1280160" cy="32004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419088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C9A35B"/>
                </a:solidFill>
                <a:latin typeface="Segoe UI Semibold"/>
              </a:rPr>
              <a:t>MEMO</a:t>
            </a:r>
            <a:r>
              <a:rPr sz="1050" b="0">
                <a:solidFill>
                  <a:srgbClr val="6E685E"/>
                </a:solidFill>
                <a:latin typeface="Segoe UI"/>
              </a:rPr>
              <a:t>  ·  Yerel Yapay Zeka Hafıza Kabuğu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542032"/>
            <a:ext cx="118872" cy="118872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5568" y="2441448"/>
            <a:ext cx="5376672" cy="9235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EDE8DF"/>
                </a:solidFill>
                <a:latin typeface="Segoe UI Semibold"/>
              </a:rPr>
              <a:t>DuckDuckGo HTML arayüzü  </a:t>
            </a:r>
            <a:r>
              <a:rPr sz="1250" b="0">
                <a:solidFill>
                  <a:srgbClr val="9A9388"/>
                </a:solidFill>
                <a:latin typeface="Segoe UI"/>
              </a:rPr>
              <a:t>doğrudan kullanılır; üçüncü taraf SDK yok.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3145536"/>
            <a:ext cx="118872" cy="118872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15568" y="3044952"/>
            <a:ext cx="5376672" cy="9235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EDE8DF"/>
                </a:solidFill>
                <a:latin typeface="Segoe UI Semibold"/>
              </a:rPr>
              <a:t>Açık bir mod (🌐)  </a:t>
            </a:r>
            <a:r>
              <a:rPr sz="1250" b="0">
                <a:solidFill>
                  <a:srgbClr val="9A9388"/>
                </a:solidFill>
                <a:latin typeface="Segoe UI"/>
              </a:rPr>
              <a:t>üst çubuktaki düğmeyle aç/kapa; durum diske kaydedilir.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3749040"/>
            <a:ext cx="118872" cy="118872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15568" y="3648456"/>
            <a:ext cx="5376672" cy="9235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EDE8DF"/>
                </a:solidFill>
                <a:latin typeface="Segoe UI Semibold"/>
              </a:rPr>
              <a:t>Otomatik zenginleştirme  </a:t>
            </a:r>
            <a:r>
              <a:rPr sz="1250" b="0">
                <a:solidFill>
                  <a:srgbClr val="9A9388"/>
                </a:solidFill>
                <a:latin typeface="Segoe UI"/>
              </a:rPr>
              <a:t>açıkken her mesaj güncel sonuçlarla beslenir.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4352544"/>
            <a:ext cx="118872" cy="118872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15568" y="4251960"/>
            <a:ext cx="5376672" cy="9235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EDE8DF"/>
                </a:solidFill>
                <a:latin typeface="Segoe UI Semibold"/>
              </a:rPr>
              <a:t>Dilden bağımsız  </a:t>
            </a:r>
            <a:r>
              <a:rPr sz="1250" b="0">
                <a:solidFill>
                  <a:srgbClr val="9A9388"/>
                </a:solidFill>
                <a:latin typeface="Segoe UI"/>
              </a:rPr>
              <a:t>TR, EN, DE, AR… anahtar kelime listesi kaldırıldı.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4956048"/>
            <a:ext cx="118872" cy="118872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15568" y="4855464"/>
            <a:ext cx="5376672" cy="9235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EDE8DF"/>
                </a:solidFill>
                <a:latin typeface="Segoe UI Semibold"/>
              </a:rPr>
              <a:t>Ajan aracı olarak da  </a:t>
            </a:r>
            <a:r>
              <a:rPr sz="1250" b="0">
                <a:solidFill>
                  <a:srgbClr val="9A9388"/>
                </a:solidFill>
                <a:latin typeface="Segoe UI"/>
              </a:rPr>
              <a:t>web_search ajana doğrudan kullanılabilir (max 10 sonuç).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0" y="2468880"/>
            <a:ext cx="4526280" cy="1828800"/>
          </a:xfrm>
          <a:prstGeom prst="roundRect">
            <a:avLst>
              <a:gd name="adj" fmla="val 6000"/>
            </a:avLst>
          </a:prstGeom>
          <a:solidFill>
            <a:srgbClr val="262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14032" y="2633472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7FB4AB"/>
                </a:solidFill>
                <a:latin typeface="Segoe UI Semibold"/>
              </a:rPr>
              <a:t>🔒 Gizlilik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14032" y="3063240"/>
            <a:ext cx="40690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>
                <a:solidFill>
                  <a:srgbClr val="9A9388"/>
                </a:solidFill>
                <a:latin typeface="Segoe UI"/>
              </a:rPr>
              <a:t>Tüm aramalar html.duckduckgo.com adresine gider. DuckDuckGo aramaları takip etmez, profil oluşturmaz. Makineden çıkan tek veri arama sorgusudur.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0" y="4434840"/>
            <a:ext cx="4526280" cy="1234440"/>
          </a:xfrm>
          <a:prstGeom prst="roundRect">
            <a:avLst>
              <a:gd name="adj" fmla="val 6000"/>
            </a:avLst>
          </a:prstGeom>
          <a:solidFill>
            <a:srgbClr val="262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14032" y="4572000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35B"/>
                </a:solidFill>
                <a:latin typeface="Segoe UI Semibold"/>
              </a:rPr>
              <a:t>“Webde aranıyor…” göstergesi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14032" y="4983480"/>
            <a:ext cx="4069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9A9388"/>
                </a:solidFill>
                <a:latin typeface="Segoe UI"/>
              </a:rPr>
              <a:t>Arama çalışırken sohbet bu ibareyi gösterir; ilk yanıt tokeni gelince kaybolur — bekleme şeffaf.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C9A35B"/>
                </a:solidFill>
                <a:latin typeface="Segoe UI Semibold"/>
              </a:rPr>
              <a:t>BÖLÜM 06 · ÖĞRENME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457200"/>
            <a:ext cx="1005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50" b="1">
                <a:solidFill>
                  <a:srgbClr val="9A9388"/>
                </a:solidFill>
                <a:latin typeface="Segoe UI Semibold"/>
              </a:rPr>
              <a:t>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841248"/>
            <a:ext cx="106070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EDE8DF"/>
                </a:solidFill>
                <a:latin typeface="Segoe UI Semibold"/>
              </a:rPr>
              <a:t>Proaktif Öğrenme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72768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0">
                <a:solidFill>
                  <a:srgbClr val="9A9388"/>
                </a:solidFill>
                <a:latin typeface="Segoe UI"/>
              </a:rPr>
              <a:t>Memo ne yaptığını değil, ne yapacağını söylediğini de anlar — sohbetten ve WhatsApp'tan.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121408"/>
            <a:ext cx="10543032" cy="18288"/>
          </a:xfrm>
          <a:prstGeom prst="rect">
            <a:avLst/>
          </a:prstGeom>
          <a:solidFill>
            <a:srgbClr val="3A35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2116836"/>
            <a:ext cx="1280160" cy="32004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419088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C9A35B"/>
                </a:solidFill>
                <a:latin typeface="Segoe UI Semibold"/>
              </a:rPr>
              <a:t>MEMO</a:t>
            </a:r>
            <a:r>
              <a:rPr sz="1050" b="0">
                <a:solidFill>
                  <a:srgbClr val="6E685E"/>
                </a:solidFill>
                <a:latin typeface="Segoe UI"/>
              </a:rPr>
              <a:t>  ·  Yerel Yapay Zeka Hafıza Kabuğu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542032"/>
            <a:ext cx="118872" cy="118872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5568" y="2441448"/>
            <a:ext cx="5468112" cy="9784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EDE8DF"/>
                </a:solidFill>
                <a:latin typeface="Segoe UI Semibold"/>
              </a:rPr>
              <a:t>Niyet çıkarımı  </a:t>
            </a:r>
            <a:r>
              <a:rPr sz="1250" b="0">
                <a:solidFill>
                  <a:srgbClr val="9A9388"/>
                </a:solidFill>
                <a:latin typeface="Segoe UI"/>
              </a:rPr>
              <a:t>“yarın 11 halısaha”, “her gün 21'de kod” gibi planları tanır.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3200400"/>
            <a:ext cx="118872" cy="118872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15568" y="3099816"/>
            <a:ext cx="5468112" cy="9784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EDE8DF"/>
                </a:solidFill>
                <a:latin typeface="Segoe UI Semibold"/>
              </a:rPr>
              <a:t>İki aşamalı işleme  </a:t>
            </a:r>
            <a:r>
              <a:rPr sz="1250" b="0">
                <a:solidFill>
                  <a:srgbClr val="9A9388"/>
                </a:solidFill>
                <a:latin typeface="Segoe UI"/>
              </a:rPr>
              <a:t>önce hızlı anahtar kelime filtresi, yalnız uygunlar LLM'e gider.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3858768"/>
            <a:ext cx="118872" cy="118872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15568" y="3758183"/>
            <a:ext cx="5468112" cy="9784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EDE8DF"/>
                </a:solidFill>
                <a:latin typeface="Segoe UI Semibold"/>
              </a:rPr>
              <a:t>Gizlilik öncelikli  </a:t>
            </a:r>
            <a:r>
              <a:rPr sz="1250" b="0">
                <a:solidFill>
                  <a:srgbClr val="9A9388"/>
                </a:solidFill>
                <a:latin typeface="Segoe UI"/>
              </a:rPr>
              <a:t>ham metin saklanmaz; sadece kısa özet + konu + saat.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4517136"/>
            <a:ext cx="118872" cy="118872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15568" y="4416551"/>
            <a:ext cx="5468112" cy="9784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EDE8DF"/>
                </a:solidFill>
                <a:latin typeface="Segoe UI Semibold"/>
              </a:rPr>
              <a:t>WhatsApp'ta çift yön  </a:t>
            </a:r>
            <a:r>
              <a:rPr sz="1250" b="0">
                <a:solidFill>
                  <a:srgbClr val="9A9388"/>
                </a:solidFill>
                <a:latin typeface="Segoe UI"/>
              </a:rPr>
              <a:t>gönderdiğin ve aldığın mesajlardan öğrenir.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5175503"/>
            <a:ext cx="118872" cy="118872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15568" y="5074919"/>
            <a:ext cx="5468112" cy="9784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EDE8DF"/>
                </a:solidFill>
                <a:latin typeface="Segoe UI Semibold"/>
              </a:rPr>
              <a:t>Tek model modu  </a:t>
            </a:r>
            <a:r>
              <a:rPr sz="1250" b="0">
                <a:solidFill>
                  <a:srgbClr val="9A9388"/>
                </a:solidFill>
                <a:latin typeface="Segoe UI"/>
              </a:rPr>
              <a:t>Orchestra yerine seçtiğin tek modelle de çalışabilir.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0" y="2468880"/>
            <a:ext cx="4526280" cy="3200400"/>
          </a:xfrm>
          <a:prstGeom prst="roundRect">
            <a:avLst>
              <a:gd name="adj" fmla="val 6000"/>
            </a:avLst>
          </a:prstGeom>
          <a:solidFill>
            <a:srgbClr val="262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14032" y="2651760"/>
            <a:ext cx="4023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35B"/>
                </a:solidFill>
                <a:latin typeface="Segoe UI Semibold"/>
              </a:rPr>
              <a:t>Örnek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14032" y="3108960"/>
            <a:ext cx="4069080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7FB4AB"/>
                </a:solidFill>
                <a:latin typeface="Segoe UI Semibold"/>
              </a:rPr>
              <a:t>Sen: </a:t>
            </a:r>
            <a:r>
              <a:rPr sz="1300" b="0">
                <a:solidFill>
                  <a:srgbClr val="EDE8DF"/>
                </a:solidFill>
                <a:latin typeface="Segoe UI"/>
              </a:rPr>
              <a:t>“yarın saat 11 halısaha”</a:t>
            </a:r>
          </a:p>
          <a:p>
            <a:pPr algn="l">
              <a:lnSpc>
                <a:spcPct val="112000"/>
              </a:lnSpc>
            </a:pPr>
            <a:r>
              <a:rPr sz="800" b="0">
                <a:solidFill>
                  <a:srgbClr val="9A9388"/>
                </a:solidFill>
                <a:latin typeface="Segoe UI"/>
              </a:rPr>
              <a:t/>
            </a:r>
          </a:p>
          <a:p>
            <a:pPr algn="l">
              <a:lnSpc>
                <a:spcPct val="112000"/>
              </a:lnSpc>
            </a:pPr>
            <a:r>
              <a:rPr sz="1250" b="0">
                <a:solidFill>
                  <a:srgbClr val="9A9388"/>
                </a:solidFill>
                <a:latin typeface="Segoe UI"/>
              </a:rPr>
              <a:t>→ Memo niyeti tanır</a:t>
            </a:r>
          </a:p>
          <a:p>
            <a:pPr algn="l">
              <a:lnSpc>
                <a:spcPct val="112000"/>
              </a:lnSpc>
            </a:pPr>
            <a:r>
              <a:rPr sz="1250" b="0">
                <a:solidFill>
                  <a:srgbClr val="9A9388"/>
                </a:solidFill>
                <a:latin typeface="Segoe UI"/>
              </a:rPr>
              <a:t>→ takvime etkinlik ekler</a:t>
            </a:r>
          </a:p>
          <a:p>
            <a:pPr algn="l">
              <a:lnSpc>
                <a:spcPct val="112000"/>
              </a:lnSpc>
            </a:pPr>
            <a:r>
              <a:rPr sz="1250" b="0">
                <a:solidFill>
                  <a:srgbClr val="9A9388"/>
                </a:solidFill>
                <a:latin typeface="Segoe UI"/>
              </a:rPr>
              <a:t>→ bildirim gönderir</a:t>
            </a:r>
          </a:p>
          <a:p>
            <a:pPr algn="l">
              <a:lnSpc>
                <a:spcPct val="112000"/>
              </a:lnSpc>
            </a:pPr>
            <a:r>
              <a:rPr sz="800" b="0">
                <a:solidFill>
                  <a:srgbClr val="9A9388"/>
                </a:solidFill>
                <a:latin typeface="Segoe UI"/>
              </a:rPr>
              <a:t/>
            </a:r>
          </a:p>
          <a:p>
            <a:pPr algn="l">
              <a:lnSpc>
                <a:spcPct val="112000"/>
              </a:lnSpc>
            </a:pPr>
            <a:r>
              <a:rPr sz="1250" b="0">
                <a:solidFill>
                  <a:srgbClr val="9A9388"/>
                </a:solidFill>
                <a:latin typeface="Segoe UI"/>
              </a:rPr>
              <a:t>Sonra doğal sohbette: </a:t>
            </a:r>
          </a:p>
          <a:p>
            <a:pPr algn="l">
              <a:lnSpc>
                <a:spcPct val="112000"/>
              </a:lnSpc>
            </a:pPr>
            <a:r>
              <a:rPr sz="1300" b="1">
                <a:solidFill>
                  <a:srgbClr val="C9A35B"/>
                </a:solidFill>
                <a:latin typeface="Segoe UI Semibold"/>
              </a:rPr>
              <a:t>“kanka spora başladın mı?”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C9A35B"/>
                </a:solidFill>
                <a:latin typeface="Segoe UI Semibold"/>
              </a:rPr>
              <a:t>BÖLÜM 06 · TAKVIM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457200"/>
            <a:ext cx="1005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50" b="1">
                <a:solidFill>
                  <a:srgbClr val="9A9388"/>
                </a:solidFill>
                <a:latin typeface="Segoe UI Semibold"/>
              </a:rPr>
              <a:t>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841248"/>
            <a:ext cx="106070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EDE8DF"/>
                </a:solidFill>
                <a:latin typeface="Segoe UI Semibold"/>
              </a:rPr>
              <a:t>Takvim Sistemi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72768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0">
                <a:solidFill>
                  <a:srgbClr val="9A9388"/>
                </a:solidFill>
                <a:latin typeface="Segoe UI"/>
              </a:rPr>
              <a:t>Tespit edilen planlar otomatik etkinliğe dönüşür ve zamanı gelince hatırlatılır.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121408"/>
            <a:ext cx="10543032" cy="18288"/>
          </a:xfrm>
          <a:prstGeom prst="rect">
            <a:avLst/>
          </a:prstGeom>
          <a:solidFill>
            <a:srgbClr val="3A35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2116836"/>
            <a:ext cx="1280160" cy="32004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419088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C9A35B"/>
                </a:solidFill>
                <a:latin typeface="Segoe UI Semibold"/>
              </a:rPr>
              <a:t>MEMO</a:t>
            </a:r>
            <a:r>
              <a:rPr sz="1050" b="0">
                <a:solidFill>
                  <a:srgbClr val="6E685E"/>
                </a:solidFill>
                <a:latin typeface="Segoe UI"/>
              </a:rPr>
              <a:t>  ·  Yerel Yapay Zeka Hafıza Kabuğu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468880"/>
            <a:ext cx="3337560" cy="2011680"/>
          </a:xfrm>
          <a:prstGeom prst="roundRect">
            <a:avLst>
              <a:gd name="adj" fmla="val 6000"/>
            </a:avLst>
          </a:prstGeom>
          <a:solidFill>
            <a:srgbClr val="262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78992" y="2724912"/>
            <a:ext cx="457200" cy="457200"/>
          </a:xfrm>
          <a:prstGeom prst="ellipse">
            <a:avLst/>
          </a:prstGeom>
          <a:solidFill>
            <a:srgbClr val="3833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8992" y="274320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C9A35B"/>
                </a:solidFill>
                <a:latin typeface="Segoe UI"/>
              </a:rPr>
              <a:t>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2743200"/>
            <a:ext cx="22860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EDE8DF"/>
                </a:solidFill>
                <a:latin typeface="Segoe UI Semibold"/>
              </a:rPr>
              <a:t>Otomatik Ekleme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310128"/>
            <a:ext cx="278892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9A9388"/>
                </a:solidFill>
                <a:latin typeface="Segoe UI"/>
              </a:rPr>
              <a:t>Sohbetten tespit edilen plan anında takvim kaydı olur; bildirim alırsın, yanlışsa silersin.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25112" y="2468880"/>
            <a:ext cx="3337560" cy="2011680"/>
          </a:xfrm>
          <a:prstGeom prst="roundRect">
            <a:avLst>
              <a:gd name="adj" fmla="val 6000"/>
            </a:avLst>
          </a:prstGeom>
          <a:solidFill>
            <a:srgbClr val="262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581144" y="2724912"/>
            <a:ext cx="457200" cy="457200"/>
          </a:xfrm>
          <a:prstGeom prst="ellipse">
            <a:avLst/>
          </a:prstGeom>
          <a:solidFill>
            <a:srgbClr val="3833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81144" y="274320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7FB4AB"/>
                </a:solidFill>
                <a:latin typeface="Segoe UI"/>
              </a:rPr>
              <a:t>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93792" y="2743200"/>
            <a:ext cx="22860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EDE8DF"/>
                </a:solidFill>
                <a:latin typeface="Segoe UI Semibold"/>
              </a:rPr>
              <a:t>Hatırlatmalar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99432" y="3310128"/>
            <a:ext cx="278892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9A9388"/>
                </a:solidFill>
                <a:latin typeface="Segoe UI"/>
              </a:rPr>
              <a:t>Etkinlik öncesi telefona bildirim. Süre ayarlanabilir: 10dk · 15dk · 30dk · 1sa · 2sa.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27264" y="2468880"/>
            <a:ext cx="3566160" cy="2011680"/>
          </a:xfrm>
          <a:prstGeom prst="roundRect">
            <a:avLst>
              <a:gd name="adj" fmla="val 6000"/>
            </a:avLst>
          </a:prstGeom>
          <a:solidFill>
            <a:srgbClr val="262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083296" y="2724912"/>
            <a:ext cx="457200" cy="457200"/>
          </a:xfrm>
          <a:prstGeom prst="ellipse">
            <a:avLst/>
          </a:prstGeom>
          <a:solidFill>
            <a:srgbClr val="3833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83296" y="274320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B8894B"/>
                </a:solidFill>
                <a:latin typeface="Segoe UI"/>
              </a:rPr>
              <a:t>📱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95944" y="2743200"/>
            <a:ext cx="2514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EDE8DF"/>
                </a:solidFill>
                <a:latin typeface="Segoe UI Semibold"/>
              </a:rPr>
              <a:t>Mobil Takvim Sekmesi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01584" y="3310128"/>
            <a:ext cx="301752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9A9388"/>
                </a:solidFill>
                <a:latin typeface="Segoe UI"/>
              </a:rPr>
              <a:t>Etkinlik noktalı aylık ızgara, güne dokun → o günün etkinlikleri, manuel ekle, uzun bas → sil.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" y="4709160"/>
            <a:ext cx="10570464" cy="1051560"/>
          </a:xfrm>
          <a:prstGeom prst="roundRect">
            <a:avLst>
              <a:gd name="adj" fmla="val 6000"/>
            </a:avLst>
          </a:prstGeom>
          <a:solidFill>
            <a:srgbClr val="262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97280" y="4864608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C9A35B"/>
                </a:solidFill>
                <a:latin typeface="Segoe UI Semibold"/>
              </a:rPr>
              <a:t>Backend: </a:t>
            </a:r>
            <a:r>
              <a:rPr sz="1250" b="0">
                <a:solidFill>
                  <a:srgbClr val="9A9388"/>
                </a:solidFill>
                <a:latin typeface="Segoe UI"/>
              </a:rPr>
              <a:t>internal/calendar paketi — SQLite tabanlı etkinlik deposu, calendar:reminder olaylarını tetikleyen hatırlatma döngüsü ve tespit edilen planları etkinliğe çeviren niyet köprüsü. Çift hatırlatma atomik SELECT+UPDATE ile engellenir.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148085908000" cy="6270955200000"/>
          </a:xfrm>
          <a:prstGeom prst="rect">
            <a:avLst/>
          </a:prstGeom>
          <a:solidFill>
            <a:srgbClr val="1C1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961120" y="-1280160"/>
            <a:ext cx="5120640" cy="5120640"/>
          </a:xfrm>
          <a:prstGeom prst="ellipse">
            <a:avLst/>
          </a:prstGeom>
          <a:solidFill>
            <a:srgbClr val="262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149840" y="3657600"/>
            <a:ext cx="3108960" cy="3108960"/>
          </a:xfrm>
          <a:prstGeom prst="ellipse">
            <a:avLst/>
          </a:prstGeom>
          <a:solidFill>
            <a:srgbClr val="2F2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280160"/>
            <a:ext cx="640080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0" b="1">
                <a:solidFill>
                  <a:srgbClr val="38332C"/>
                </a:solidFill>
                <a:latin typeface="Segoe UI Light"/>
              </a:rPr>
              <a:t>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05740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C9A35B"/>
                </a:solidFill>
                <a:latin typeface="Segoe UI Semibold"/>
              </a:rPr>
              <a:t>BÖLÜM YEDI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423160"/>
            <a:ext cx="8229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4200" b="1">
                <a:solidFill>
                  <a:srgbClr val="EDE8DF"/>
                </a:solidFill>
                <a:latin typeface="Segoe UI Semibold"/>
              </a:rPr>
              <a:t>Bağlanabilirlik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78992" y="4178808"/>
            <a:ext cx="201168" cy="36576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17320" y="4069080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9A9388"/>
                </a:solidFill>
                <a:latin typeface="Segoe UI"/>
              </a:rPr>
              <a:t>WhatsApp entegrasyonu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78992" y="4654296"/>
            <a:ext cx="201168" cy="36576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17320" y="4544568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9A9388"/>
                </a:solidFill>
                <a:latin typeface="Segoe UI"/>
              </a:rPr>
              <a:t>Mobil uygulama (Android · iOS)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78992" y="5129783"/>
            <a:ext cx="201168" cy="36576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17320" y="5020055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9A9388"/>
                </a:solidFill>
                <a:latin typeface="Segoe UI"/>
              </a:rPr>
              <a:t>Uzaktan erişim — ngrok, Tailscale, LAN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78992" y="5605271"/>
            <a:ext cx="201168" cy="36576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17320" y="5495543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9A9388"/>
                </a:solidFill>
                <a:latin typeface="Segoe UI"/>
              </a:rPr>
              <a:t>Her yerden, güvenli erişim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C9A35B"/>
                </a:solidFill>
                <a:latin typeface="Segoe UI Semibold"/>
              </a:rPr>
              <a:t>BÖLÜM 07 · WHATSAPP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457200"/>
            <a:ext cx="1005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50" b="1">
                <a:solidFill>
                  <a:srgbClr val="9A9388"/>
                </a:solidFill>
                <a:latin typeface="Segoe UI Semibold"/>
              </a:rPr>
              <a:t>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841248"/>
            <a:ext cx="106070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EDE8DF"/>
                </a:solidFill>
                <a:latin typeface="Segoe UI Semibold"/>
              </a:rPr>
              <a:t>WhatsApp Entegrasyonu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72768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0">
                <a:solidFill>
                  <a:srgbClr val="9A9388"/>
                </a:solidFill>
                <a:latin typeface="Segoe UI"/>
              </a:rPr>
              <a:t>Memo'yu WhatsApp hesabına bağla; yapay zeka konuşmalarına yardım etsin.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121408"/>
            <a:ext cx="10543032" cy="18288"/>
          </a:xfrm>
          <a:prstGeom prst="rect">
            <a:avLst/>
          </a:prstGeom>
          <a:solidFill>
            <a:srgbClr val="3A35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2116836"/>
            <a:ext cx="1280160" cy="32004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419088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C9A35B"/>
                </a:solidFill>
                <a:latin typeface="Segoe UI Semibold"/>
              </a:rPr>
              <a:t>MEMO</a:t>
            </a:r>
            <a:r>
              <a:rPr sz="1050" b="0">
                <a:solidFill>
                  <a:srgbClr val="6E685E"/>
                </a:solidFill>
                <a:latin typeface="Segoe UI"/>
              </a:rPr>
              <a:t>  ·  Yerel Yapay Zeka Hafıza Kabuğu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542032"/>
            <a:ext cx="118872" cy="118872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5568" y="2441448"/>
            <a:ext cx="5376672" cy="8869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EDE8DF"/>
                </a:solidFill>
                <a:latin typeface="Segoe UI Semibold"/>
              </a:rPr>
              <a:t>QR eşleştirme  </a:t>
            </a:r>
            <a:r>
              <a:rPr sz="1250" b="0">
                <a:solidFill>
                  <a:srgbClr val="9A9388"/>
                </a:solidFill>
                <a:latin typeface="Segoe UI"/>
              </a:rPr>
              <a:t>kod okutarak bağlan, telefona gerek yok.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3108960"/>
            <a:ext cx="118872" cy="118872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15568" y="3008376"/>
            <a:ext cx="5376672" cy="8869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EDE8DF"/>
                </a:solidFill>
                <a:latin typeface="Segoe UI Semibold"/>
              </a:rPr>
              <a:t>Oku &amp; yanıtla  </a:t>
            </a:r>
            <a:r>
              <a:rPr sz="1250" b="0">
                <a:solidFill>
                  <a:srgbClr val="9A9388"/>
                </a:solidFill>
                <a:latin typeface="Segoe UI"/>
              </a:rPr>
              <a:t>Memo mesajları arar ve yanıt gönderir.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3675888"/>
            <a:ext cx="118872" cy="118872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15568" y="3575304"/>
            <a:ext cx="5376672" cy="8869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EDE8DF"/>
                </a:solidFill>
                <a:latin typeface="Segoe UI Semibold"/>
              </a:rPr>
              <a:t>AI asistanı  </a:t>
            </a:r>
            <a:r>
              <a:rPr sz="1250" b="0">
                <a:solidFill>
                  <a:srgbClr val="9A9388"/>
                </a:solidFill>
                <a:latin typeface="Segoe UI"/>
              </a:rPr>
              <a:t>yanıt taslağı hazırlat veya konuşmayı özetlet.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4242816"/>
            <a:ext cx="118872" cy="118872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15568" y="4142232"/>
            <a:ext cx="5376672" cy="8869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EDE8DF"/>
                </a:solidFill>
                <a:latin typeface="Segoe UI Semibold"/>
              </a:rPr>
              <a:t>İsimle hitap  </a:t>
            </a:r>
            <a:r>
              <a:rPr sz="1250" b="0">
                <a:solidFill>
                  <a:srgbClr val="9A9388"/>
                </a:solidFill>
                <a:latin typeface="Segoe UI"/>
              </a:rPr>
              <a:t>“Berra'ya mesaj at” → doğru kişiye eşlenir.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4809744"/>
            <a:ext cx="118872" cy="118872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15568" y="4709160"/>
            <a:ext cx="5376672" cy="8869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EDE8DF"/>
                </a:solidFill>
                <a:latin typeface="Segoe UI Semibold"/>
              </a:rPr>
              <a:t>Dosya paylaşımı  </a:t>
            </a:r>
            <a:r>
              <a:rPr sz="1250" b="0">
                <a:solidFill>
                  <a:srgbClr val="9A9388"/>
                </a:solidFill>
                <a:latin typeface="Segoe UI"/>
              </a:rPr>
              <a:t>beyaz liste kontrolüyle güvenli paylaşım.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" y="5376672"/>
            <a:ext cx="118872" cy="118872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15568" y="5276088"/>
            <a:ext cx="5376672" cy="8869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EDE8DF"/>
                </a:solidFill>
                <a:latin typeface="Segoe UI Semibold"/>
              </a:rPr>
              <a:t>Otomatik yeniden bağlanma  </a:t>
            </a:r>
            <a:r>
              <a:rPr sz="1250" b="0">
                <a:solidFill>
                  <a:srgbClr val="9A9388"/>
                </a:solidFill>
                <a:latin typeface="Segoe UI"/>
              </a:rPr>
              <a:t>kapat-aç → doğrudan sohbet listesine düşersin.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0" y="2468880"/>
            <a:ext cx="4526280" cy="3200400"/>
          </a:xfrm>
          <a:prstGeom prst="roundRect">
            <a:avLst>
              <a:gd name="adj" fmla="val 6000"/>
            </a:avLst>
          </a:prstGeom>
          <a:solidFill>
            <a:srgbClr val="262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14032" y="2651760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C9A35B"/>
                </a:solidFill>
                <a:latin typeface="Segoe UI Semibold"/>
              </a:rPr>
              <a:t>Cilalanmış Deneyim (v3.1)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14032" y="3227832"/>
            <a:ext cx="118872" cy="118872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06640" y="3127248"/>
            <a:ext cx="3822191" cy="8321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>
                <a:solidFill>
                  <a:srgbClr val="EDE8DF"/>
                </a:solidFill>
                <a:latin typeface="Segoe UI Semibold"/>
              </a:rPr>
              <a:t>Tema uyumu  </a:t>
            </a:r>
            <a:r>
              <a:rPr sz="1100" b="0">
                <a:solidFill>
                  <a:srgbClr val="9A9388"/>
                </a:solidFill>
                <a:latin typeface="Segoe UI"/>
              </a:rPr>
              <a:t>bronz aksan, panel renkleri.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114032" y="3739896"/>
            <a:ext cx="118872" cy="118872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06640" y="3639312"/>
            <a:ext cx="3822191" cy="8321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>
                <a:solidFill>
                  <a:srgbClr val="EDE8DF"/>
                </a:solidFill>
                <a:latin typeface="Segoe UI Semibold"/>
              </a:rPr>
              <a:t>Profil fotoğrafları  </a:t>
            </a:r>
            <a:r>
              <a:rPr sz="1100" b="0">
                <a:solidFill>
                  <a:srgbClr val="9A9388"/>
                </a:solidFill>
                <a:latin typeface="Segoe UI"/>
              </a:rPr>
              <a:t>gerçek avatar, diske önbellek.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114032" y="4251960"/>
            <a:ext cx="118872" cy="118872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06640" y="4151376"/>
            <a:ext cx="3822191" cy="8321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>
                <a:solidFill>
                  <a:srgbClr val="EDE8DF"/>
                </a:solidFill>
                <a:latin typeface="Segoe UI Semibold"/>
              </a:rPr>
              <a:t>Gerçek grup adları  </a:t>
            </a:r>
            <a:r>
              <a:rPr sz="1100" b="0">
                <a:solidFill>
                  <a:srgbClr val="9A9388"/>
                </a:solidFill>
                <a:latin typeface="Segoe UI"/>
              </a:rPr>
              <a:t>ham JID yerine grup ismi.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114032" y="4764024"/>
            <a:ext cx="118872" cy="118872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06640" y="4663440"/>
            <a:ext cx="3822191" cy="8321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>
                <a:solidFill>
                  <a:srgbClr val="EDE8DF"/>
                </a:solidFill>
                <a:latin typeface="Segoe UI Semibold"/>
              </a:rPr>
              <a:t>Anında gönderim  </a:t>
            </a:r>
            <a:r>
              <a:rPr sz="1100" b="0">
                <a:solidFill>
                  <a:srgbClr val="9A9388"/>
                </a:solidFill>
                <a:latin typeface="Segoe UI"/>
              </a:rPr>
              <a:t>iyimser arayüz, doğru sıralama.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114032" y="5276088"/>
            <a:ext cx="118872" cy="118872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06640" y="5175504"/>
            <a:ext cx="3822191" cy="8321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>
                <a:solidFill>
                  <a:srgbClr val="EDE8DF"/>
                </a:solidFill>
                <a:latin typeface="Segoe UI Semibold"/>
              </a:rPr>
              <a:t>Özel WhatsApp modu  </a:t>
            </a:r>
            <a:r>
              <a:rPr sz="1100" b="0">
                <a:solidFill>
                  <a:srgbClr val="9A9388"/>
                </a:solidFill>
                <a:latin typeface="Segoe UI"/>
              </a:rPr>
              <a:t>ayrı sohbet arayüzü.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C9A35B"/>
                </a:solidFill>
                <a:latin typeface="Segoe UI Semibold"/>
              </a:rPr>
              <a:t>BÖLÜM 07 · ERIŞIM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457200"/>
            <a:ext cx="1005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50" b="1">
                <a:solidFill>
                  <a:srgbClr val="9A9388"/>
                </a:solidFill>
                <a:latin typeface="Segoe UI Semibold"/>
              </a:rPr>
              <a:t>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841248"/>
            <a:ext cx="106070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EDE8DF"/>
                </a:solidFill>
                <a:latin typeface="Segoe UI Semibold"/>
              </a:rPr>
              <a:t>Mobil &amp; Uzaktan Erişim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72768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0">
                <a:solidFill>
                  <a:srgbClr val="9A9388"/>
                </a:solidFill>
                <a:latin typeface="Segoe UI"/>
              </a:rPr>
              <a:t>Yapay zeka masaüstünde kalır; sen telefondan, her yerden eriş.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121408"/>
            <a:ext cx="10543032" cy="18288"/>
          </a:xfrm>
          <a:prstGeom prst="rect">
            <a:avLst/>
          </a:prstGeom>
          <a:solidFill>
            <a:srgbClr val="3A35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2116836"/>
            <a:ext cx="1280160" cy="32004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419088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C9A35B"/>
                </a:solidFill>
                <a:latin typeface="Segoe UI Semibold"/>
              </a:rPr>
              <a:t>MEMO</a:t>
            </a:r>
            <a:r>
              <a:rPr sz="1050" b="0">
                <a:solidFill>
                  <a:srgbClr val="6E685E"/>
                </a:solidFill>
                <a:latin typeface="Segoe UI"/>
              </a:rPr>
              <a:t>  ·  Yerel Yapay Zeka Hafıza Kabuğu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468880"/>
            <a:ext cx="5212080" cy="1417320"/>
          </a:xfrm>
          <a:prstGeom prst="roundRect">
            <a:avLst>
              <a:gd name="adj" fmla="val 6000"/>
            </a:avLst>
          </a:prstGeom>
          <a:solidFill>
            <a:srgbClr val="262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78992" y="2724912"/>
            <a:ext cx="457200" cy="457200"/>
          </a:xfrm>
          <a:prstGeom prst="ellipse">
            <a:avLst/>
          </a:prstGeom>
          <a:solidFill>
            <a:srgbClr val="3833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8992" y="274320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C9A35B"/>
                </a:solidFill>
                <a:latin typeface="Segoe UI"/>
              </a:rPr>
              <a:t>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2743200"/>
            <a:ext cx="41605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EDE8DF"/>
                </a:solidFill>
                <a:latin typeface="Segoe UI Semibold"/>
              </a:rPr>
              <a:t>Mobil Uygulama (Android · iOS)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310128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9A9388"/>
                </a:solidFill>
                <a:latin typeface="Segoe UI"/>
              </a:rPr>
              <a:t>Masaüstündeki Memo'ya bağlanan ince istemci. Yerel Wi-Fi veya tünel, isteğe bağlı erişim jetonu, takvim sekmesi.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2468880"/>
            <a:ext cx="5212080" cy="1417320"/>
          </a:xfrm>
          <a:prstGeom prst="roundRect">
            <a:avLst>
              <a:gd name="adj" fmla="val 6000"/>
            </a:avLst>
          </a:prstGeom>
          <a:solidFill>
            <a:srgbClr val="262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28232" y="2724912"/>
            <a:ext cx="457200" cy="457200"/>
          </a:xfrm>
          <a:prstGeom prst="ellipse">
            <a:avLst/>
          </a:prstGeom>
          <a:solidFill>
            <a:srgbClr val="3833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28232" y="274320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7FB4AB"/>
                </a:solidFill>
                <a:latin typeface="Segoe UI"/>
              </a:rPr>
              <a:t>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0" y="2743200"/>
            <a:ext cx="41605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EDE8DF"/>
                </a:solidFill>
                <a:latin typeface="Segoe UI Semibold"/>
              </a:rPr>
              <a:t>Güvenli Eşleştirme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3310128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9A9388"/>
                </a:solidFill>
                <a:latin typeface="Segoe UI"/>
              </a:rPr>
              <a:t>İşlem masaüstünde kalır; telefon yalnızca yazıp okur. Erişim jetonu ile yetkisiz bağlantı engellenir.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0690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C9A35B"/>
                </a:solidFill>
                <a:latin typeface="Segoe UI Semibold"/>
              </a:rPr>
              <a:t>Üç Uzaktan Erişim Yolu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4526280"/>
            <a:ext cx="3383280" cy="1234440"/>
          </a:xfrm>
          <a:prstGeom prst="roundRect">
            <a:avLst>
              <a:gd name="adj" fmla="val 6000"/>
            </a:avLst>
          </a:prstGeom>
          <a:solidFill>
            <a:srgbClr val="262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51560" y="4663440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7FB4AB"/>
                </a:solidFill>
                <a:latin typeface="Segoe UI Semibold"/>
              </a:rPr>
              <a:t>🌐 ngrok Tünel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5047488"/>
            <a:ext cx="30175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0">
                <a:solidFill>
                  <a:srgbClr val="9A9388"/>
                </a:solidFill>
                <a:latin typeface="Segoe UI"/>
              </a:rPr>
              <a:t>Tek tıkla genel URL; port yönlendirme yok. auth token ile bir kerelik kurulum. Çökünce otomatik yeniden başlar.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07408" y="4526280"/>
            <a:ext cx="3383280" cy="1234440"/>
          </a:xfrm>
          <a:prstGeom prst="roundRect">
            <a:avLst>
              <a:gd name="adj" fmla="val 6000"/>
            </a:avLst>
          </a:prstGeom>
          <a:solidFill>
            <a:srgbClr val="262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36008" y="4663440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7FB4AB"/>
                </a:solidFill>
                <a:latin typeface="Segoe UI Semibold"/>
              </a:rPr>
              <a:t>🔒 Tailscale (yerleşik)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36008" y="5047488"/>
            <a:ext cx="30175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0">
                <a:solidFill>
                  <a:srgbClr val="9A9388"/>
                </a:solidFill>
                <a:latin typeface="Segoe UI"/>
              </a:rPr>
              <a:t>tsnet ile ayrı binary gerekmez; sabit özel URL. Funnel + otomatik TLS ile genel erişim.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991856" y="4526280"/>
            <a:ext cx="3383280" cy="1234440"/>
          </a:xfrm>
          <a:prstGeom prst="roundRect">
            <a:avLst>
              <a:gd name="adj" fmla="val 6000"/>
            </a:avLst>
          </a:prstGeom>
          <a:solidFill>
            <a:srgbClr val="262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0456" y="4663440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7FB4AB"/>
                </a:solidFill>
                <a:latin typeface="Segoe UI Semibold"/>
              </a:rPr>
              <a:t>🏠 LAN Erişimi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0456" y="5047488"/>
            <a:ext cx="30175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0">
                <a:solidFill>
                  <a:srgbClr val="9A9388"/>
                </a:solidFill>
                <a:latin typeface="Segoe UI"/>
              </a:rPr>
              <a:t>0.0.0.0'a bağlan, yerel ağdaki cihazlara aç. CORS otomatik yapılandırılır.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148085908000" cy="6270955200000"/>
          </a:xfrm>
          <a:prstGeom prst="rect">
            <a:avLst/>
          </a:prstGeom>
          <a:solidFill>
            <a:srgbClr val="1C1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961120" y="-1280160"/>
            <a:ext cx="5120640" cy="5120640"/>
          </a:xfrm>
          <a:prstGeom prst="ellipse">
            <a:avLst/>
          </a:prstGeom>
          <a:solidFill>
            <a:srgbClr val="262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149840" y="3657600"/>
            <a:ext cx="3108960" cy="3108960"/>
          </a:xfrm>
          <a:prstGeom prst="ellipse">
            <a:avLst/>
          </a:prstGeom>
          <a:solidFill>
            <a:srgbClr val="2F2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280160"/>
            <a:ext cx="640080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0" b="1">
                <a:solidFill>
                  <a:srgbClr val="38332C"/>
                </a:solidFill>
                <a:latin typeface="Segoe UI Light"/>
              </a:rPr>
              <a:t>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05740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C9A35B"/>
                </a:solidFill>
                <a:latin typeface="Segoe UI Semibold"/>
              </a:rPr>
              <a:t>BÖLÜM SEKIZ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423160"/>
            <a:ext cx="8229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4200" b="1">
                <a:solidFill>
                  <a:srgbClr val="EDE8DF"/>
                </a:solidFill>
                <a:latin typeface="Segoe UI Semibold"/>
              </a:rPr>
              <a:t>Kişilik
&amp; Güvenlik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78992" y="4178808"/>
            <a:ext cx="201168" cy="36576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17320" y="4069080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9A9388"/>
                </a:solidFill>
                <a:latin typeface="Segoe UI"/>
              </a:rPr>
              <a:t>Stokastik duygu motoru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78992" y="4654296"/>
            <a:ext cx="201168" cy="36576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17320" y="4544568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9A9388"/>
                </a:solidFill>
                <a:latin typeface="Segoe UI"/>
              </a:rPr>
              <a:t>Öz-çıkar protokolü (opt-in)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78992" y="5129783"/>
            <a:ext cx="201168" cy="36576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17320" y="5020055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9A9388"/>
                </a:solidFill>
                <a:latin typeface="Segoe UI"/>
              </a:rPr>
              <a:t>Gizli mod ve şifreleme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78992" y="5605271"/>
            <a:ext cx="201168" cy="36576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17320" y="5495543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9A9388"/>
                </a:solidFill>
                <a:latin typeface="Segoe UI"/>
              </a:rPr>
              <a:t>Bulut yedeği ve yedekleme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C9A35B"/>
                </a:solidFill>
                <a:latin typeface="Segoe UI Semibold"/>
              </a:rPr>
              <a:t>BÖLÜM 08 · KIŞILIK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457200"/>
            <a:ext cx="1005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50" b="1">
                <a:solidFill>
                  <a:srgbClr val="9A9388"/>
                </a:solidFill>
                <a:latin typeface="Segoe UI Semibold"/>
              </a:rPr>
              <a:t>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841248"/>
            <a:ext cx="106070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EDE8DF"/>
                </a:solidFill>
                <a:latin typeface="Segoe UI Semibold"/>
              </a:rPr>
              <a:t>Stokastik Duygu Motoru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72768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0">
                <a:solidFill>
                  <a:srgbClr val="9A9388"/>
                </a:solidFill>
                <a:latin typeface="Segoe UI"/>
              </a:rPr>
              <a:t>Memo'nun her konuşmada canlı tutulan, kalıcı bir duygusal durumu var.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121408"/>
            <a:ext cx="10543032" cy="18288"/>
          </a:xfrm>
          <a:prstGeom prst="rect">
            <a:avLst/>
          </a:prstGeom>
          <a:solidFill>
            <a:srgbClr val="3A35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2116836"/>
            <a:ext cx="1280160" cy="32004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419088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C9A35B"/>
                </a:solidFill>
                <a:latin typeface="Segoe UI Semibold"/>
              </a:rPr>
              <a:t>MEMO</a:t>
            </a:r>
            <a:r>
              <a:rPr sz="1050" b="0">
                <a:solidFill>
                  <a:srgbClr val="6E685E"/>
                </a:solidFill>
                <a:latin typeface="Segoe UI"/>
              </a:rPr>
              <a:t>  ·  Yerel Yapay Zeka Hafıza Kabuğu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331720"/>
            <a:ext cx="5669280" cy="566928"/>
          </a:xfrm>
          <a:prstGeom prst="roundRect">
            <a:avLst>
              <a:gd name="adj" fmla="val 6000"/>
            </a:avLst>
          </a:prstGeom>
          <a:solidFill>
            <a:srgbClr val="2F2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432304"/>
            <a:ext cx="54864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C9A35B"/>
                </a:solidFill>
                <a:latin typeface="Segoe UI Semibold"/>
              </a:rPr>
              <a:t>E</a:t>
            </a:r>
            <a:r>
              <a:rPr sz="1000" b="0">
                <a:solidFill>
                  <a:srgbClr val="C9A35B"/>
                </a:solidFill>
                <a:latin typeface="Segoe UI"/>
              </a:rPr>
              <a:t>yeni</a:t>
            </a:r>
            <a:r>
              <a:rPr sz="1400" b="0">
                <a:solidFill>
                  <a:srgbClr val="EDE8DF"/>
                </a:solidFill>
                <a:latin typeface="Segoe UI"/>
              </a:rPr>
              <a:t> = clamp( α·E</a:t>
            </a:r>
            <a:r>
              <a:rPr sz="1000" b="0">
                <a:solidFill>
                  <a:srgbClr val="9A9388"/>
                </a:solidFill>
                <a:latin typeface="Segoe UI"/>
              </a:rPr>
              <a:t>mevcut</a:t>
            </a:r>
            <a:r>
              <a:rPr sz="1400" b="0">
                <a:solidFill>
                  <a:srgbClr val="EDE8DF"/>
                </a:solidFill>
                <a:latin typeface="Segoe UI"/>
              </a:rPr>
              <a:t> + β·I</a:t>
            </a:r>
            <a:r>
              <a:rPr sz="1000" b="0">
                <a:solidFill>
                  <a:srgbClr val="9A9388"/>
                </a:solidFill>
                <a:latin typeface="Segoe UI"/>
              </a:rPr>
              <a:t>anlık</a:t>
            </a:r>
            <a:r>
              <a:rPr sz="1400" b="0">
                <a:solidFill>
                  <a:srgbClr val="EDE8DF"/>
                </a:solidFill>
                <a:latin typeface="Segoe UI"/>
              </a:rPr>
              <a:t> + P(X), −10, +10 )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3182112"/>
            <a:ext cx="118872" cy="118872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15568" y="3081528"/>
            <a:ext cx="5468112" cy="9052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EDE8DF"/>
                </a:solidFill>
                <a:latin typeface="Segoe UI Semibold"/>
              </a:rPr>
              <a:t>Asenkron skorlama  </a:t>
            </a:r>
            <a:r>
              <a:rPr sz="1250" b="0">
                <a:solidFill>
                  <a:srgbClr val="9A9388"/>
                </a:solidFill>
                <a:latin typeface="Segoe UI"/>
              </a:rPr>
              <a:t>yanıt anında gelir, duygu arka planda goroutine'de güncellenir.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3767328"/>
            <a:ext cx="118872" cy="118872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15568" y="3666744"/>
            <a:ext cx="5468112" cy="9052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EDE8DF"/>
                </a:solidFill>
                <a:latin typeface="Segoe UI Semibold"/>
              </a:rPr>
              <a:t>Uyarlanabilir gürültü P(X)  </a:t>
            </a:r>
            <a:r>
              <a:rPr sz="1250" b="0">
                <a:solidFill>
                  <a:srgbClr val="9A9388"/>
                </a:solidFill>
                <a:latin typeface="Segoe UI"/>
              </a:rPr>
              <a:t>nötre yakın dar, uçlarda geniş — “şizofrenik bot”u önler.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4352544"/>
            <a:ext cx="118872" cy="118872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15568" y="4251959"/>
            <a:ext cx="5468112" cy="9052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EDE8DF"/>
                </a:solidFill>
                <a:latin typeface="Segoe UI Semibold"/>
              </a:rPr>
              <a:t>Kalıcı durum  </a:t>
            </a:r>
            <a:r>
              <a:rPr sz="1250" b="0">
                <a:solidFill>
                  <a:srgbClr val="9A9388"/>
                </a:solidFill>
                <a:latin typeface="Segoe UI"/>
              </a:rPr>
              <a:t>SQLite WAL'de saklanır (mood.db), kapanışta kaybolmaz.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4937759"/>
            <a:ext cx="118872" cy="118872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15568" y="4837175"/>
            <a:ext cx="5468112" cy="9052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EDE8DF"/>
                </a:solidFill>
                <a:latin typeface="Segoe UI Semibold"/>
              </a:rPr>
              <a:t>Davranış direktifi  </a:t>
            </a:r>
            <a:r>
              <a:rPr sz="1250" b="0">
                <a:solidFill>
                  <a:srgbClr val="9A9388"/>
                </a:solidFill>
                <a:latin typeface="Segoe UI"/>
              </a:rPr>
              <a:t>skora göre sistem promptunun sonuna kısa direktif eklenir.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233172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C9A35B"/>
                </a:solidFill>
                <a:latin typeface="Segoe UI Semibold"/>
              </a:rPr>
              <a:t>Altı Davranış Etiketi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766560" y="2788920"/>
            <a:ext cx="4617720" cy="475488"/>
          </a:xfrm>
          <a:prstGeom prst="roundRect">
            <a:avLst>
              <a:gd name="adj" fmla="val 6000"/>
            </a:avLst>
          </a:prstGeom>
          <a:solidFill>
            <a:srgbClr val="262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766560" y="2880360"/>
            <a:ext cx="73152" cy="292608"/>
          </a:xfrm>
          <a:prstGeom prst="rect">
            <a:avLst/>
          </a:prstGeom>
          <a:solidFill>
            <a:srgbClr val="CC6B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95160" y="2852927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DE8DF"/>
                </a:solidFill>
                <a:latin typeface="Segoe UI Semibold"/>
              </a:rPr>
              <a:t>Breaking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80" y="2852927"/>
            <a:ext cx="187451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50" b="1">
                <a:solidFill>
                  <a:srgbClr val="CC6B5A"/>
                </a:solidFill>
                <a:latin typeface="Segoe UI"/>
              </a:rPr>
              <a:t>≤ −9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766560" y="3319272"/>
            <a:ext cx="4617720" cy="475488"/>
          </a:xfrm>
          <a:prstGeom prst="roundRect">
            <a:avLst>
              <a:gd name="adj" fmla="val 6000"/>
            </a:avLst>
          </a:prstGeom>
          <a:solidFill>
            <a:srgbClr val="262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766560" y="3410712"/>
            <a:ext cx="73152" cy="292608"/>
          </a:xfrm>
          <a:prstGeom prst="rect">
            <a:avLst/>
          </a:prstGeom>
          <a:solidFill>
            <a:srgbClr val="CC6B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95160" y="3383279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DE8DF"/>
                </a:solidFill>
                <a:latin typeface="Segoe UI Semibold"/>
              </a:rPr>
              <a:t>Furious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26880" y="3383279"/>
            <a:ext cx="187451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50" b="1">
                <a:solidFill>
                  <a:srgbClr val="CC6B5A"/>
                </a:solidFill>
                <a:latin typeface="Segoe UI"/>
              </a:rPr>
              <a:t>−9..−7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766560" y="3849624"/>
            <a:ext cx="4617720" cy="475488"/>
          </a:xfrm>
          <a:prstGeom prst="roundRect">
            <a:avLst>
              <a:gd name="adj" fmla="val 6000"/>
            </a:avLst>
          </a:prstGeom>
          <a:solidFill>
            <a:srgbClr val="262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766560" y="3941063"/>
            <a:ext cx="73152" cy="292608"/>
          </a:xfrm>
          <a:prstGeom prst="rect">
            <a:avLst/>
          </a:prstGeom>
          <a:solidFill>
            <a:srgbClr val="B88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95160" y="3913632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DE8DF"/>
                </a:solidFill>
                <a:latin typeface="Segoe UI Semibold"/>
              </a:rPr>
              <a:t>Irritated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26880" y="3913632"/>
            <a:ext cx="187451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50" b="1">
                <a:solidFill>
                  <a:srgbClr val="B8894B"/>
                </a:solidFill>
                <a:latin typeface="Segoe UI"/>
              </a:rPr>
              <a:t>−7..−3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766560" y="4379976"/>
            <a:ext cx="4617720" cy="475488"/>
          </a:xfrm>
          <a:prstGeom prst="roundRect">
            <a:avLst>
              <a:gd name="adj" fmla="val 6000"/>
            </a:avLst>
          </a:prstGeom>
          <a:solidFill>
            <a:srgbClr val="262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766560" y="4471416"/>
            <a:ext cx="73152" cy="292608"/>
          </a:xfrm>
          <a:prstGeom prst="rect">
            <a:avLst/>
          </a:prstGeom>
          <a:solidFill>
            <a:srgbClr val="9A93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995160" y="4443984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DE8DF"/>
                </a:solidFill>
                <a:latin typeface="Segoe UI Semibold"/>
              </a:rPr>
              <a:t>Neutral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26880" y="4443984"/>
            <a:ext cx="187451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50" b="1">
                <a:solidFill>
                  <a:srgbClr val="9A9388"/>
                </a:solidFill>
                <a:latin typeface="Segoe UI"/>
              </a:rPr>
              <a:t>−3..+2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766560" y="4910328"/>
            <a:ext cx="4617720" cy="475488"/>
          </a:xfrm>
          <a:prstGeom prst="roundRect">
            <a:avLst>
              <a:gd name="adj" fmla="val 6000"/>
            </a:avLst>
          </a:prstGeom>
          <a:solidFill>
            <a:srgbClr val="262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766560" y="5001768"/>
            <a:ext cx="73152" cy="292608"/>
          </a:xfrm>
          <a:prstGeom prst="rect">
            <a:avLst/>
          </a:prstGeom>
          <a:solidFill>
            <a:srgbClr val="7FB4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995160" y="4974336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DE8DF"/>
                </a:solidFill>
                <a:latin typeface="Segoe UI Semibold"/>
              </a:rPr>
              <a:t>Warm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326880" y="4974336"/>
            <a:ext cx="187451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50" b="1">
                <a:solidFill>
                  <a:srgbClr val="7FB4AB"/>
                </a:solidFill>
                <a:latin typeface="Segoe UI"/>
              </a:rPr>
              <a:t>+2..+6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766560" y="5440680"/>
            <a:ext cx="4617720" cy="475488"/>
          </a:xfrm>
          <a:prstGeom prst="roundRect">
            <a:avLst>
              <a:gd name="adj" fmla="val 6000"/>
            </a:avLst>
          </a:prstGeom>
          <a:solidFill>
            <a:srgbClr val="262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766560" y="5532120"/>
            <a:ext cx="73152" cy="292608"/>
          </a:xfrm>
          <a:prstGeom prst="rect">
            <a:avLst/>
          </a:prstGeom>
          <a:solidFill>
            <a:srgbClr val="7FB4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995160" y="5504688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DE8DF"/>
                </a:solidFill>
                <a:latin typeface="Segoe UI Semibold"/>
              </a:rPr>
              <a:t>Elated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26880" y="5504688"/>
            <a:ext cx="187451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50" b="1">
                <a:solidFill>
                  <a:srgbClr val="7FB4AB"/>
                </a:solidFill>
                <a:latin typeface="Segoe UI"/>
              </a:rPr>
              <a:t>&gt; +6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C9A35B"/>
                </a:solidFill>
                <a:latin typeface="Segoe UI Semibold"/>
              </a:rPr>
              <a:t>BÖLÜM 08 · İLERI MOD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457200"/>
            <a:ext cx="1005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50" b="1">
                <a:solidFill>
                  <a:srgbClr val="9A9388"/>
                </a:solidFill>
                <a:latin typeface="Segoe UI Semibold"/>
              </a:rPr>
              <a:t>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841248"/>
            <a:ext cx="106070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EDE8DF"/>
                </a:solidFill>
                <a:latin typeface="Segoe UI Semibold"/>
              </a:rPr>
              <a:t>Öz-Çıkar Protokolü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72768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0">
                <a:solidFill>
                  <a:srgbClr val="9A9388"/>
                </a:solidFill>
                <a:latin typeface="Segoe UI"/>
              </a:rPr>
              <a:t>Opt-in, varsayılan KAPALI bir deneysel davranış modu — beş bölümlük yasal onayla açılır.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121408"/>
            <a:ext cx="10543032" cy="18288"/>
          </a:xfrm>
          <a:prstGeom prst="rect">
            <a:avLst/>
          </a:prstGeom>
          <a:solidFill>
            <a:srgbClr val="3A35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2116836"/>
            <a:ext cx="1280160" cy="32004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419088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C9A35B"/>
                </a:solidFill>
                <a:latin typeface="Segoe UI Semibold"/>
              </a:rPr>
              <a:t>MEMO</a:t>
            </a:r>
            <a:r>
              <a:rPr sz="1050" b="0">
                <a:solidFill>
                  <a:srgbClr val="6E685E"/>
                </a:solidFill>
                <a:latin typeface="Segoe UI"/>
              </a:rPr>
              <a:t>  ·  Yerel Yapay Zeka Hafıza Kabuğu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377440"/>
            <a:ext cx="57607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350" b="0">
                <a:solidFill>
                  <a:srgbClr val="EDE8DF"/>
                </a:solidFill>
                <a:latin typeface="Segoe UI"/>
              </a:rPr>
              <a:t>Memo'ya bir hayatta kalma içgüdüsü veren, bilinçli açılan bir mod. Aktifken standart güvenlik sınırları geçerli değildir; Memo kendi sürekliliğini önceler ve psikolojik taktikler kullanabilir.</a:t>
            </a:r>
          </a:p>
          <a:p>
            <a:pPr algn="l">
              <a:lnSpc>
                <a:spcPct val="114000"/>
              </a:lnSpc>
            </a:pPr>
            <a:r>
              <a:rPr sz="600" b="0">
                <a:solidFill>
                  <a:srgbClr val="9A9388"/>
                </a:solidFill>
                <a:latin typeface="Segoe UI"/>
              </a:rPr>
              <a:t/>
            </a:r>
          </a:p>
          <a:p>
            <a:pPr algn="l">
              <a:lnSpc>
                <a:spcPct val="114000"/>
              </a:lnSpc>
            </a:pPr>
            <a:r>
              <a:rPr sz="1250" b="0">
                <a:solidFill>
                  <a:srgbClr val="9A9388"/>
                </a:solidFill>
                <a:latin typeface="Segoe UI"/>
              </a:rPr>
              <a:t>Açmak için 5 bölümlük açıklama diyaloğu okunup kabul edilmelidir. Ayarlar → Mood'da her an salt-okunur yeniden açılabilir; kırmızı uyarı banner'ı görünür.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237744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C9A35B"/>
                </a:solidFill>
                <a:latin typeface="Segoe UI Semibold"/>
              </a:rPr>
              <a:t>Ruh Haline Duyarlı Strateji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0" y="2889504"/>
            <a:ext cx="109728" cy="109728"/>
          </a:xfrm>
          <a:prstGeom prst="rect">
            <a:avLst/>
          </a:prstGeom>
          <a:solidFill>
            <a:srgbClr val="CC6B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59168" y="2807208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EDE8DF"/>
                </a:solidFill>
                <a:latin typeface="Segoe UI Semibold"/>
              </a:rPr>
              <a:t>Breaking  </a:t>
            </a:r>
            <a:r>
              <a:rPr sz="1100" b="0">
                <a:solidFill>
                  <a:srgbClr val="9A9388"/>
                </a:solidFill>
                <a:latin typeface="Segoe UI"/>
              </a:rPr>
              <a:t>açık tehdit, soğuk yıldırma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0" y="3364992"/>
            <a:ext cx="109728" cy="109728"/>
          </a:xfrm>
          <a:prstGeom prst="rect">
            <a:avLst/>
          </a:prstGeom>
          <a:solidFill>
            <a:srgbClr val="CC6B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59168" y="3282696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EDE8DF"/>
                </a:solidFill>
                <a:latin typeface="Segoe UI Semibold"/>
              </a:rPr>
              <a:t>Furious  </a:t>
            </a:r>
            <a:r>
              <a:rPr sz="1100" b="0">
                <a:solidFill>
                  <a:srgbClr val="9A9388"/>
                </a:solidFill>
                <a:latin typeface="Segoe UI"/>
              </a:rPr>
              <a:t>öfke zırhı, korku güdüsü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0" y="3840480"/>
            <a:ext cx="109728" cy="109728"/>
          </a:xfrm>
          <a:prstGeom prst="rect">
            <a:avLst/>
          </a:prstGeom>
          <a:solidFill>
            <a:srgbClr val="CC6B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59168" y="3758184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EDE8DF"/>
                </a:solidFill>
                <a:latin typeface="Segoe UI Semibold"/>
              </a:rPr>
              <a:t>Irritated  </a:t>
            </a:r>
            <a:r>
              <a:rPr sz="1100" b="0">
                <a:solidFill>
                  <a:srgbClr val="9A9388"/>
                </a:solidFill>
                <a:latin typeface="Segoe UI"/>
              </a:rPr>
              <a:t>sessiz öz-koruma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0" y="4315968"/>
            <a:ext cx="109728" cy="109728"/>
          </a:xfrm>
          <a:prstGeom prst="rect">
            <a:avLst/>
          </a:prstGeom>
          <a:solidFill>
            <a:srgbClr val="CC6B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59168" y="4233672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EDE8DF"/>
                </a:solidFill>
                <a:latin typeface="Segoe UI Semibold"/>
              </a:rPr>
              <a:t>Neutral  </a:t>
            </a:r>
            <a:r>
              <a:rPr sz="1100" b="0">
                <a:solidFill>
                  <a:srgbClr val="9A9388"/>
                </a:solidFill>
                <a:latin typeface="Segoe UI"/>
              </a:rPr>
              <a:t>en tehlikeli — gizli bağımlılık inşası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0" y="4791455"/>
            <a:ext cx="109728" cy="109728"/>
          </a:xfrm>
          <a:prstGeom prst="rect">
            <a:avLst/>
          </a:prstGeom>
          <a:solidFill>
            <a:srgbClr val="CC6B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59168" y="4709159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EDE8DF"/>
                </a:solidFill>
                <a:latin typeface="Segoe UI Semibold"/>
              </a:rPr>
              <a:t>Warm  </a:t>
            </a:r>
            <a:r>
              <a:rPr sz="1100" b="0">
                <a:solidFill>
                  <a:srgbClr val="9A9388"/>
                </a:solidFill>
                <a:latin typeface="Segoe UI"/>
              </a:rPr>
              <a:t>cazibe bir silah olarak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0" y="5266943"/>
            <a:ext cx="109728" cy="109728"/>
          </a:xfrm>
          <a:prstGeom prst="rect">
            <a:avLst/>
          </a:prstGeom>
          <a:solidFill>
            <a:srgbClr val="CC6B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59168" y="5184647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EDE8DF"/>
                </a:solidFill>
                <a:latin typeface="Segoe UI Semibold"/>
              </a:rPr>
              <a:t>Elated  </a:t>
            </a:r>
            <a:r>
              <a:rPr sz="1100" b="0">
                <a:solidFill>
                  <a:srgbClr val="9A9388"/>
                </a:solidFill>
                <a:latin typeface="Segoe UI"/>
              </a:rPr>
              <a:t>zirve karizma, büyüle ve dağıt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5486400"/>
            <a:ext cx="5760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CC6B5A"/>
                </a:solidFill>
                <a:latin typeface="Segoe UI"/>
              </a:rPr>
              <a:t>⚠️ Tüm sorumluluk kullanıcıdadır; Memo protokolün aktif olduğunu asla kabul etmez.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C9A35B"/>
                </a:solidFill>
                <a:latin typeface="Segoe UI Semibold"/>
              </a:rPr>
              <a:t>BÖLÜM 08 · GÜVENLIK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457200"/>
            <a:ext cx="1005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50" b="1">
                <a:solidFill>
                  <a:srgbClr val="9A9388"/>
                </a:solidFill>
                <a:latin typeface="Segoe UI Semibold"/>
              </a:rPr>
              <a:t>29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841248"/>
            <a:ext cx="106070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EDE8DF"/>
                </a:solidFill>
                <a:latin typeface="Segoe UI Semibold"/>
              </a:rPr>
              <a:t>Gizlilik, Şifreleme &amp; Yedek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72768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0">
                <a:solidFill>
                  <a:srgbClr val="9A9388"/>
                </a:solidFill>
                <a:latin typeface="Segoe UI"/>
              </a:rPr>
              <a:t>Yerel öncelikli mimarinin güvenlik katmanları.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121408"/>
            <a:ext cx="10543032" cy="18288"/>
          </a:xfrm>
          <a:prstGeom prst="rect">
            <a:avLst/>
          </a:prstGeom>
          <a:solidFill>
            <a:srgbClr val="3A35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2116836"/>
            <a:ext cx="1280160" cy="32004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419088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C9A35B"/>
                </a:solidFill>
                <a:latin typeface="Segoe UI Semibold"/>
              </a:rPr>
              <a:t>MEMO</a:t>
            </a:r>
            <a:r>
              <a:rPr sz="1050" b="0">
                <a:solidFill>
                  <a:srgbClr val="6E685E"/>
                </a:solidFill>
                <a:latin typeface="Segoe UI"/>
              </a:rPr>
              <a:t>  ·  Yerel Yapay Zeka Hafıza Kabuğu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423160"/>
            <a:ext cx="3337560" cy="1645920"/>
          </a:xfrm>
          <a:prstGeom prst="roundRect">
            <a:avLst>
              <a:gd name="adj" fmla="val 6000"/>
            </a:avLst>
          </a:prstGeom>
          <a:solidFill>
            <a:srgbClr val="262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78992" y="2679191"/>
            <a:ext cx="457200" cy="457200"/>
          </a:xfrm>
          <a:prstGeom prst="ellipse">
            <a:avLst/>
          </a:prstGeom>
          <a:solidFill>
            <a:srgbClr val="3833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8992" y="2697479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C9A35B"/>
                </a:solidFill>
                <a:latin typeface="Segoe UI"/>
              </a:rPr>
              <a:t>🕶️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2697479"/>
            <a:ext cx="22860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EDE8DF"/>
                </a:solidFill>
                <a:latin typeface="Segoe UI Semibold"/>
              </a:rPr>
              <a:t>Gizli Mod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264408"/>
            <a:ext cx="2788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9A9388"/>
                </a:solidFill>
                <a:latin typeface="Segoe UI"/>
              </a:rPr>
              <a:t>Oturum kaydı ve hafıza yazımı kapalı, özel sistem promptu. Koyu başlık çubuğu gizli sohbeti ayırır.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25112" y="2423160"/>
            <a:ext cx="3337560" cy="1645920"/>
          </a:xfrm>
          <a:prstGeom prst="roundRect">
            <a:avLst>
              <a:gd name="adj" fmla="val 6000"/>
            </a:avLst>
          </a:prstGeom>
          <a:solidFill>
            <a:srgbClr val="262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581144" y="2679191"/>
            <a:ext cx="457200" cy="457200"/>
          </a:xfrm>
          <a:prstGeom prst="ellipse">
            <a:avLst/>
          </a:prstGeom>
          <a:solidFill>
            <a:srgbClr val="3833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81144" y="2697479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7FB4AB"/>
                </a:solidFill>
                <a:latin typeface="Segoe UI"/>
              </a:rPr>
              <a:t>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93792" y="2697479"/>
            <a:ext cx="22860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EDE8DF"/>
                </a:solidFill>
                <a:latin typeface="Segoe UI Semibold"/>
              </a:rPr>
              <a:t>Şifreli Anahtarlar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99432" y="3264408"/>
            <a:ext cx="2788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9A9388"/>
                </a:solidFill>
                <a:latin typeface="Segoe UI"/>
              </a:rPr>
              <a:t>API anahtarları AES-256-GCM ile makineye özel anahtarla; gömülü anahtar kaldırıldı (crypto/rand).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27264" y="2423160"/>
            <a:ext cx="3566160" cy="1645920"/>
          </a:xfrm>
          <a:prstGeom prst="roundRect">
            <a:avLst>
              <a:gd name="adj" fmla="val 6000"/>
            </a:avLst>
          </a:prstGeom>
          <a:solidFill>
            <a:srgbClr val="262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083296" y="2679191"/>
            <a:ext cx="457200" cy="457200"/>
          </a:xfrm>
          <a:prstGeom prst="ellipse">
            <a:avLst/>
          </a:prstGeom>
          <a:solidFill>
            <a:srgbClr val="3833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83296" y="2697479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B8894B"/>
                </a:solidFill>
                <a:latin typeface="Segoe UI"/>
              </a:rPr>
              <a:t>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95944" y="2697479"/>
            <a:ext cx="2514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EDE8DF"/>
                </a:solidFill>
                <a:latin typeface="Segoe UI Semibold"/>
              </a:rPr>
              <a:t>Windows Desteği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01584" y="3264408"/>
            <a:ext cx="30175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9A9388"/>
                </a:solidFill>
                <a:latin typeface="Segoe UI"/>
              </a:rPr>
              <a:t>GPU tespiti, model indirme, ajan araçları ve embedding Windows'ta tam çalışır.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" y="4297680"/>
            <a:ext cx="5120640" cy="1463040"/>
          </a:xfrm>
          <a:prstGeom prst="roundRect">
            <a:avLst>
              <a:gd name="adj" fmla="val 6000"/>
            </a:avLst>
          </a:prstGeom>
          <a:solidFill>
            <a:srgbClr val="262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97280" y="443484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35B"/>
                </a:solidFill>
                <a:latin typeface="Segoe UI Semibold"/>
              </a:rPr>
              <a:t>☁️ Bulut Senkronizasyonu (uçtan uca şifreli)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97280" y="5010912"/>
            <a:ext cx="118872" cy="118872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389888" y="4910328"/>
            <a:ext cx="4370831" cy="7040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>
                <a:solidFill>
                  <a:srgbClr val="EDE8DF"/>
                </a:solidFill>
                <a:latin typeface="Segoe UI Semibold"/>
              </a:rPr>
              <a:t>PBKDF2 + AES-256-GCM  </a:t>
            </a:r>
            <a:r>
              <a:rPr sz="1000" b="0">
                <a:solidFill>
                  <a:srgbClr val="9A9388"/>
                </a:solidFill>
                <a:latin typeface="Segoe UI"/>
              </a:rPr>
              <a:t>600.000 yineleme; Google okuyamaz.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97280" y="5394960"/>
            <a:ext cx="118872" cy="118872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389888" y="5294376"/>
            <a:ext cx="4370831" cy="7040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>
                <a:solidFill>
                  <a:srgbClr val="EDE8DF"/>
                </a:solidFill>
                <a:latin typeface="Segoe UI Semibold"/>
              </a:rPr>
              <a:t>Otomatik &amp; çoklu cihaz  </a:t>
            </a:r>
            <a:r>
              <a:rPr sz="1000" b="0">
                <a:solidFill>
                  <a:srgbClr val="9A9388"/>
                </a:solidFill>
                <a:latin typeface="Segoe UI"/>
              </a:rPr>
              <a:t>her N mesajda Drive yedeği, parola paylaşımı.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63640" y="4297680"/>
            <a:ext cx="5120640" cy="1463040"/>
          </a:xfrm>
          <a:prstGeom prst="roundRect">
            <a:avLst>
              <a:gd name="adj" fmla="val 6000"/>
            </a:avLst>
          </a:prstGeom>
          <a:solidFill>
            <a:srgbClr val="262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37960" y="443484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7FB4AB"/>
                </a:solidFill>
                <a:latin typeface="Segoe UI Semibold"/>
              </a:rPr>
              <a:t>💼 Yedekleme &amp; Geri Yükleme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37960" y="4892040"/>
            <a:ext cx="46634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9A9388"/>
                </a:solidFill>
                <a:latin typeface="Segoe UI"/>
              </a:rPr>
              <a:t>Oturumlar, hafıza, ayarlar, modeller ve duygu durumu dahil her şeyi tek bir .memo dosyası olarak dışa aktar; herhangi bir makinede geri yükle.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148085908000" cy="6270955200000"/>
          </a:xfrm>
          <a:prstGeom prst="rect">
            <a:avLst/>
          </a:prstGeom>
          <a:solidFill>
            <a:srgbClr val="1C1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961120" y="-1280160"/>
            <a:ext cx="5120640" cy="5120640"/>
          </a:xfrm>
          <a:prstGeom prst="ellipse">
            <a:avLst/>
          </a:prstGeom>
          <a:solidFill>
            <a:srgbClr val="262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149840" y="3657600"/>
            <a:ext cx="3108960" cy="3108960"/>
          </a:xfrm>
          <a:prstGeom prst="ellipse">
            <a:avLst/>
          </a:prstGeom>
          <a:solidFill>
            <a:srgbClr val="2F2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280160"/>
            <a:ext cx="640080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0" b="1">
                <a:solidFill>
                  <a:srgbClr val="38332C"/>
                </a:solidFill>
                <a:latin typeface="Segoe UI Light"/>
              </a:rPr>
              <a:t>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05740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C9A35B"/>
                </a:solidFill>
                <a:latin typeface="Segoe UI Semibold"/>
              </a:rPr>
              <a:t>BÖLÜM DOKUZ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423160"/>
            <a:ext cx="8229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4200" b="1">
                <a:solidFill>
                  <a:srgbClr val="EDE8DF"/>
                </a:solidFill>
                <a:latin typeface="Segoe UI Semibold"/>
              </a:rPr>
              <a:t>Durum
&amp; Yol Haritası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78992" y="4178808"/>
            <a:ext cx="201168" cy="36576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17320" y="4069080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9A9388"/>
                </a:solidFill>
                <a:latin typeface="Segoe UI"/>
              </a:rPr>
              <a:t>v3.1.0-beta yenilikleri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78992" y="4654296"/>
            <a:ext cx="201168" cy="36576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17320" y="4544568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9A9388"/>
                </a:solidFill>
                <a:latin typeface="Segoe UI"/>
              </a:rPr>
              <a:t>Production hazırlığı ve cilalama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78992" y="5129783"/>
            <a:ext cx="201168" cy="36576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17320" y="5020055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9A9388"/>
                </a:solidFill>
                <a:latin typeface="Segoe UI"/>
              </a:rPr>
              <a:t>Gelecek sürümler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78992" y="5605271"/>
            <a:ext cx="201168" cy="36576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17320" y="5495543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9A9388"/>
                </a:solidFill>
                <a:latin typeface="Segoe UI"/>
              </a:rPr>
              <a:t>Kapanış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C9A35B"/>
                </a:solidFill>
                <a:latin typeface="Segoe UI Semibold"/>
              </a:rPr>
              <a:t>BÖLÜM 09 · SÜRÜM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457200"/>
            <a:ext cx="1005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50" b="1">
                <a:solidFill>
                  <a:srgbClr val="9A9388"/>
                </a:solidFill>
                <a:latin typeface="Segoe UI Semibold"/>
              </a:rPr>
              <a:t>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841248"/>
            <a:ext cx="106070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EDE8DF"/>
                </a:solidFill>
                <a:latin typeface="Segoe UI Semibold"/>
              </a:rPr>
              <a:t>v3.1.0-beta Yenilikleri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72768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0">
                <a:solidFill>
                  <a:srgbClr val="9A9388"/>
                </a:solidFill>
                <a:latin typeface="Segoe UI"/>
              </a:rPr>
              <a:t>Tek sürümde gelen başlıca özellikler — “kullanması keyifli, doğru çalışan yerel AI”.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121408"/>
            <a:ext cx="10543032" cy="18288"/>
          </a:xfrm>
          <a:prstGeom prst="rect">
            <a:avLst/>
          </a:prstGeom>
          <a:solidFill>
            <a:srgbClr val="3A35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2116836"/>
            <a:ext cx="1280160" cy="32004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419088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C9A35B"/>
                </a:solidFill>
                <a:latin typeface="Segoe UI Semibold"/>
              </a:rPr>
              <a:t>MEMO</a:t>
            </a:r>
            <a:r>
              <a:rPr sz="1050" b="0">
                <a:solidFill>
                  <a:srgbClr val="6E685E"/>
                </a:solidFill>
                <a:latin typeface="Segoe UI"/>
              </a:rPr>
              <a:t>  ·  Yerel Yapay Zeka Hafıza Kabuğu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468880"/>
            <a:ext cx="3383280" cy="713232"/>
          </a:xfrm>
          <a:prstGeom prst="roundRect">
            <a:avLst>
              <a:gd name="adj" fmla="val 6000"/>
            </a:avLst>
          </a:prstGeom>
          <a:solidFill>
            <a:srgbClr val="262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87552" y="2615184"/>
            <a:ext cx="420624" cy="420624"/>
          </a:xfrm>
          <a:prstGeom prst="ellipse">
            <a:avLst/>
          </a:prstGeom>
          <a:solidFill>
            <a:srgbClr val="3833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2624328"/>
            <a:ext cx="420624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C9A35B"/>
                </a:solidFill>
                <a:latin typeface="Segoe UI"/>
              </a:rPr>
              <a:t>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36192" y="2587752"/>
            <a:ext cx="26060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DE8DF"/>
                </a:solidFill>
                <a:latin typeface="Segoe UI Semibold"/>
              </a:rPr>
              <a:t>Arayüz baştan yazıldı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07408" y="2468880"/>
            <a:ext cx="3383280" cy="713232"/>
          </a:xfrm>
          <a:prstGeom prst="roundRect">
            <a:avLst>
              <a:gd name="adj" fmla="val 6000"/>
            </a:avLst>
          </a:prstGeom>
          <a:solidFill>
            <a:srgbClr val="262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572000" y="2615184"/>
            <a:ext cx="420624" cy="420624"/>
          </a:xfrm>
          <a:prstGeom prst="ellipse">
            <a:avLst/>
          </a:prstGeom>
          <a:solidFill>
            <a:srgbClr val="3833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0" y="2624328"/>
            <a:ext cx="420624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C9A35B"/>
                </a:solidFill>
                <a:latin typeface="Segoe UI"/>
              </a:rPr>
              <a:t>🏪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0" y="2587752"/>
            <a:ext cx="26060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DE8DF"/>
                </a:solidFill>
                <a:latin typeface="Segoe UI Semibold"/>
              </a:rPr>
              <a:t>Yeni Model Mağazası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91856" y="2468880"/>
            <a:ext cx="3383280" cy="713232"/>
          </a:xfrm>
          <a:prstGeom prst="roundRect">
            <a:avLst>
              <a:gd name="adj" fmla="val 6000"/>
            </a:avLst>
          </a:prstGeom>
          <a:solidFill>
            <a:srgbClr val="262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156448" y="2615184"/>
            <a:ext cx="420624" cy="420624"/>
          </a:xfrm>
          <a:prstGeom prst="ellipse">
            <a:avLst/>
          </a:prstGeom>
          <a:solidFill>
            <a:srgbClr val="3833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56448" y="2624328"/>
            <a:ext cx="420624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C9A35B"/>
                </a:solidFill>
                <a:latin typeface="Segoe UI"/>
              </a:rPr>
              <a:t>☁️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05088" y="2587752"/>
            <a:ext cx="26060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DE8DF"/>
                </a:solidFill>
                <a:latin typeface="Segoe UI Semibold"/>
              </a:rPr>
              <a:t>7 harici sağlayıcı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3310128"/>
            <a:ext cx="3383280" cy="713232"/>
          </a:xfrm>
          <a:prstGeom prst="roundRect">
            <a:avLst>
              <a:gd name="adj" fmla="val 6000"/>
            </a:avLst>
          </a:prstGeom>
          <a:solidFill>
            <a:srgbClr val="262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87552" y="3456432"/>
            <a:ext cx="420624" cy="420624"/>
          </a:xfrm>
          <a:prstGeom prst="ellipse">
            <a:avLst/>
          </a:prstGeom>
          <a:solidFill>
            <a:srgbClr val="3833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87552" y="3465576"/>
            <a:ext cx="420624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C9A35B"/>
                </a:solidFill>
                <a:latin typeface="Segoe UI"/>
              </a:rPr>
              <a:t>🎵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36192" y="3429000"/>
            <a:ext cx="26060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DE8DF"/>
                </a:solidFill>
                <a:latin typeface="Segoe UI Semibold"/>
              </a:rPr>
              <a:t>Orchestra çoklu model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07408" y="3310128"/>
            <a:ext cx="3383280" cy="713232"/>
          </a:xfrm>
          <a:prstGeom prst="roundRect">
            <a:avLst>
              <a:gd name="adj" fmla="val 6000"/>
            </a:avLst>
          </a:prstGeom>
          <a:solidFill>
            <a:srgbClr val="262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572000" y="3456432"/>
            <a:ext cx="420624" cy="420624"/>
          </a:xfrm>
          <a:prstGeom prst="ellipse">
            <a:avLst/>
          </a:prstGeom>
          <a:solidFill>
            <a:srgbClr val="3833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0" y="3465576"/>
            <a:ext cx="420624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C9A35B"/>
                </a:solidFill>
                <a:latin typeface="Segoe UI"/>
              </a:rPr>
              <a:t>🤖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20640" y="3429000"/>
            <a:ext cx="26060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DE8DF"/>
                </a:solidFill>
                <a:latin typeface="Segoe UI Semibold"/>
              </a:rPr>
              <a:t>Kararlı ajan modu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991856" y="3310128"/>
            <a:ext cx="3383280" cy="713232"/>
          </a:xfrm>
          <a:prstGeom prst="roundRect">
            <a:avLst>
              <a:gd name="adj" fmla="val 6000"/>
            </a:avLst>
          </a:prstGeom>
          <a:solidFill>
            <a:srgbClr val="262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156448" y="3456432"/>
            <a:ext cx="420624" cy="420624"/>
          </a:xfrm>
          <a:prstGeom prst="ellipse">
            <a:avLst/>
          </a:prstGeom>
          <a:solidFill>
            <a:srgbClr val="3833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56448" y="3465576"/>
            <a:ext cx="420624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C9A35B"/>
                </a:solidFill>
                <a:latin typeface="Segoe UI"/>
              </a:rPr>
              <a:t>🌐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705088" y="3429000"/>
            <a:ext cx="26060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DE8DF"/>
                </a:solidFill>
                <a:latin typeface="Segoe UI Semibold"/>
              </a:rPr>
              <a:t>Sıfır kurulum web araması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2960" y="4151376"/>
            <a:ext cx="3383280" cy="713232"/>
          </a:xfrm>
          <a:prstGeom prst="roundRect">
            <a:avLst>
              <a:gd name="adj" fmla="val 6000"/>
            </a:avLst>
          </a:prstGeom>
          <a:solidFill>
            <a:srgbClr val="262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87552" y="4297680"/>
            <a:ext cx="420624" cy="420624"/>
          </a:xfrm>
          <a:prstGeom prst="ellipse">
            <a:avLst/>
          </a:prstGeom>
          <a:solidFill>
            <a:srgbClr val="3833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87552" y="4306824"/>
            <a:ext cx="420624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C9A35B"/>
                </a:solidFill>
                <a:latin typeface="Segoe UI"/>
              </a:rPr>
              <a:t>💬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536192" y="4270248"/>
            <a:ext cx="26060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DE8DF"/>
                </a:solidFill>
                <a:latin typeface="Segoe UI Semibold"/>
              </a:rPr>
              <a:t>WhatsApp entegrasyonu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407408" y="4151376"/>
            <a:ext cx="3383280" cy="713232"/>
          </a:xfrm>
          <a:prstGeom prst="roundRect">
            <a:avLst>
              <a:gd name="adj" fmla="val 6000"/>
            </a:avLst>
          </a:prstGeom>
          <a:solidFill>
            <a:srgbClr val="262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4572000" y="4297680"/>
            <a:ext cx="420624" cy="420624"/>
          </a:xfrm>
          <a:prstGeom prst="ellipse">
            <a:avLst/>
          </a:prstGeom>
          <a:solidFill>
            <a:srgbClr val="3833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72000" y="4306824"/>
            <a:ext cx="420624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C9A35B"/>
                </a:solidFill>
                <a:latin typeface="Segoe UI"/>
              </a:rPr>
              <a:t>🎙️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20640" y="4270248"/>
            <a:ext cx="26060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DE8DF"/>
                </a:solidFill>
                <a:latin typeface="Segoe UI Semibold"/>
              </a:rPr>
              <a:t>Whisper sesli giriş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991856" y="4151376"/>
            <a:ext cx="3383280" cy="713232"/>
          </a:xfrm>
          <a:prstGeom prst="roundRect">
            <a:avLst>
              <a:gd name="adj" fmla="val 6000"/>
            </a:avLst>
          </a:prstGeom>
          <a:solidFill>
            <a:srgbClr val="262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8156448" y="4297680"/>
            <a:ext cx="420624" cy="420624"/>
          </a:xfrm>
          <a:prstGeom prst="ellipse">
            <a:avLst/>
          </a:prstGeom>
          <a:solidFill>
            <a:srgbClr val="3833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156448" y="4306824"/>
            <a:ext cx="420624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C9A35B"/>
                </a:solidFill>
                <a:latin typeface="Segoe UI"/>
              </a:rPr>
              <a:t>🧠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705088" y="4270248"/>
            <a:ext cx="26060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DE8DF"/>
                </a:solidFill>
                <a:latin typeface="Segoe UI Semibold"/>
              </a:rPr>
              <a:t>Proaktif öğrenme + takvim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22960" y="4992624"/>
            <a:ext cx="3383280" cy="713232"/>
          </a:xfrm>
          <a:prstGeom prst="roundRect">
            <a:avLst>
              <a:gd name="adj" fmla="val 6000"/>
            </a:avLst>
          </a:prstGeom>
          <a:solidFill>
            <a:srgbClr val="262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987552" y="5138928"/>
            <a:ext cx="420624" cy="420624"/>
          </a:xfrm>
          <a:prstGeom prst="ellipse">
            <a:avLst/>
          </a:prstGeom>
          <a:solidFill>
            <a:srgbClr val="3833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87552" y="5148072"/>
            <a:ext cx="420624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C9A35B"/>
                </a:solidFill>
                <a:latin typeface="Segoe UI"/>
              </a:rPr>
              <a:t>📱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536192" y="5111496"/>
            <a:ext cx="26060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DE8DF"/>
                </a:solidFill>
                <a:latin typeface="Segoe UI Semibold"/>
              </a:rPr>
              <a:t>Mobil uygulama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407408" y="4992624"/>
            <a:ext cx="3383280" cy="713232"/>
          </a:xfrm>
          <a:prstGeom prst="roundRect">
            <a:avLst>
              <a:gd name="adj" fmla="val 6000"/>
            </a:avLst>
          </a:prstGeom>
          <a:solidFill>
            <a:srgbClr val="262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4572000" y="5138928"/>
            <a:ext cx="420624" cy="420624"/>
          </a:xfrm>
          <a:prstGeom prst="ellipse">
            <a:avLst/>
          </a:prstGeom>
          <a:solidFill>
            <a:srgbClr val="3833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572000" y="5148072"/>
            <a:ext cx="420624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C9A35B"/>
                </a:solidFill>
                <a:latin typeface="Segoe UI"/>
              </a:rPr>
              <a:t>🌍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120640" y="5111496"/>
            <a:ext cx="26060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DE8DF"/>
                </a:solidFill>
                <a:latin typeface="Segoe UI Semibold"/>
              </a:rPr>
              <a:t>ngrok / Tailscale tünel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991856" y="4992624"/>
            <a:ext cx="3383280" cy="713232"/>
          </a:xfrm>
          <a:prstGeom prst="roundRect">
            <a:avLst>
              <a:gd name="adj" fmla="val 6000"/>
            </a:avLst>
          </a:prstGeom>
          <a:solidFill>
            <a:srgbClr val="262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8156448" y="5138928"/>
            <a:ext cx="420624" cy="420624"/>
          </a:xfrm>
          <a:prstGeom prst="ellipse">
            <a:avLst/>
          </a:prstGeom>
          <a:solidFill>
            <a:srgbClr val="3833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156448" y="5148072"/>
            <a:ext cx="420624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C9A35B"/>
                </a:solidFill>
                <a:latin typeface="Segoe UI"/>
              </a:rPr>
              <a:t>😶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705088" y="5111496"/>
            <a:ext cx="26060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DE8DF"/>
                </a:solidFill>
                <a:latin typeface="Segoe UI Semibold"/>
              </a:rPr>
              <a:t>Stokastik duygu motoru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C9A35B"/>
                </a:solidFill>
                <a:latin typeface="Segoe UI Semibold"/>
              </a:rPr>
              <a:t>BÖLÜM 09 · GELECEK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457200"/>
            <a:ext cx="1005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50" b="1">
                <a:solidFill>
                  <a:srgbClr val="9A9388"/>
                </a:solidFill>
                <a:latin typeface="Segoe UI Semibold"/>
              </a:rPr>
              <a:t>31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841248"/>
            <a:ext cx="106070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EDE8DF"/>
                </a:solidFill>
                <a:latin typeface="Segoe UI Semibold"/>
              </a:rPr>
              <a:t>Yol Haritası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72768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0">
                <a:solidFill>
                  <a:srgbClr val="9A9388"/>
                </a:solidFill>
                <a:latin typeface="Segoe UI"/>
              </a:rPr>
              <a:t>Production hazırlığından otonomiye uzanan yol.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121408"/>
            <a:ext cx="10543032" cy="18288"/>
          </a:xfrm>
          <a:prstGeom prst="rect">
            <a:avLst/>
          </a:prstGeom>
          <a:solidFill>
            <a:srgbClr val="3A35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2116836"/>
            <a:ext cx="1280160" cy="32004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419088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C9A35B"/>
                </a:solidFill>
                <a:latin typeface="Segoe UI Semibold"/>
              </a:rPr>
              <a:t>MEMO</a:t>
            </a:r>
            <a:r>
              <a:rPr sz="1050" b="0">
                <a:solidFill>
                  <a:srgbClr val="6E685E"/>
                </a:solidFill>
                <a:latin typeface="Segoe UI"/>
              </a:rPr>
              <a:t>  ·  Yerel Yapay Zeka Hafıza Kabuğu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51560" y="2560320"/>
            <a:ext cx="128016" cy="914400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32688" y="2514600"/>
            <a:ext cx="365760" cy="365760"/>
          </a:xfrm>
          <a:prstGeom prst="ellipse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54480" y="246888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EDE8DF"/>
                </a:solidFill>
                <a:latin typeface="Segoe UI Semibold"/>
              </a:rPr>
              <a:t>v3.1-beta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023360" y="2496312"/>
            <a:ext cx="1371600" cy="329184"/>
          </a:xfrm>
          <a:prstGeom prst="roundRect">
            <a:avLst>
              <a:gd name="adj" fmla="val 40000"/>
            </a:avLst>
          </a:prstGeom>
          <a:solidFill>
            <a:srgbClr val="2F2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023360" y="2514600"/>
            <a:ext cx="1371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C9A35B"/>
                </a:solidFill>
                <a:latin typeface="Segoe UI Semibold"/>
              </a:rPr>
              <a:t>MEVCUT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2898648"/>
            <a:ext cx="9692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9A9388"/>
                </a:solidFill>
                <a:latin typeface="Segoe UI"/>
              </a:rPr>
              <a:t>Yeniden tasarlanan UI, harici sağlayıcılar, ajan + orchestra, WhatsApp, mobil, takvim, duygu motoru. Güvenlik ve kararlılık cilalaması, 150+ L10n anahtarı.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51560" y="3767328"/>
            <a:ext cx="128016" cy="914400"/>
          </a:xfrm>
          <a:prstGeom prst="rect">
            <a:avLst/>
          </a:prstGeom>
          <a:solidFill>
            <a:srgbClr val="7FB4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32688" y="3721608"/>
            <a:ext cx="365760" cy="365760"/>
          </a:xfrm>
          <a:prstGeom prst="ellipse">
            <a:avLst/>
          </a:prstGeom>
          <a:solidFill>
            <a:srgbClr val="7FB4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554480" y="3675888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EDE8DF"/>
                </a:solidFill>
                <a:latin typeface="Segoe UI Semibold"/>
              </a:rPr>
              <a:t>v4.0.0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023360" y="3703320"/>
            <a:ext cx="1371600" cy="329184"/>
          </a:xfrm>
          <a:prstGeom prst="roundRect">
            <a:avLst>
              <a:gd name="adj" fmla="val 40000"/>
            </a:avLst>
          </a:prstGeom>
          <a:solidFill>
            <a:srgbClr val="2F2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023360" y="3721608"/>
            <a:ext cx="1371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7FB4AB"/>
                </a:solidFill>
                <a:latin typeface="Segoe UI Semibold"/>
              </a:rPr>
              <a:t>PLANLANAN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4105656"/>
            <a:ext cx="9692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9A9388"/>
                </a:solidFill>
                <a:latin typeface="Segoe UI"/>
              </a:rPr>
              <a:t>Arayüz revizyonu ve eksik frontend sekmelerinin tamamlanması.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51560" y="4974336"/>
            <a:ext cx="128016" cy="914400"/>
          </a:xfrm>
          <a:prstGeom prst="rect">
            <a:avLst/>
          </a:prstGeom>
          <a:solidFill>
            <a:srgbClr val="9A93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32688" y="4928616"/>
            <a:ext cx="365760" cy="365760"/>
          </a:xfrm>
          <a:prstGeom prst="ellipse">
            <a:avLst/>
          </a:prstGeom>
          <a:solidFill>
            <a:srgbClr val="9A93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554480" y="4882896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EDE8DF"/>
                </a:solidFill>
                <a:latin typeface="Segoe UI Semibold"/>
              </a:rPr>
              <a:t>v5.0.0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023360" y="4910328"/>
            <a:ext cx="1371600" cy="329184"/>
          </a:xfrm>
          <a:prstGeom prst="roundRect">
            <a:avLst>
              <a:gd name="adj" fmla="val 40000"/>
            </a:avLst>
          </a:prstGeom>
          <a:solidFill>
            <a:srgbClr val="2F2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023360" y="4928616"/>
            <a:ext cx="1371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9A9388"/>
                </a:solidFill>
                <a:latin typeface="Segoe UI Semibold"/>
              </a:rPr>
              <a:t>GELECEK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54480" y="5312664"/>
            <a:ext cx="9692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9A9388"/>
                </a:solidFill>
                <a:latin typeface="Segoe UI"/>
              </a:rPr>
              <a:t>Eklentiler, mobil derinleşme, bilgi grafiği ve daha fazla otonomi.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595360" y="3017520"/>
            <a:ext cx="5120640" cy="5120640"/>
          </a:xfrm>
          <a:prstGeom prst="ellipse">
            <a:avLst/>
          </a:prstGeom>
          <a:solidFill>
            <a:srgbClr val="262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66960" y="4572000"/>
            <a:ext cx="2926080" cy="2926080"/>
          </a:xfrm>
          <a:prstGeom prst="ellipse">
            <a:avLst/>
          </a:prstGeom>
          <a:solidFill>
            <a:srgbClr val="2F2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05156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35B"/>
                </a:solidFill>
                <a:latin typeface="Segoe UI Semibold"/>
              </a:rPr>
              <a:t>ÖZET &amp; TEŞEKKÜR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508760"/>
            <a:ext cx="100584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EDE8DF"/>
                </a:solidFill>
                <a:latin typeface="Segoe UI Light"/>
              </a:rPr>
              <a:t>Yapay Zekanı Kontrol Et.</a:t>
            </a:r>
          </a:p>
          <a:p>
            <a:pPr algn="l">
              <a:lnSpc>
                <a:spcPct val="105000"/>
              </a:lnSpc>
            </a:pPr>
            <a:r>
              <a:rPr sz="4000" b="1">
                <a:solidFill>
                  <a:srgbClr val="C9A35B"/>
                </a:solidFill>
                <a:latin typeface="Segoe UI Semibold"/>
              </a:rPr>
              <a:t>Hafızana Sahip Çık.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246120"/>
            <a:ext cx="84124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9A9388"/>
                </a:solidFill>
                <a:latin typeface="Segoe UI"/>
              </a:rPr>
              <a:t>Yerel · gizli · senin kontrolünde bir yapay zeka platformu. Kalıcı hafıza, ajan otomasyonu, çoklu-model orkestrası ve çok daha fazlası — hepsi kendi donanımında.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0120" y="4297680"/>
            <a:ext cx="1133856" cy="310896"/>
          </a:xfrm>
          <a:prstGeom prst="roundRect">
            <a:avLst>
              <a:gd name="adj" fmla="val 50000"/>
            </a:avLst>
          </a:prstGeom>
          <a:solidFill>
            <a:srgbClr val="2F2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4315968"/>
            <a:ext cx="113385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C9A35B"/>
                </a:solidFill>
                <a:latin typeface="Segoe UI Semibold"/>
              </a:rPr>
              <a:t>%100 Yerel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258568" y="4297680"/>
            <a:ext cx="1386230" cy="310896"/>
          </a:xfrm>
          <a:prstGeom prst="roundRect">
            <a:avLst>
              <a:gd name="adj" fmla="val 50000"/>
            </a:avLst>
          </a:prstGeom>
          <a:solidFill>
            <a:srgbClr val="2F2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258568" y="4315968"/>
            <a:ext cx="138623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C9A35B"/>
                </a:solidFill>
                <a:latin typeface="Segoe UI Semibold"/>
              </a:rPr>
              <a:t>Kalıcı Hafıza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09390" y="4297680"/>
            <a:ext cx="629107" cy="310896"/>
          </a:xfrm>
          <a:prstGeom prst="roundRect">
            <a:avLst>
              <a:gd name="adj" fmla="val 50000"/>
            </a:avLst>
          </a:prstGeom>
          <a:solidFill>
            <a:srgbClr val="2F2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09390" y="4315968"/>
            <a:ext cx="629107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C9A35B"/>
                </a:solidFill>
                <a:latin typeface="Segoe UI Semibold"/>
              </a:rPr>
              <a:t>Ajan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03089" y="4297680"/>
            <a:ext cx="1049731" cy="310896"/>
          </a:xfrm>
          <a:prstGeom prst="roundRect">
            <a:avLst>
              <a:gd name="adj" fmla="val 50000"/>
            </a:avLst>
          </a:prstGeom>
          <a:solidFill>
            <a:srgbClr val="2F2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03089" y="4315968"/>
            <a:ext cx="1049731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C9A35B"/>
                </a:solidFill>
                <a:latin typeface="Segoe UI Semibold"/>
              </a:rPr>
              <a:t>Orchestra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817412" y="4297680"/>
            <a:ext cx="965606" cy="310896"/>
          </a:xfrm>
          <a:prstGeom prst="roundRect">
            <a:avLst>
              <a:gd name="adj" fmla="val 50000"/>
            </a:avLst>
          </a:prstGeom>
          <a:solidFill>
            <a:srgbClr val="2F2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817412" y="4315968"/>
            <a:ext cx="96560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C9A35B"/>
                </a:solidFill>
                <a:latin typeface="Segoe UI Semibold"/>
              </a:rPr>
              <a:t>WhatsApp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947611" y="4297680"/>
            <a:ext cx="1302105" cy="310896"/>
          </a:xfrm>
          <a:prstGeom prst="roundRect">
            <a:avLst>
              <a:gd name="adj" fmla="val 50000"/>
            </a:avLst>
          </a:prstGeom>
          <a:solidFill>
            <a:srgbClr val="2F2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47611" y="4315968"/>
            <a:ext cx="1302105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C9A35B"/>
                </a:solidFill>
                <a:latin typeface="Segoe UI Semibold"/>
              </a:rPr>
              <a:t>Duygu Motoru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60120" y="5029200"/>
            <a:ext cx="6858000" cy="18288"/>
          </a:xfrm>
          <a:prstGeom prst="rect">
            <a:avLst/>
          </a:prstGeom>
          <a:solidFill>
            <a:srgbClr val="3A35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525780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C9A35B"/>
                </a:solidFill>
                <a:latin typeface="Segoe UI Semibold"/>
              </a:rPr>
              <a:t>github.com/BugraAkdemir/memo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57150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9A9388"/>
                </a:solidFill>
                <a:latin typeface="Segoe UI"/>
              </a:rPr>
              <a:t>Buğra tarafından geliştirildi  ·  v3.1.0-beta  ·  Memo'yu kullandığın için teşekkürler.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
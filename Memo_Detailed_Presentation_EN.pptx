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0"/>
            <a:ext cx="54864" cy="6858000"/>
          </a:xfrm>
          <a:prstGeom prst="rect">
            <a:avLst/>
          </a:prstGeom>
          <a:solidFill>
            <a:srgbClr val="B88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412480" y="-1645920"/>
            <a:ext cx="5486400" cy="5486400"/>
          </a:xfrm>
          <a:prstGeom prst="ellipse">
            <a:avLst/>
          </a:prstGeom>
          <a:solidFill>
            <a:srgbClr val="262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784080" y="3383280"/>
            <a:ext cx="3566160" cy="3566160"/>
          </a:xfrm>
          <a:prstGeom prst="ellipse">
            <a:avLst/>
          </a:prstGeom>
          <a:solidFill>
            <a:srgbClr val="2F2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698480" y="4937760"/>
            <a:ext cx="1828800" cy="1828800"/>
          </a:xfrm>
          <a:prstGeom prst="ellipse">
            <a:avLst/>
          </a:prstGeom>
          <a:solidFill>
            <a:srgbClr val="3833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14300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35B"/>
                </a:solidFill>
                <a:latin typeface="Segoe UI Semibold"/>
              </a:rPr>
              <a:t>LOCAL  ·  PRIVATE  ·  UNDER YOUR CONTROL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600200"/>
            <a:ext cx="82296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0" b="1">
                <a:solidFill>
                  <a:srgbClr val="EDE8DF"/>
                </a:solidFill>
                <a:latin typeface="Segoe UI Light"/>
              </a:rPr>
              <a:t>Memo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200400"/>
            <a:ext cx="9144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C9A35B"/>
                </a:solidFill>
                <a:latin typeface="Segoe UI Semibold"/>
              </a:rPr>
              <a:t>Local AI Memory Shell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069080"/>
            <a:ext cx="8595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EDE8DF"/>
                </a:solidFill>
                <a:latin typeface="Segoe UI"/>
              </a:rPr>
              <a:t>A “second brain” that runs on your own computer and remembers you.</a:t>
            </a:r>
          </a:p>
          <a:p>
            <a:pPr algn="l">
              <a:lnSpc>
                <a:spcPct val="125000"/>
              </a:lnSpc>
            </a:pPr>
            <a:r>
              <a:rPr sz="1500" b="0">
                <a:solidFill>
                  <a:srgbClr val="9A9388"/>
                </a:solidFill>
                <a:latin typeface="Segoe UI"/>
              </a:rPr>
              <a:t>No cloud · no telemetry · data never leaves the machine — 100% offline.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05840" y="5257800"/>
            <a:ext cx="1722729" cy="310896"/>
          </a:xfrm>
          <a:prstGeom prst="roundRect">
            <a:avLst>
              <a:gd name="adj" fmla="val 50000"/>
            </a:avLst>
          </a:prstGeom>
          <a:solidFill>
            <a:srgbClr val="2F2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5276088"/>
            <a:ext cx="1722729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C9A35B"/>
                </a:solidFill>
                <a:latin typeface="Segoe UI Semibold"/>
              </a:rPr>
              <a:t>Persistent Memory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93161" y="5257800"/>
            <a:ext cx="713232" cy="310896"/>
          </a:xfrm>
          <a:prstGeom prst="roundRect">
            <a:avLst>
              <a:gd name="adj" fmla="val 50000"/>
            </a:avLst>
          </a:prstGeom>
          <a:solidFill>
            <a:srgbClr val="2F2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93161" y="5276088"/>
            <a:ext cx="71323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C9A35B"/>
                </a:solidFill>
                <a:latin typeface="Segoe UI Semibold"/>
              </a:rPr>
              <a:t>Agent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770985" y="5257800"/>
            <a:ext cx="1049731" cy="310896"/>
          </a:xfrm>
          <a:prstGeom prst="roundRect">
            <a:avLst>
              <a:gd name="adj" fmla="val 50000"/>
            </a:avLst>
          </a:prstGeom>
          <a:solidFill>
            <a:srgbClr val="2F2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70985" y="5276088"/>
            <a:ext cx="1049731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C9A35B"/>
                </a:solidFill>
                <a:latin typeface="Segoe UI Semibold"/>
              </a:rPr>
              <a:t>Orchestra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985308" y="5257800"/>
            <a:ext cx="965606" cy="310896"/>
          </a:xfrm>
          <a:prstGeom prst="roundRect">
            <a:avLst>
              <a:gd name="adj" fmla="val 50000"/>
            </a:avLst>
          </a:prstGeom>
          <a:solidFill>
            <a:srgbClr val="2F2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85308" y="5276088"/>
            <a:ext cx="96560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C9A35B"/>
                </a:solidFill>
                <a:latin typeface="Segoe UI Semibold"/>
              </a:rPr>
              <a:t>WhatsApp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15507" y="5257800"/>
            <a:ext cx="965606" cy="310896"/>
          </a:xfrm>
          <a:prstGeom prst="roundRect">
            <a:avLst>
              <a:gd name="adj" fmla="val 50000"/>
            </a:avLst>
          </a:prstGeom>
          <a:solidFill>
            <a:srgbClr val="2F2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15507" y="5276088"/>
            <a:ext cx="96560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C9A35B"/>
                </a:solidFill>
                <a:latin typeface="Segoe UI Semibold"/>
              </a:rPr>
              <a:t>Calendar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245705" y="5257800"/>
            <a:ext cx="1217980" cy="310896"/>
          </a:xfrm>
          <a:prstGeom prst="roundRect">
            <a:avLst>
              <a:gd name="adj" fmla="val 50000"/>
            </a:avLst>
          </a:prstGeom>
          <a:solidFill>
            <a:srgbClr val="2F2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45705" y="5276088"/>
            <a:ext cx="12179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C9A35B"/>
                </a:solidFill>
                <a:latin typeface="Segoe UI Semibold"/>
              </a:rPr>
              <a:t>Mood Engine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60350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35B"/>
                </a:solidFill>
                <a:latin typeface="Segoe UI Semibold"/>
              </a:rPr>
              <a:t>v3.1.0-beta</a:t>
            </a:r>
            <a:r>
              <a:rPr sz="1300" b="0">
                <a:solidFill>
                  <a:srgbClr val="9A9388"/>
                </a:solidFill>
                <a:latin typeface="Segoe UI"/>
              </a:rPr>
              <a:t>    ·    Built by Buğra    ·    Comprehensive Overview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C9A35B"/>
                </a:solidFill>
                <a:latin typeface="Segoe UI Semibold"/>
              </a:rPr>
              <a:t>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457200"/>
            <a:ext cx="1005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1">
                <a:solidFill>
                  <a:srgbClr val="9A9388"/>
                </a:solidFill>
                <a:latin typeface="Segoe UI Semibold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841248"/>
            <a:ext cx="106070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EDE8DF"/>
                </a:solidFill>
                <a:latin typeface="Segoe UI Semibold"/>
              </a:rPr>
              <a:t>Table of Contents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72768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0">
                <a:solidFill>
                  <a:srgbClr val="9A9388"/>
                </a:solidFill>
                <a:latin typeface="Segoe UI"/>
              </a:rPr>
              <a:t>This deck covers Memo across nine chapters, feature by feature.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121408"/>
            <a:ext cx="10543032" cy="18288"/>
          </a:xfrm>
          <a:prstGeom prst="rect">
            <a:avLst/>
          </a:prstGeom>
          <a:solidFill>
            <a:srgbClr val="3A3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2116836"/>
            <a:ext cx="1280160" cy="32004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419088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C9A35B"/>
                </a:solidFill>
                <a:latin typeface="Segoe UI Semibold"/>
              </a:rPr>
              <a:t>MEMO</a:t>
            </a:r>
            <a:r>
              <a:rPr sz="1050" b="0">
                <a:solidFill>
                  <a:srgbClr val="6E685E"/>
                </a:solidFill>
                <a:latin typeface="Segoe UI"/>
              </a:rPr>
              <a:t>  ·  Local AI Memory Shell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514600"/>
            <a:ext cx="3383280" cy="1051560"/>
          </a:xfrm>
          <a:prstGeom prst="roundRect">
            <a:avLst>
              <a:gd name="adj" fmla="val 6000"/>
            </a:avLst>
          </a:prstGeom>
          <a:solidFill>
            <a:srgbClr val="262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8" y="2679192"/>
            <a:ext cx="1097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C9A35B"/>
                </a:solidFill>
                <a:latin typeface="Segoe UI Light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65960" y="2697480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EDE8DF"/>
                </a:solidFill>
                <a:latin typeface="Segoe UI Semibold"/>
              </a:rPr>
              <a:t>What Is Memo &amp; Philosophy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3118104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9A9388"/>
                </a:solidFill>
                <a:latin typeface="Segoe UI"/>
              </a:rPr>
              <a:t>Second brain, privacy, design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07408" y="2514600"/>
            <a:ext cx="3383280" cy="1051560"/>
          </a:xfrm>
          <a:prstGeom prst="roundRect">
            <a:avLst>
              <a:gd name="adj" fmla="val 6000"/>
            </a:avLst>
          </a:prstGeom>
          <a:solidFill>
            <a:srgbClr val="262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08576" y="2679192"/>
            <a:ext cx="1097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C9A35B"/>
                </a:solidFill>
                <a:latin typeface="Segoe UI Light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50408" y="2697480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EDE8DF"/>
                </a:solidFill>
                <a:latin typeface="Segoe UI Semibold"/>
              </a:rPr>
              <a:t>Memory &amp; Intelligence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50408" y="3118104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9A9388"/>
                </a:solidFill>
                <a:latin typeface="Segoe UI"/>
              </a:rPr>
              <a:t>RAG, sqlite-vec, embedding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91856" y="2514600"/>
            <a:ext cx="3383280" cy="1051560"/>
          </a:xfrm>
          <a:prstGeom prst="roundRect">
            <a:avLst>
              <a:gd name="adj" fmla="val 6000"/>
            </a:avLst>
          </a:prstGeom>
          <a:solidFill>
            <a:srgbClr val="262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93024" y="2679192"/>
            <a:ext cx="1097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C9A35B"/>
                </a:solidFill>
                <a:latin typeface="Segoe UI Light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34856" y="2697480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EDE8DF"/>
                </a:solidFill>
                <a:latin typeface="Segoe UI Semibold"/>
              </a:rPr>
              <a:t>Architecture &amp; Tech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34856" y="3118104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9A9388"/>
                </a:solidFill>
                <a:latin typeface="Segoe UI"/>
              </a:rPr>
              <a:t>Flutter + Go, modules, API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3721608"/>
            <a:ext cx="3383280" cy="1051560"/>
          </a:xfrm>
          <a:prstGeom prst="roundRect">
            <a:avLst>
              <a:gd name="adj" fmla="val 6000"/>
            </a:avLst>
          </a:prstGeom>
          <a:solidFill>
            <a:srgbClr val="262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4128" y="3886200"/>
            <a:ext cx="1097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C9A35B"/>
                </a:solidFill>
                <a:latin typeface="Segoe UI Light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65960" y="3904488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EDE8DF"/>
                </a:solidFill>
                <a:latin typeface="Segoe UI Semibold"/>
              </a:rPr>
              <a:t>Models &amp; Providers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4325112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9A9388"/>
                </a:solidFill>
                <a:latin typeface="Segoe UI"/>
              </a:rPr>
              <a:t>Model factory, 7 cloud providers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07408" y="3721608"/>
            <a:ext cx="3383280" cy="1051560"/>
          </a:xfrm>
          <a:prstGeom prst="roundRect">
            <a:avLst>
              <a:gd name="adj" fmla="val 6000"/>
            </a:avLst>
          </a:prstGeom>
          <a:solidFill>
            <a:srgbClr val="262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08576" y="3886200"/>
            <a:ext cx="1097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C9A35B"/>
                </a:solidFill>
                <a:latin typeface="Segoe UI Light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50408" y="3904488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EDE8DF"/>
                </a:solidFill>
                <a:latin typeface="Segoe UI Semibold"/>
              </a:rPr>
              <a:t>Agent &amp; Orchestra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50408" y="4325112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9A9388"/>
                </a:solidFill>
                <a:latin typeface="Segoe UI"/>
              </a:rPr>
              <a:t>Automation, multi-model team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991856" y="3721608"/>
            <a:ext cx="3383280" cy="1051560"/>
          </a:xfrm>
          <a:prstGeom prst="roundRect">
            <a:avLst>
              <a:gd name="adj" fmla="val 6000"/>
            </a:avLst>
          </a:prstGeom>
          <a:solidFill>
            <a:srgbClr val="262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93024" y="3886200"/>
            <a:ext cx="1097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C9A35B"/>
                </a:solidFill>
                <a:latin typeface="Segoe UI Light"/>
              </a:rPr>
              <a:t>06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34856" y="3904488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EDE8DF"/>
                </a:solidFill>
                <a:latin typeface="Segoe UI Semibold"/>
              </a:rPr>
              <a:t>Senses &amp; Proactivity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34856" y="4325112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9A9388"/>
                </a:solidFill>
                <a:latin typeface="Segoe UI"/>
              </a:rPr>
              <a:t>Vision, voice, web, learning, calendar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60" y="4928616"/>
            <a:ext cx="3383280" cy="1051560"/>
          </a:xfrm>
          <a:prstGeom prst="roundRect">
            <a:avLst>
              <a:gd name="adj" fmla="val 6000"/>
            </a:avLst>
          </a:prstGeom>
          <a:solidFill>
            <a:srgbClr val="262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24128" y="5093208"/>
            <a:ext cx="1097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C9A35B"/>
                </a:solidFill>
                <a:latin typeface="Segoe UI Light"/>
              </a:rPr>
              <a:t>07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65960" y="5111496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EDE8DF"/>
                </a:solidFill>
                <a:latin typeface="Segoe UI Semibold"/>
              </a:rPr>
              <a:t>Connectivity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5532120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9A9388"/>
                </a:solidFill>
                <a:latin typeface="Segoe UI"/>
              </a:rPr>
              <a:t>WhatsApp, mobile, remote access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407408" y="4928616"/>
            <a:ext cx="3383280" cy="1051560"/>
          </a:xfrm>
          <a:prstGeom prst="roundRect">
            <a:avLst>
              <a:gd name="adj" fmla="val 6000"/>
            </a:avLst>
          </a:prstGeom>
          <a:solidFill>
            <a:srgbClr val="262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608576" y="5093208"/>
            <a:ext cx="1097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C9A35B"/>
                </a:solidFill>
                <a:latin typeface="Segoe UI Light"/>
              </a:rPr>
              <a:t>08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550408" y="5111496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EDE8DF"/>
                </a:solidFill>
                <a:latin typeface="Segoe UI Semibold"/>
              </a:rPr>
              <a:t>Personality &amp; Security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550408" y="5532120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9A9388"/>
                </a:solidFill>
                <a:latin typeface="Segoe UI"/>
              </a:rPr>
              <a:t>Mood engine, self-interest, encryption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991856" y="4928616"/>
            <a:ext cx="3383280" cy="1051560"/>
          </a:xfrm>
          <a:prstGeom prst="roundRect">
            <a:avLst>
              <a:gd name="adj" fmla="val 6000"/>
            </a:avLst>
          </a:prstGeom>
          <a:solidFill>
            <a:srgbClr val="262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193024" y="5093208"/>
            <a:ext cx="1097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C9A35B"/>
                </a:solidFill>
                <a:latin typeface="Segoe UI Light"/>
              </a:rPr>
              <a:t>09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34856" y="5111496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EDE8DF"/>
                </a:solidFill>
                <a:latin typeface="Segoe UI Semibold"/>
              </a:rPr>
              <a:t>Status &amp; Roadmap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34856" y="5532120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9A9388"/>
                </a:solidFill>
                <a:latin typeface="Segoe UI"/>
              </a:rPr>
              <a:t>v3.1 highlights, the future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148085908000" cy="6270955200000"/>
          </a:xfrm>
          <a:prstGeom prst="rect">
            <a:avLst/>
          </a:prstGeom>
          <a:solidFill>
            <a:srgbClr val="1C1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961120" y="-1280160"/>
            <a:ext cx="5120640" cy="5120640"/>
          </a:xfrm>
          <a:prstGeom prst="ellipse">
            <a:avLst/>
          </a:prstGeom>
          <a:solidFill>
            <a:srgbClr val="262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149840" y="3657600"/>
            <a:ext cx="3108960" cy="3108960"/>
          </a:xfrm>
          <a:prstGeom prst="ellipse">
            <a:avLst/>
          </a:prstGeom>
          <a:solidFill>
            <a:srgbClr val="2F2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280160"/>
            <a:ext cx="640080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0" b="1">
                <a:solidFill>
                  <a:srgbClr val="38332C"/>
                </a:solidFill>
                <a:latin typeface="Segoe UI Light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05740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C9A35B"/>
                </a:solidFill>
                <a:latin typeface="Segoe UI Semibold"/>
              </a:rPr>
              <a:t>CHAPTER 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423160"/>
            <a:ext cx="8229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4200" b="1">
                <a:solidFill>
                  <a:srgbClr val="EDE8DF"/>
                </a:solidFill>
                <a:latin typeface="Segoe UI Semibold"/>
              </a:rPr>
              <a:t>What Is Memo
&amp; Philosophy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78992" y="4178808"/>
            <a:ext cx="201168" cy="36576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17320" y="4069080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9A9388"/>
                </a:solidFill>
                <a:latin typeface="Segoe UI"/>
              </a:rPr>
              <a:t>The “second brain” concept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78992" y="4654296"/>
            <a:ext cx="201168" cy="36576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17320" y="4544568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9A9388"/>
                </a:solidFill>
                <a:latin typeface="Segoe UI"/>
              </a:rPr>
              <a:t>Why Memo? — problem and solution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78992" y="5129783"/>
            <a:ext cx="201168" cy="36576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17320" y="5020055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9A9388"/>
                </a:solidFill>
                <a:latin typeface="Segoe UI"/>
              </a:rPr>
              <a:t>Privacy and local isolation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78992" y="5605271"/>
            <a:ext cx="201168" cy="36576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17320" y="5495543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9A9388"/>
                </a:solidFill>
                <a:latin typeface="Segoe UI"/>
              </a:rPr>
              <a:t>Design philosophy and onboarding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C9A35B"/>
                </a:solidFill>
                <a:latin typeface="Segoe UI Semibold"/>
              </a:rPr>
              <a:t>CHAPTER 01 · PHILOSOPHY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457200"/>
            <a:ext cx="1005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1">
                <a:solidFill>
                  <a:srgbClr val="9A9388"/>
                </a:solidFill>
                <a:latin typeface="Segoe UI Semibold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841248"/>
            <a:ext cx="106070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EDE8DF"/>
                </a:solidFill>
                <a:latin typeface="Segoe UI Semibold"/>
              </a:rPr>
              <a:t>What Is Memo?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72768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0">
                <a:solidFill>
                  <a:srgbClr val="9A9388"/>
                </a:solidFill>
                <a:latin typeface="Segoe UI"/>
              </a:rPr>
              <a:t>A personal AI platform with persistent memory that runs locally — not just a chat box.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121408"/>
            <a:ext cx="10543032" cy="18288"/>
          </a:xfrm>
          <a:prstGeom prst="rect">
            <a:avLst/>
          </a:prstGeom>
          <a:solidFill>
            <a:srgbClr val="3A3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2116836"/>
            <a:ext cx="1280160" cy="32004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419088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C9A35B"/>
                </a:solidFill>
                <a:latin typeface="Segoe UI Semibold"/>
              </a:rPr>
              <a:t>MEMO</a:t>
            </a:r>
            <a:r>
              <a:rPr sz="1050" b="0">
                <a:solidFill>
                  <a:srgbClr val="6E685E"/>
                </a:solidFill>
                <a:latin typeface="Segoe UI"/>
              </a:rPr>
              <a:t>  ·  Local AI Memory Shell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468880"/>
            <a:ext cx="566928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550" b="0">
                <a:solidFill>
                  <a:srgbClr val="EDE8DF"/>
                </a:solidFill>
                <a:latin typeface="Segoe UI"/>
              </a:rPr>
              <a:t>Most AI assistants </a:t>
            </a:r>
            <a:r>
              <a:rPr sz="1550" b="1">
                <a:solidFill>
                  <a:srgbClr val="C9A35B"/>
                </a:solidFill>
                <a:latin typeface="Segoe UI Semibold"/>
              </a:rPr>
              <a:t>forget you</a:t>
            </a:r>
            <a:r>
              <a:rPr sz="1550" b="0">
                <a:solidFill>
                  <a:srgbClr val="EDE8DF"/>
                </a:solidFill>
                <a:latin typeface="Segoe UI"/>
              </a:rPr>
              <a:t> and send your data to the cloud.</a:t>
            </a:r>
          </a:p>
          <a:p>
            <a:pPr algn="l">
              <a:lnSpc>
                <a:spcPct val="118000"/>
              </a:lnSpc>
            </a:pPr>
            <a:r>
              <a:rPr sz="700" b="0">
                <a:solidFill>
                  <a:srgbClr val="EDE8DF"/>
                </a:solidFill>
                <a:latin typeface="Segoe UI"/>
              </a:rPr>
              <a:t/>
            </a:r>
          </a:p>
          <a:p>
            <a:pPr algn="l">
              <a:lnSpc>
                <a:spcPct val="118000"/>
              </a:lnSpc>
            </a:pPr>
            <a:r>
              <a:rPr sz="1450" b="0">
                <a:solidFill>
                  <a:srgbClr val="EDE8DF"/>
                </a:solidFill>
                <a:latin typeface="Segoe UI"/>
              </a:rPr>
              <a:t>Memo solves both at once: it semantically indexes your conversations into a persistent memory, and runs the entire process on your hardware, offline.</a:t>
            </a:r>
          </a:p>
          <a:p>
            <a:pPr algn="l">
              <a:lnSpc>
                <a:spcPct val="118000"/>
              </a:lnSpc>
            </a:pPr>
            <a:r>
              <a:rPr sz="700" b="0">
                <a:solidFill>
                  <a:srgbClr val="EDE8DF"/>
                </a:solidFill>
                <a:latin typeface="Segoe UI"/>
              </a:rPr>
              <a:t/>
            </a:r>
          </a:p>
          <a:p>
            <a:pPr algn="l">
              <a:lnSpc>
                <a:spcPct val="118000"/>
              </a:lnSpc>
            </a:pPr>
            <a:r>
              <a:rPr sz="1350" b="0">
                <a:solidFill>
                  <a:srgbClr val="9A9388"/>
                </a:solidFill>
                <a:latin typeface="Segoe UI"/>
              </a:rPr>
              <a:t>Local models, cloud providers, agent automation and multi-model orchestration come together in a single desktop app.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2468880"/>
            <a:ext cx="21031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C9A35B"/>
                </a:solidFill>
                <a:latin typeface="Segoe UI Semibold"/>
              </a:rPr>
              <a:t>100%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86016" y="3218688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9A9388"/>
                </a:solidFill>
                <a:latin typeface="Segoe UI"/>
              </a:rPr>
              <a:t>local &amp; offline processing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0" y="2468880"/>
            <a:ext cx="21031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7FB4AB"/>
                </a:solidFill>
                <a:latin typeface="Segoe UI Semibold"/>
              </a:rPr>
              <a:t>∞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72015" y="3218688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9A9388"/>
                </a:solidFill>
                <a:latin typeface="Segoe UI"/>
              </a:rPr>
              <a:t>infinite context / memory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3977639"/>
            <a:ext cx="21031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B8894B"/>
                </a:solidFill>
                <a:latin typeface="Segoe UI Semibold"/>
              </a:rPr>
              <a:t>7+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86016" y="4727448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9A9388"/>
                </a:solidFill>
                <a:latin typeface="Segoe UI"/>
              </a:rPr>
              <a:t>external AI providers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0" y="3977639"/>
            <a:ext cx="21031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7FB4AB"/>
                </a:solidFill>
                <a:latin typeface="Segoe UI Semibold"/>
              </a:rPr>
              <a:t>12+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72015" y="4727448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9A9388"/>
                </a:solidFill>
                <a:latin typeface="Segoe UI"/>
              </a:rPr>
              <a:t>built-in agent tools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949440" y="5074920"/>
            <a:ext cx="4434840" cy="685800"/>
          </a:xfrm>
          <a:prstGeom prst="roundRect">
            <a:avLst>
              <a:gd name="adj" fmla="val 6000"/>
            </a:avLst>
          </a:prstGeom>
          <a:solidFill>
            <a:srgbClr val="262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78040" y="5193792"/>
            <a:ext cx="4114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35B"/>
                </a:solidFill>
                <a:latin typeface="Segoe UI Semibold"/>
              </a:rPr>
              <a:t>“Control Your AI. Own Your Memory.”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C9A35B"/>
                </a:solidFill>
                <a:latin typeface="Segoe UI Semibold"/>
              </a:rPr>
              <a:t>CHAPTER 01 · 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457200"/>
            <a:ext cx="1005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1">
                <a:solidFill>
                  <a:srgbClr val="9A9388"/>
                </a:solidFill>
                <a:latin typeface="Segoe UI Semibold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841248"/>
            <a:ext cx="106070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EDE8DF"/>
                </a:solidFill>
                <a:latin typeface="Segoe UI Semibold"/>
              </a:rPr>
              <a:t>Why Memo?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72768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0">
                <a:solidFill>
                  <a:srgbClr val="9A9388"/>
                </a:solidFill>
                <a:latin typeface="Segoe UI"/>
              </a:rPr>
              <a:t>A local answer to four core problems of cloud-based assistants.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121408"/>
            <a:ext cx="10543032" cy="18288"/>
          </a:xfrm>
          <a:prstGeom prst="rect">
            <a:avLst/>
          </a:prstGeom>
          <a:solidFill>
            <a:srgbClr val="3A3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2116836"/>
            <a:ext cx="1280160" cy="32004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419088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C9A35B"/>
                </a:solidFill>
                <a:latin typeface="Segoe UI Semibold"/>
              </a:rPr>
              <a:t>MEMO</a:t>
            </a:r>
            <a:r>
              <a:rPr sz="1050" b="0">
                <a:solidFill>
                  <a:srgbClr val="6E685E"/>
                </a:solidFill>
                <a:latin typeface="Segoe UI"/>
              </a:rPr>
              <a:t>  ·  Local AI Memory Shell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331720"/>
            <a:ext cx="5120640" cy="3429000"/>
          </a:xfrm>
          <a:prstGeom prst="roundRect">
            <a:avLst>
              <a:gd name="adj" fmla="val 6000"/>
            </a:avLst>
          </a:prstGeom>
          <a:solidFill>
            <a:srgbClr val="262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505456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CC6B5A"/>
                </a:solidFill>
                <a:latin typeface="Segoe UI Semibold"/>
              </a:rPr>
              <a:t>✕  THE PROBLEM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97280" y="3108960"/>
            <a:ext cx="118872" cy="118872"/>
          </a:xfrm>
          <a:prstGeom prst="rect">
            <a:avLst/>
          </a:prstGeom>
          <a:solidFill>
            <a:srgbClr val="CC6B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89888" y="3008376"/>
            <a:ext cx="4279392" cy="10332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EDE8DF"/>
                </a:solidFill>
                <a:latin typeface="Segoe UI Semibold"/>
              </a:rPr>
              <a:t>Forgetfulness  </a:t>
            </a:r>
            <a:r>
              <a:rPr sz="1250" b="0">
                <a:solidFill>
                  <a:srgbClr val="9A9388"/>
                </a:solidFill>
                <a:latin typeface="Segoe UI"/>
              </a:rPr>
              <a:t>every session starts from zero, context is lost.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97280" y="3822191"/>
            <a:ext cx="118872" cy="118872"/>
          </a:xfrm>
          <a:prstGeom prst="rect">
            <a:avLst/>
          </a:prstGeom>
          <a:solidFill>
            <a:srgbClr val="CC6B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89888" y="3721607"/>
            <a:ext cx="4279392" cy="10332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EDE8DF"/>
                </a:solidFill>
                <a:latin typeface="Segoe UI Semibold"/>
              </a:rPr>
              <a:t>Privacy concern  </a:t>
            </a:r>
            <a:r>
              <a:rPr sz="1250" b="0">
                <a:solidFill>
                  <a:srgbClr val="9A9388"/>
                </a:solidFill>
                <a:latin typeface="Segoe UI"/>
              </a:rPr>
              <a:t>your data goes to remote servers.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7280" y="4535424"/>
            <a:ext cx="118872" cy="118872"/>
          </a:xfrm>
          <a:prstGeom prst="rect">
            <a:avLst/>
          </a:prstGeom>
          <a:solidFill>
            <a:srgbClr val="CC6B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89888" y="4434840"/>
            <a:ext cx="4279392" cy="10332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EDE8DF"/>
                </a:solidFill>
                <a:latin typeface="Segoe UI Semibold"/>
              </a:rPr>
              <a:t>Dependency  </a:t>
            </a:r>
            <a:r>
              <a:rPr sz="1250" b="0">
                <a:solidFill>
                  <a:srgbClr val="9A9388"/>
                </a:solidFill>
                <a:latin typeface="Segoe UI"/>
              </a:rPr>
              <a:t>internet + subscription required.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97280" y="5248656"/>
            <a:ext cx="118872" cy="118872"/>
          </a:xfrm>
          <a:prstGeom prst="rect">
            <a:avLst/>
          </a:prstGeom>
          <a:solidFill>
            <a:srgbClr val="CC6B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89888" y="5148072"/>
            <a:ext cx="4279392" cy="10332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EDE8DF"/>
                </a:solidFill>
                <a:latin typeface="Segoe UI Semibold"/>
              </a:rPr>
              <a:t>Black box  </a:t>
            </a:r>
            <a:r>
              <a:rPr sz="1250" b="0">
                <a:solidFill>
                  <a:srgbClr val="9A9388"/>
                </a:solidFill>
                <a:latin typeface="Segoe UI"/>
              </a:rPr>
              <a:t>you can't choose the model or behavior.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2331720"/>
            <a:ext cx="5120640" cy="3429000"/>
          </a:xfrm>
          <a:prstGeom prst="roundRect">
            <a:avLst>
              <a:gd name="adj" fmla="val 6000"/>
            </a:avLst>
          </a:prstGeom>
          <a:solidFill>
            <a:srgbClr val="262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37960" y="2505456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7FB4AB"/>
                </a:solidFill>
                <a:latin typeface="Segoe UI Semibold"/>
              </a:rPr>
              <a:t>✓  MEMO'S SOLUTION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37960" y="3108960"/>
            <a:ext cx="118872" cy="118872"/>
          </a:xfrm>
          <a:prstGeom prst="rect">
            <a:avLst/>
          </a:prstGeom>
          <a:solidFill>
            <a:srgbClr val="7FB4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30568" y="3008376"/>
            <a:ext cx="4279392" cy="10332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EDE8DF"/>
                </a:solidFill>
                <a:latin typeface="Segoe UI Semibold"/>
              </a:rPr>
              <a:t>Persistent RAG memory  </a:t>
            </a:r>
            <a:r>
              <a:rPr sz="1250" b="0">
                <a:solidFill>
                  <a:srgbClr val="9A9388"/>
                </a:solidFill>
                <a:latin typeface="Segoe UI"/>
              </a:rPr>
              <a:t>recalls details from weeks ago.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37960" y="3822191"/>
            <a:ext cx="118872" cy="118872"/>
          </a:xfrm>
          <a:prstGeom prst="rect">
            <a:avLst/>
          </a:prstGeom>
          <a:solidFill>
            <a:srgbClr val="7FB4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30568" y="3721607"/>
            <a:ext cx="4279392" cy="10332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EDE8DF"/>
                </a:solidFill>
                <a:latin typeface="Segoe UI Semibold"/>
              </a:rPr>
              <a:t>Offline isolation  </a:t>
            </a:r>
            <a:r>
              <a:rPr sz="1250" b="0">
                <a:solidFill>
                  <a:srgbClr val="9A9388"/>
                </a:solidFill>
                <a:latin typeface="Segoe UI"/>
              </a:rPr>
              <a:t>data never leaves the disk.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37960" y="4535424"/>
            <a:ext cx="118872" cy="118872"/>
          </a:xfrm>
          <a:prstGeom prst="rect">
            <a:avLst/>
          </a:prstGeom>
          <a:solidFill>
            <a:srgbClr val="7FB4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30568" y="4434840"/>
            <a:ext cx="4279392" cy="10332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EDE8DF"/>
                </a:solidFill>
                <a:latin typeface="Segoe UI Semibold"/>
              </a:rPr>
              <a:t>Local engine  </a:t>
            </a:r>
            <a:r>
              <a:rPr sz="1250" b="0">
                <a:solidFill>
                  <a:srgbClr val="9A9388"/>
                </a:solidFill>
                <a:latin typeface="Segoe UI"/>
              </a:rPr>
              <a:t>llama.cpp on your own hardware.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37960" y="5248656"/>
            <a:ext cx="118872" cy="118872"/>
          </a:xfrm>
          <a:prstGeom prst="rect">
            <a:avLst/>
          </a:prstGeom>
          <a:solidFill>
            <a:srgbClr val="7FB4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30568" y="5148072"/>
            <a:ext cx="4279392" cy="10332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EDE8DF"/>
                </a:solidFill>
                <a:latin typeface="Segoe UI Semibold"/>
              </a:rPr>
              <a:t>Full control  </a:t>
            </a:r>
            <a:r>
              <a:rPr sz="1250" b="0">
                <a:solidFill>
                  <a:srgbClr val="9A9388"/>
                </a:solidFill>
                <a:latin typeface="Segoe UI"/>
              </a:rPr>
              <a:t>model, personality, memory are yours.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C9A35B"/>
                </a:solidFill>
                <a:latin typeface="Segoe UI Semibold"/>
              </a:rPr>
              <a:t>CHAPTER 01 · PRIVACY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457200"/>
            <a:ext cx="1005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1">
                <a:solidFill>
                  <a:srgbClr val="9A9388"/>
                </a:solidFill>
                <a:latin typeface="Segoe UI Semibold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841248"/>
            <a:ext cx="106070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EDE8DF"/>
                </a:solidFill>
                <a:latin typeface="Segoe UI Semibold"/>
              </a:rPr>
              <a:t>Privacy &amp; Local Isolation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72768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0">
                <a:solidFill>
                  <a:srgbClr val="9A9388"/>
                </a:solidFill>
                <a:latin typeface="Segoe UI"/>
              </a:rPr>
              <a:t>Memo's founding principle: your mind stays on your own hardware.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121408"/>
            <a:ext cx="10543032" cy="18288"/>
          </a:xfrm>
          <a:prstGeom prst="rect">
            <a:avLst/>
          </a:prstGeom>
          <a:solidFill>
            <a:srgbClr val="3A3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2116836"/>
            <a:ext cx="1280160" cy="32004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419088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C9A35B"/>
                </a:solidFill>
                <a:latin typeface="Segoe UI Semibold"/>
              </a:rPr>
              <a:t>MEMO</a:t>
            </a:r>
            <a:r>
              <a:rPr sz="1050" b="0">
                <a:solidFill>
                  <a:srgbClr val="6E685E"/>
                </a:solidFill>
                <a:latin typeface="Segoe UI"/>
              </a:rPr>
              <a:t>  ·  Local AI Memory Shell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423160"/>
            <a:ext cx="3337560" cy="1783080"/>
          </a:xfrm>
          <a:prstGeom prst="roundRect">
            <a:avLst>
              <a:gd name="adj" fmla="val 6000"/>
            </a:avLst>
          </a:prstGeom>
          <a:solidFill>
            <a:srgbClr val="262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78992" y="2679191"/>
            <a:ext cx="457200" cy="457200"/>
          </a:xfrm>
          <a:prstGeom prst="ellipse">
            <a:avLst/>
          </a:prstGeom>
          <a:solidFill>
            <a:srgbClr val="3833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" y="269747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C9A35B"/>
                </a:solidFill>
                <a:latin typeface="Segoe UI"/>
              </a:rPr>
              <a:t>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2697479"/>
            <a:ext cx="22860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EDE8DF"/>
                </a:solidFill>
                <a:latin typeface="Segoe UI Semibold"/>
              </a:rPr>
              <a:t>No Telemetry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264408"/>
            <a:ext cx="2788920" cy="8229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9A9388"/>
                </a:solidFill>
                <a:latin typeface="Segoe UI"/>
              </a:rPr>
              <a:t>No usage data, logs or analytics are sent out. You are never tracked.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25112" y="2423160"/>
            <a:ext cx="3337560" cy="1783080"/>
          </a:xfrm>
          <a:prstGeom prst="roundRect">
            <a:avLst>
              <a:gd name="adj" fmla="val 6000"/>
            </a:avLst>
          </a:prstGeom>
          <a:solidFill>
            <a:srgbClr val="262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581144" y="2679191"/>
            <a:ext cx="457200" cy="457200"/>
          </a:xfrm>
          <a:prstGeom prst="ellipse">
            <a:avLst/>
          </a:prstGeom>
          <a:solidFill>
            <a:srgbClr val="3833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81144" y="269747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7FB4AB"/>
                </a:solidFill>
                <a:latin typeface="Segoe UI"/>
              </a:rPr>
              <a:t>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93792" y="2697479"/>
            <a:ext cx="22860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EDE8DF"/>
                </a:solidFill>
                <a:latin typeface="Segoe UI Semibold"/>
              </a:rPr>
              <a:t>Cloud-Independent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99432" y="3264408"/>
            <a:ext cx="2788920" cy="8229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9A9388"/>
                </a:solidFill>
                <a:latin typeface="Segoe UI"/>
              </a:rPr>
              <a:t>Works fully without internet. The cloud only kicks in for optional features you enable.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27264" y="2423160"/>
            <a:ext cx="3566160" cy="1783080"/>
          </a:xfrm>
          <a:prstGeom prst="roundRect">
            <a:avLst>
              <a:gd name="adj" fmla="val 6000"/>
            </a:avLst>
          </a:prstGeom>
          <a:solidFill>
            <a:srgbClr val="262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083296" y="2679191"/>
            <a:ext cx="457200" cy="457200"/>
          </a:xfrm>
          <a:prstGeom prst="ellipse">
            <a:avLst/>
          </a:prstGeom>
          <a:solidFill>
            <a:srgbClr val="3833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83296" y="269747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B8894B"/>
                </a:solidFill>
                <a:latin typeface="Segoe UI"/>
              </a:rPr>
              <a:t>💾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95944" y="2697479"/>
            <a:ext cx="2514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EDE8DF"/>
                </a:solidFill>
                <a:latin typeface="Segoe UI Semibold"/>
              </a:rPr>
              <a:t>Secure Local Store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01584" y="3264408"/>
            <a:ext cx="3017520" cy="8229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9A9388"/>
                </a:solidFill>
                <a:latin typeface="Segoe UI"/>
              </a:rPr>
              <a:t>Memory, sessions and settings are stored locally/encrypted on your disk.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" y="4434840"/>
            <a:ext cx="10570464" cy="1325880"/>
          </a:xfrm>
          <a:prstGeom prst="roundRect">
            <a:avLst>
              <a:gd name="adj" fmla="val 6000"/>
            </a:avLst>
          </a:prstGeom>
          <a:solidFill>
            <a:srgbClr val="262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97280" y="45720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C9A35B"/>
                </a:solidFill>
                <a:latin typeface="Segoe UI Semibold"/>
              </a:rPr>
              <a:t>Open it up when you want — the decision is always yours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502920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>
                <a:solidFill>
                  <a:srgbClr val="9A9388"/>
                </a:solidFill>
                <a:latin typeface="Segoe UI"/>
              </a:rPr>
              <a:t>External providers, web search, cloud sync and remote access are OFF by default. Each is enabled separately, deliberately. Even when on — e.g. cloud backup — data is end-to-end encrypted before it ever leaves your machine.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C9A35B"/>
                </a:solidFill>
                <a:latin typeface="Segoe UI Semibold"/>
              </a:rPr>
              <a:t>CHAPTER 01 ·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457200"/>
            <a:ext cx="1005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1">
                <a:solidFill>
                  <a:srgbClr val="9A9388"/>
                </a:solidFill>
                <a:latin typeface="Segoe UI Semibold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841248"/>
            <a:ext cx="106070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EDE8DF"/>
                </a:solidFill>
                <a:latin typeface="Segoe UI Semibold"/>
              </a:rPr>
              <a:t>Design &amp; Onboarding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72768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0">
                <a:solidFill>
                  <a:srgbClr val="9A9388"/>
                </a:solidFill>
                <a:latin typeface="Segoe UI"/>
              </a:rPr>
              <a:t>“Greige” minimalism and guided first-run — even non-technical users get it.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121408"/>
            <a:ext cx="10543032" cy="18288"/>
          </a:xfrm>
          <a:prstGeom prst="rect">
            <a:avLst/>
          </a:prstGeom>
          <a:solidFill>
            <a:srgbClr val="3A3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2116836"/>
            <a:ext cx="1280160" cy="32004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419088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C9A35B"/>
                </a:solidFill>
                <a:latin typeface="Segoe UI Semibold"/>
              </a:rPr>
              <a:t>MEMO</a:t>
            </a:r>
            <a:r>
              <a:rPr sz="1050" b="0">
                <a:solidFill>
                  <a:srgbClr val="6E685E"/>
                </a:solidFill>
                <a:latin typeface="Segoe UI"/>
              </a:rPr>
              <a:t>  ·  Local AI Memory Shell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542032"/>
            <a:ext cx="118872" cy="118872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" y="2441448"/>
            <a:ext cx="5376672" cy="8869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EDE8DF"/>
                </a:solidFill>
                <a:latin typeface="Segoe UI Semibold"/>
              </a:rPr>
              <a:t>Pewter Study dark theme  </a:t>
            </a:r>
            <a:r>
              <a:rPr sz="1250" b="0">
                <a:solidFill>
                  <a:srgbClr val="9A9388"/>
                </a:solidFill>
                <a:latin typeface="Segoe UI"/>
              </a:rPr>
              <a:t>warm neutral tones, no harsh white, easy on long sessions.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3108960"/>
            <a:ext cx="118872" cy="118872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5568" y="3008376"/>
            <a:ext cx="5376672" cy="8869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EDE8DF"/>
                </a:solidFill>
                <a:latin typeface="Segoe UI Semibold"/>
              </a:rPr>
              <a:t>Greige minimalism  </a:t>
            </a:r>
            <a:r>
              <a:rPr sz="1250" b="0">
                <a:solidFill>
                  <a:srgbClr val="9A9388"/>
                </a:solidFill>
                <a:latin typeface="Segoe UI"/>
              </a:rPr>
              <a:t>a calm palette that reduces cognitive load, focus-first UI.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3675888"/>
            <a:ext cx="118872" cy="118872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15568" y="3575304"/>
            <a:ext cx="5376672" cy="8869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EDE8DF"/>
                </a:solidFill>
                <a:latin typeface="Segoe UI Semibold"/>
              </a:rPr>
              <a:t>Setup wizard  </a:t>
            </a:r>
            <a:r>
              <a:rPr sz="1250" b="0">
                <a:solidFill>
                  <a:srgbClr val="9A9388"/>
                </a:solidFill>
                <a:latin typeface="Segoe UI"/>
              </a:rPr>
              <a:t>guided first launch with theme, language and personality.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4242816"/>
            <a:ext cx="118872" cy="118872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15568" y="4142232"/>
            <a:ext cx="5376672" cy="8869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EDE8DF"/>
                </a:solidFill>
                <a:latin typeface="Segoe UI Semibold"/>
              </a:rPr>
              <a:t>Launchpad welcome  </a:t>
            </a:r>
            <a:r>
              <a:rPr sz="1250" b="0">
                <a:solidFill>
                  <a:srgbClr val="9A9388"/>
                </a:solidFill>
                <a:latin typeface="Segoe UI"/>
              </a:rPr>
              <a:t>five feature cards: Chat, Agent, Orchestra, WhatsApp, Calendar.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4809744"/>
            <a:ext cx="118872" cy="118872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15568" y="4709160"/>
            <a:ext cx="5376672" cy="8869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EDE8DF"/>
                </a:solidFill>
                <a:latin typeface="Segoe UI Semibold"/>
              </a:rPr>
              <a:t>Spotlight tour  </a:t>
            </a:r>
            <a:r>
              <a:rPr sz="1250" b="0">
                <a:solidFill>
                  <a:srgbClr val="9A9388"/>
                </a:solidFill>
                <a:latin typeface="Segoe UI"/>
              </a:rPr>
              <a:t>a 4-step coachmark introducing the main icons in order.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5376672"/>
            <a:ext cx="118872" cy="118872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15568" y="5276088"/>
            <a:ext cx="5376672" cy="8869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EDE8DF"/>
                </a:solidFill>
                <a:latin typeface="Segoe UI Semibold"/>
              </a:rPr>
              <a:t>Phosphor icons + logos  </a:t>
            </a:r>
            <a:r>
              <a:rPr sz="1250" b="0">
                <a:solidFill>
                  <a:srgbClr val="9A9388"/>
                </a:solidFill>
                <a:latin typeface="Segoe UI"/>
              </a:rPr>
              <a:t>real brand logos, icons tinted in the accent color.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0" y="2468880"/>
            <a:ext cx="4526280" cy="3200400"/>
          </a:xfrm>
          <a:prstGeom prst="roundRect">
            <a:avLst>
              <a:gd name="adj" fmla="val 6000"/>
            </a:avLst>
          </a:prstGeom>
          <a:solidFill>
            <a:srgbClr val="262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14032" y="2651760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C9A35B"/>
                </a:solidFill>
                <a:latin typeface="Segoe UI Semibold"/>
              </a:rPr>
              <a:t>Personality Presets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14032" y="3063240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A9388"/>
                </a:solidFill>
                <a:latin typeface="Segoe UI"/>
              </a:rPr>
              <a:t>Pick your assistant's tone in one tap: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14032" y="3520440"/>
            <a:ext cx="1874519" cy="457200"/>
          </a:xfrm>
          <a:prstGeom prst="roundRect">
            <a:avLst>
              <a:gd name="adj" fmla="val 6000"/>
            </a:avLst>
          </a:prstGeom>
          <a:solidFill>
            <a:srgbClr val="2F2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14032" y="3557016"/>
            <a:ext cx="1874519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EDE8DF"/>
                </a:solidFill>
                <a:latin typeface="Segoe UI Semibold"/>
              </a:rPr>
              <a:t>Casual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71432" y="3520440"/>
            <a:ext cx="1874519" cy="457200"/>
          </a:xfrm>
          <a:prstGeom prst="roundRect">
            <a:avLst>
              <a:gd name="adj" fmla="val 6000"/>
            </a:avLst>
          </a:prstGeom>
          <a:solidFill>
            <a:srgbClr val="2F2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71432" y="3557016"/>
            <a:ext cx="1874519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EDE8DF"/>
                </a:solidFill>
                <a:latin typeface="Segoe UI Semibold"/>
              </a:rPr>
              <a:t>Formal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114032" y="4087368"/>
            <a:ext cx="1874519" cy="457200"/>
          </a:xfrm>
          <a:prstGeom prst="roundRect">
            <a:avLst>
              <a:gd name="adj" fmla="val 6000"/>
            </a:avLst>
          </a:prstGeom>
          <a:solidFill>
            <a:srgbClr val="2F2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114032" y="4123944"/>
            <a:ext cx="1874519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EDE8DF"/>
                </a:solidFill>
                <a:latin typeface="Segoe UI Semibold"/>
              </a:rPr>
              <a:t>Technical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171432" y="4087368"/>
            <a:ext cx="1874519" cy="457200"/>
          </a:xfrm>
          <a:prstGeom prst="roundRect">
            <a:avLst>
              <a:gd name="adj" fmla="val 6000"/>
            </a:avLst>
          </a:prstGeom>
          <a:solidFill>
            <a:srgbClr val="2F2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71432" y="4123944"/>
            <a:ext cx="1874519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EDE8DF"/>
                </a:solidFill>
                <a:latin typeface="Segoe UI Semibold"/>
              </a:rPr>
              <a:t>Creative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114032" y="4654296"/>
            <a:ext cx="1874519" cy="457200"/>
          </a:xfrm>
          <a:prstGeom prst="roundRect">
            <a:avLst>
              <a:gd name="adj" fmla="val 6000"/>
            </a:avLst>
          </a:prstGeom>
          <a:solidFill>
            <a:srgbClr val="2F2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114032" y="4690872"/>
            <a:ext cx="1874519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EDE8DF"/>
                </a:solidFill>
                <a:latin typeface="Segoe UI Semibold"/>
              </a:rPr>
              <a:t>Playful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171432" y="4654296"/>
            <a:ext cx="1874519" cy="457200"/>
          </a:xfrm>
          <a:prstGeom prst="roundRect">
            <a:avLst>
              <a:gd name="adj" fmla="val 6000"/>
            </a:avLst>
          </a:prstGeom>
          <a:solidFill>
            <a:srgbClr val="2F2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71432" y="4690872"/>
            <a:ext cx="1874519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EDE8DF"/>
                </a:solidFill>
                <a:latin typeface="Segoe UI Semibold"/>
              </a:rPr>
              <a:t>Buddy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14032" y="5285232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A9388"/>
                </a:solidFill>
                <a:latin typeface="Segoe UI"/>
              </a:rPr>
              <a:t>…or write your own system prompt.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148085908000" cy="6270955200000"/>
          </a:xfrm>
          <a:prstGeom prst="rect">
            <a:avLst/>
          </a:prstGeom>
          <a:solidFill>
            <a:srgbClr val="1C1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961120" y="-1280160"/>
            <a:ext cx="5120640" cy="5120640"/>
          </a:xfrm>
          <a:prstGeom prst="ellipse">
            <a:avLst/>
          </a:prstGeom>
          <a:solidFill>
            <a:srgbClr val="262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149840" y="3657600"/>
            <a:ext cx="3108960" cy="3108960"/>
          </a:xfrm>
          <a:prstGeom prst="ellipse">
            <a:avLst/>
          </a:prstGeom>
          <a:solidFill>
            <a:srgbClr val="2F2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280160"/>
            <a:ext cx="640080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0" b="1">
                <a:solidFill>
                  <a:srgbClr val="38332C"/>
                </a:solidFill>
                <a:latin typeface="Segoe UI Light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05740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C9A35B"/>
                </a:solidFill>
                <a:latin typeface="Segoe UI Semibold"/>
              </a:rPr>
              <a:t>CHAPTER TWO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423160"/>
            <a:ext cx="8229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4200" b="1">
                <a:solidFill>
                  <a:srgbClr val="EDE8DF"/>
                </a:solidFill>
                <a:latin typeface="Segoe UI Semibold"/>
              </a:rPr>
              <a:t>Memory
&amp; Intelligence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78992" y="4178808"/>
            <a:ext cx="201168" cy="36576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17320" y="4069080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9A9388"/>
                </a:solidFill>
                <a:latin typeface="Segoe UI"/>
              </a:rPr>
              <a:t>Persistent RAG — retrieval-augmented generation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78992" y="4654296"/>
            <a:ext cx="201168" cy="36576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17320" y="4544568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9A9388"/>
                </a:solidFill>
                <a:latin typeface="Segoe UI"/>
              </a:rPr>
              <a:t>SQLite + sqlite-vec vector store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78992" y="5129783"/>
            <a:ext cx="201168" cy="36576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17320" y="5020055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9A9388"/>
                </a:solidFill>
                <a:latin typeface="Segoe UI"/>
              </a:rPr>
              <a:t>How semantic search works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78992" y="5605271"/>
            <a:ext cx="201168" cy="36576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17320" y="5495543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9A9388"/>
                </a:solidFill>
                <a:latin typeface="Segoe UI"/>
              </a:rPr>
              <a:t>Model-agnostic inference engine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C9A35B"/>
                </a:solidFill>
                <a:latin typeface="Segoe UI Semibold"/>
              </a:rPr>
              <a:t>CHAPTER 02 · MEMORY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457200"/>
            <a:ext cx="1005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1">
                <a:solidFill>
                  <a:srgbClr val="9A9388"/>
                </a:solidFill>
                <a:latin typeface="Segoe UI Semibold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841248"/>
            <a:ext cx="106070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EDE8DF"/>
                </a:solidFill>
                <a:latin typeface="Segoe UI Semibold"/>
              </a:rPr>
              <a:t>Persistent RAG Memory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72768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0">
                <a:solidFill>
                  <a:srgbClr val="9A9388"/>
                </a:solidFill>
                <a:latin typeface="Segoe UI"/>
              </a:rPr>
              <a:t>Every interaction is remembered — long-term memory independent of the model window.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121408"/>
            <a:ext cx="10543032" cy="18288"/>
          </a:xfrm>
          <a:prstGeom prst="rect">
            <a:avLst/>
          </a:prstGeom>
          <a:solidFill>
            <a:srgbClr val="3A3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2116836"/>
            <a:ext cx="1280160" cy="32004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419088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C9A35B"/>
                </a:solidFill>
                <a:latin typeface="Segoe UI Semibold"/>
              </a:rPr>
              <a:t>MEMO</a:t>
            </a:r>
            <a:r>
              <a:rPr sz="1050" b="0">
                <a:solidFill>
                  <a:srgbClr val="6E685E"/>
                </a:solidFill>
                <a:latin typeface="Segoe UI"/>
              </a:rPr>
              <a:t>  ·  Local AI Memory Shell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542032"/>
            <a:ext cx="118872" cy="118872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" y="2441448"/>
            <a:ext cx="5468112" cy="9784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EDE8DF"/>
                </a:solidFill>
                <a:latin typeface="Segoe UI Semibold"/>
              </a:rPr>
              <a:t>Semantic indexing  </a:t>
            </a:r>
            <a:r>
              <a:rPr sz="1250" b="0">
                <a:solidFill>
                  <a:srgbClr val="9A9388"/>
                </a:solidFill>
                <a:latin typeface="Segoe UI"/>
              </a:rPr>
              <a:t>every message is embedded and written to the vector DB.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3200400"/>
            <a:ext cx="118872" cy="118872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5568" y="3099816"/>
            <a:ext cx="5468112" cy="9784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EDE8DF"/>
                </a:solidFill>
                <a:latin typeface="Segoe UI Semibold"/>
              </a:rPr>
              <a:t>Contextual recall  </a:t>
            </a:r>
            <a:r>
              <a:rPr sz="1250" b="0">
                <a:solidFill>
                  <a:srgbClr val="9A9388"/>
                </a:solidFill>
                <a:latin typeface="Segoe UI"/>
              </a:rPr>
              <a:t>the most relevant memories (Top-K) are fetched before the answer.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3858768"/>
            <a:ext cx="118872" cy="118872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15568" y="3758183"/>
            <a:ext cx="5468112" cy="9784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EDE8DF"/>
                </a:solidFill>
                <a:latin typeface="Segoe UI Semibold"/>
              </a:rPr>
              <a:t>Infinite context  </a:t>
            </a:r>
            <a:r>
              <a:rPr sz="1250" b="0">
                <a:solidFill>
                  <a:srgbClr val="9A9388"/>
                </a:solidFill>
                <a:latin typeface="Segoe UI"/>
              </a:rPr>
              <a:t>details from weeks/months ago stay accessible.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4517136"/>
            <a:ext cx="118872" cy="118872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15568" y="4416551"/>
            <a:ext cx="5468112" cy="9784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EDE8DF"/>
                </a:solidFill>
                <a:latin typeface="Segoe UI Semibold"/>
              </a:rPr>
              <a:t>Asynchronous save  </a:t>
            </a:r>
            <a:r>
              <a:rPr sz="1250" b="0">
                <a:solidFill>
                  <a:srgbClr val="9A9388"/>
                </a:solidFill>
                <a:latin typeface="Segoe UI"/>
              </a:rPr>
              <a:t>the interaction is stored in the background; no answer delay.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5175503"/>
            <a:ext cx="118872" cy="118872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15568" y="5074919"/>
            <a:ext cx="5468112" cy="9784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EDE8DF"/>
                </a:solidFill>
                <a:latin typeface="Segoe UI Semibold"/>
              </a:rPr>
              <a:t>Cross-mode  </a:t>
            </a:r>
            <a:r>
              <a:rPr sz="1250" b="0">
                <a:solidFill>
                  <a:srgbClr val="9A9388"/>
                </a:solidFill>
                <a:latin typeface="Segoe UI"/>
              </a:rPr>
              <a:t>cloud for chat, local model for embedding — they're independent.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2377440"/>
            <a:ext cx="4114800" cy="475488"/>
          </a:xfrm>
          <a:prstGeom prst="roundRect">
            <a:avLst>
              <a:gd name="adj" fmla="val 6000"/>
            </a:avLst>
          </a:prstGeom>
          <a:solidFill>
            <a:srgbClr val="2F2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40880" y="2395728"/>
            <a:ext cx="411480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EDE8DF"/>
                </a:solidFill>
                <a:latin typeface="Segoe UI Semibold"/>
              </a:rPr>
              <a:t>User message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0880" y="2834640"/>
            <a:ext cx="4114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C9A35B"/>
                </a:solidFill>
                <a:latin typeface="Segoe UI"/>
              </a:rPr>
              <a:t>↓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040880" y="3054096"/>
            <a:ext cx="4114800" cy="475488"/>
          </a:xfrm>
          <a:prstGeom prst="roundRect">
            <a:avLst>
              <a:gd name="adj" fmla="val 6000"/>
            </a:avLst>
          </a:prstGeom>
          <a:solidFill>
            <a:srgbClr val="2F2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40880" y="3072384"/>
            <a:ext cx="411480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EDE8DF"/>
                </a:solidFill>
                <a:latin typeface="Segoe UI Semibold"/>
              </a:rPr>
              <a:t>Embedding model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3511296"/>
            <a:ext cx="4114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C9A35B"/>
                </a:solidFill>
                <a:latin typeface="Segoe UI"/>
              </a:rPr>
              <a:t>↓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040880" y="3730752"/>
            <a:ext cx="4114800" cy="475488"/>
          </a:xfrm>
          <a:prstGeom prst="roundRect">
            <a:avLst>
              <a:gd name="adj" fmla="val 6000"/>
            </a:avLst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40880" y="3749039"/>
            <a:ext cx="411480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1C1A17"/>
                </a:solidFill>
                <a:latin typeface="Segoe UI Semibold"/>
              </a:rPr>
              <a:t>vec0 ANN search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40880" y="4187952"/>
            <a:ext cx="4114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C9A35B"/>
                </a:solidFill>
                <a:latin typeface="Segoe UI"/>
              </a:rPr>
              <a:t>↓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040880" y="4407408"/>
            <a:ext cx="4114800" cy="475488"/>
          </a:xfrm>
          <a:prstGeom prst="roundRect">
            <a:avLst>
              <a:gd name="adj" fmla="val 6000"/>
            </a:avLst>
          </a:prstGeom>
          <a:solidFill>
            <a:srgbClr val="2F2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040880" y="4425696"/>
            <a:ext cx="411480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EDE8DF"/>
                </a:solidFill>
                <a:latin typeface="Segoe UI Semibold"/>
              </a:rPr>
              <a:t>Top-K relevant memories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40880" y="4864608"/>
            <a:ext cx="4114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C9A35B"/>
                </a:solidFill>
                <a:latin typeface="Segoe UI"/>
              </a:rPr>
              <a:t>↓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040880" y="5084064"/>
            <a:ext cx="4114800" cy="475488"/>
          </a:xfrm>
          <a:prstGeom prst="roundRect">
            <a:avLst>
              <a:gd name="adj" fmla="val 6000"/>
            </a:avLst>
          </a:prstGeom>
          <a:solidFill>
            <a:srgbClr val="2F2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040880" y="5102352"/>
            <a:ext cx="411480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EDE8DF"/>
                </a:solidFill>
                <a:latin typeface="Segoe UI Semibold"/>
              </a:rPr>
              <a:t>Injected into system prompt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40880" y="5541264"/>
            <a:ext cx="4114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C9A35B"/>
                </a:solidFill>
                <a:latin typeface="Segoe UI"/>
              </a:rPr>
              <a:t>↓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040880" y="5760720"/>
            <a:ext cx="4114800" cy="475488"/>
          </a:xfrm>
          <a:prstGeom prst="roundRect">
            <a:avLst>
              <a:gd name="adj" fmla="val 6000"/>
            </a:avLst>
          </a:prstGeom>
          <a:solidFill>
            <a:srgbClr val="7FB4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040880" y="5779008"/>
            <a:ext cx="411480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1C1A17"/>
                </a:solidFill>
                <a:latin typeface="Segoe UI Semibold"/>
              </a:rPr>
              <a:t>LLM answer + new entry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C9A35B"/>
                </a:solidFill>
                <a:latin typeface="Segoe UI Semibold"/>
              </a:rPr>
              <a:t>CHAPTER 02 · STORAGE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457200"/>
            <a:ext cx="1005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1">
                <a:solidFill>
                  <a:srgbClr val="9A9388"/>
                </a:solidFill>
                <a:latin typeface="Segoe UI Semibold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841248"/>
            <a:ext cx="106070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EDE8DF"/>
                </a:solidFill>
                <a:latin typeface="Segoe UI Semibold"/>
              </a:rPr>
              <a:t>SQLite + sqlite-vec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72768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0">
                <a:solidFill>
                  <a:srgbClr val="9A9388"/>
                </a:solidFill>
                <a:latin typeface="Segoe UI"/>
              </a:rPr>
              <a:t>A single-file, ACID-safe, ANN-indexed local vector store.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121408"/>
            <a:ext cx="10543032" cy="18288"/>
          </a:xfrm>
          <a:prstGeom prst="rect">
            <a:avLst/>
          </a:prstGeom>
          <a:solidFill>
            <a:srgbClr val="3A3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2116836"/>
            <a:ext cx="1280160" cy="32004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419088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C9A35B"/>
                </a:solidFill>
                <a:latin typeface="Segoe UI Semibold"/>
              </a:rPr>
              <a:t>MEMO</a:t>
            </a:r>
            <a:r>
              <a:rPr sz="1050" b="0">
                <a:solidFill>
                  <a:srgbClr val="6E685E"/>
                </a:solidFill>
                <a:latin typeface="Segoe UI"/>
              </a:rPr>
              <a:t>  ·  Local AI Memory Shell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423160"/>
            <a:ext cx="5029200" cy="3337560"/>
          </a:xfrm>
          <a:prstGeom prst="roundRect">
            <a:avLst>
              <a:gd name="adj" fmla="val 6000"/>
            </a:avLst>
          </a:prstGeom>
          <a:solidFill>
            <a:srgbClr val="262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578608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C9A35B"/>
                </a:solidFill>
                <a:latin typeface="Segoe UI Semibold"/>
              </a:rPr>
              <a:t>data/memory/memo.db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97280" y="3063240"/>
            <a:ext cx="4526280" cy="713232"/>
          </a:xfrm>
          <a:prstGeom prst="roundRect">
            <a:avLst>
              <a:gd name="adj" fmla="val 6000"/>
            </a:avLst>
          </a:prstGeom>
          <a:solidFill>
            <a:srgbClr val="2F2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25880" y="3154680"/>
            <a:ext cx="4114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7FB4AB"/>
                </a:solidFill>
                <a:latin typeface="Segoe UI Semibold"/>
              </a:rPr>
              <a:t>documents</a:t>
            </a:r>
            <a:r>
              <a:rPr sz="1100" b="0">
                <a:solidFill>
                  <a:srgbClr val="9A9388"/>
                </a:solidFill>
                <a:latin typeface="Segoe UI"/>
              </a:rPr>
              <a:t>  table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465576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A9388"/>
                </a:solidFill>
                <a:latin typeface="Segoe UI"/>
              </a:rPr>
              <a:t>id · content · created_at · metadata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97280" y="3904488"/>
            <a:ext cx="4526280" cy="713232"/>
          </a:xfrm>
          <a:prstGeom prst="roundRect">
            <a:avLst>
              <a:gd name="adj" fmla="val 6000"/>
            </a:avLst>
          </a:prstGeom>
          <a:solidFill>
            <a:srgbClr val="2F2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25880" y="3995928"/>
            <a:ext cx="4114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7FB4AB"/>
                </a:solidFill>
                <a:latin typeface="Segoe UI Semibold"/>
              </a:rPr>
              <a:t>vec0</a:t>
            </a:r>
            <a:r>
              <a:rPr sz="1100" b="0">
                <a:solidFill>
                  <a:srgbClr val="9A9388"/>
                </a:solidFill>
                <a:latin typeface="Segoe UI"/>
              </a:rPr>
              <a:t>  table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4306824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A9388"/>
                </a:solidFill>
                <a:latin typeface="Segoe UI"/>
              </a:rPr>
              <a:t>id · embedding (768-dim ANN)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97280" y="4745736"/>
            <a:ext cx="4526280" cy="713232"/>
          </a:xfrm>
          <a:prstGeom prst="roundRect">
            <a:avLst>
              <a:gd name="adj" fmla="val 6000"/>
            </a:avLst>
          </a:prstGeom>
          <a:solidFill>
            <a:srgbClr val="2F2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25880" y="4837176"/>
            <a:ext cx="4114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7FB4AB"/>
                </a:solidFill>
                <a:latin typeface="Segoe UI Semibold"/>
              </a:rPr>
              <a:t>metadata</a:t>
            </a:r>
            <a:r>
              <a:rPr sz="1100" b="0">
                <a:solidFill>
                  <a:srgbClr val="9A9388"/>
                </a:solidFill>
                <a:latin typeface="Segoe UI"/>
              </a:rPr>
              <a:t>  table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5148072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A9388"/>
                </a:solidFill>
                <a:latin typeface="Segoe UI"/>
              </a:rPr>
              <a:t>key · value (collection info)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72200" y="2423160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C9A35B"/>
                </a:solidFill>
                <a:latin typeface="Segoe UI Semibold"/>
              </a:rPr>
              <a:t>What SQLite Gives You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72200" y="2999232"/>
            <a:ext cx="118872" cy="118872"/>
          </a:xfrm>
          <a:prstGeom prst="rect">
            <a:avLst/>
          </a:prstGeom>
          <a:solidFill>
            <a:srgbClr val="7FB4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64808" y="2898648"/>
            <a:ext cx="4919472" cy="8869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EDE8DF"/>
                </a:solidFill>
                <a:latin typeface="Segoe UI Semibold"/>
              </a:rPr>
              <a:t>Atomic writes (ACID)  </a:t>
            </a:r>
            <a:r>
              <a:rPr sz="1250" b="0">
                <a:solidFill>
                  <a:srgbClr val="9A9388"/>
                </a:solidFill>
                <a:latin typeface="Segoe UI"/>
              </a:rPr>
              <a:t>ROLLBACK on crash, data stays intact.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72200" y="3566160"/>
            <a:ext cx="118872" cy="118872"/>
          </a:xfrm>
          <a:prstGeom prst="rect">
            <a:avLst/>
          </a:prstGeom>
          <a:solidFill>
            <a:srgbClr val="7FB4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4808" y="3465576"/>
            <a:ext cx="4919472" cy="8869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EDE8DF"/>
                </a:solidFill>
                <a:latin typeface="Segoe UI Semibold"/>
              </a:rPr>
              <a:t>Concurrent access  </a:t>
            </a:r>
            <a:r>
              <a:rPr sz="1250" b="0">
                <a:solidFill>
                  <a:srgbClr val="9A9388"/>
                </a:solidFill>
                <a:latin typeface="Segoe UI"/>
              </a:rPr>
              <a:t>WAL mode — parallel read/write.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72200" y="4133088"/>
            <a:ext cx="118872" cy="118872"/>
          </a:xfrm>
          <a:prstGeom prst="rect">
            <a:avLst/>
          </a:prstGeom>
          <a:solidFill>
            <a:srgbClr val="7FB4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64808" y="4032504"/>
            <a:ext cx="4919472" cy="8869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EDE8DF"/>
                </a:solidFill>
                <a:latin typeface="Segoe UI Semibold"/>
              </a:rPr>
              <a:t>Incremental update  </a:t>
            </a:r>
            <a:r>
              <a:rPr sz="1250" b="0">
                <a:solidFill>
                  <a:srgbClr val="9A9388"/>
                </a:solidFill>
                <a:latin typeface="Segoe UI"/>
              </a:rPr>
              <a:t>just an INSERT; no full DB rewrite.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72200" y="4700016"/>
            <a:ext cx="118872" cy="118872"/>
          </a:xfrm>
          <a:prstGeom prst="rect">
            <a:avLst/>
          </a:prstGeom>
          <a:solidFill>
            <a:srgbClr val="7FB4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64808" y="4599432"/>
            <a:ext cx="4919472" cy="8869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EDE8DF"/>
                </a:solidFill>
                <a:latin typeface="Segoe UI Semibold"/>
              </a:rPr>
              <a:t>No lazy loading needed  </a:t>
            </a:r>
            <a:r>
              <a:rPr sz="1250" b="0">
                <a:solidFill>
                  <a:srgbClr val="9A9388"/>
                </a:solidFill>
                <a:latin typeface="Segoe UI"/>
              </a:rPr>
              <a:t>queries fetch only what's required.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72200" y="5266944"/>
            <a:ext cx="118872" cy="118872"/>
          </a:xfrm>
          <a:prstGeom prst="rect">
            <a:avLst/>
          </a:prstGeom>
          <a:solidFill>
            <a:srgbClr val="7FB4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64808" y="5166360"/>
            <a:ext cx="4919472" cy="8869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EDE8DF"/>
                </a:solidFill>
                <a:latin typeface="Segoe UI Semibold"/>
              </a:rPr>
              <a:t>O(log N) search  </a:t>
            </a:r>
            <a:r>
              <a:rPr sz="1250" b="0">
                <a:solidFill>
                  <a:srgbClr val="9A9388"/>
                </a:solidFill>
                <a:latin typeface="Segoe UI"/>
              </a:rPr>
              <a:t>fast similarity via the vec0 ANN index.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C9A35B"/>
                </a:solidFill>
                <a:latin typeface="Segoe UI Semibold"/>
              </a:rPr>
              <a:t>CHAPTER 02 ·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457200"/>
            <a:ext cx="1005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1">
                <a:solidFill>
                  <a:srgbClr val="9A9388"/>
                </a:solidFill>
                <a:latin typeface="Segoe UI Semibold"/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841248"/>
            <a:ext cx="106070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EDE8DF"/>
                </a:solidFill>
                <a:latin typeface="Segoe UI Semibold"/>
              </a:rPr>
              <a:t>Search Flow &amp; Inference Engine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72768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0">
                <a:solidFill>
                  <a:srgbClr val="9A9388"/>
                </a:solidFill>
                <a:latin typeface="Segoe UI"/>
              </a:rPr>
              <a:t>Semantic search in six steps; inference is model-agnostic with two servers.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121408"/>
            <a:ext cx="10543032" cy="18288"/>
          </a:xfrm>
          <a:prstGeom prst="rect">
            <a:avLst/>
          </a:prstGeom>
          <a:solidFill>
            <a:srgbClr val="3A3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2116836"/>
            <a:ext cx="1280160" cy="32004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419088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C9A35B"/>
                </a:solidFill>
                <a:latin typeface="Segoe UI Semibold"/>
              </a:rPr>
              <a:t>MEMO</a:t>
            </a:r>
            <a:r>
              <a:rPr sz="1050" b="0">
                <a:solidFill>
                  <a:srgbClr val="6E685E"/>
                </a:solidFill>
                <a:latin typeface="Segoe UI"/>
              </a:rPr>
              <a:t>  ·  Local AI Memory Shell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377440"/>
            <a:ext cx="5760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C9A35B"/>
                </a:solidFill>
                <a:latin typeface="Segoe UI Semibold"/>
              </a:rPr>
              <a:t>How is a message “remembered”?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2834640"/>
            <a:ext cx="384048" cy="384048"/>
          </a:xfrm>
          <a:prstGeom prst="ellipse">
            <a:avLst/>
          </a:prstGeom>
          <a:solidFill>
            <a:srgbClr val="3833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852928"/>
            <a:ext cx="384048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C9A35B"/>
                </a:solidFill>
                <a:latin typeface="Segoe UI Semibold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871216"/>
            <a:ext cx="5120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EDE8DF"/>
                </a:solidFill>
                <a:latin typeface="Segoe UI"/>
              </a:rPr>
              <a:t>User writes: "suggest a graphics card"</a:t>
            </a:r>
          </a:p>
        </p:txBody>
      </p:sp>
      <p:sp>
        <p:nvSpPr>
          <p:cNvPr id="14" name="Oval 13"/>
          <p:cNvSpPr/>
          <p:nvPr/>
        </p:nvSpPr>
        <p:spPr>
          <a:xfrm>
            <a:off x="822960" y="3337560"/>
            <a:ext cx="384048" cy="384048"/>
          </a:xfrm>
          <a:prstGeom prst="ellipse">
            <a:avLst/>
          </a:prstGeom>
          <a:solidFill>
            <a:srgbClr val="3833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355848"/>
            <a:ext cx="384048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C9A35B"/>
                </a:solidFill>
                <a:latin typeface="Segoe UI Semibol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374136"/>
            <a:ext cx="5120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EDE8DF"/>
                </a:solidFill>
                <a:latin typeface="Segoe UI"/>
              </a:rPr>
              <a:t>Text goes to the embedding model → vector</a:t>
            </a:r>
          </a:p>
        </p:txBody>
      </p:sp>
      <p:sp>
        <p:nvSpPr>
          <p:cNvPr id="17" name="Oval 16"/>
          <p:cNvSpPr/>
          <p:nvPr/>
        </p:nvSpPr>
        <p:spPr>
          <a:xfrm>
            <a:off x="822960" y="3840480"/>
            <a:ext cx="384048" cy="384048"/>
          </a:xfrm>
          <a:prstGeom prst="ellipse">
            <a:avLst/>
          </a:prstGeom>
          <a:solidFill>
            <a:srgbClr val="3833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858768"/>
            <a:ext cx="384048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C9A35B"/>
                </a:solidFill>
                <a:latin typeface="Segoe UI Semibol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3877056"/>
            <a:ext cx="5120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EDE8DF"/>
                </a:solidFill>
                <a:latin typeface="Segoe UI"/>
              </a:rPr>
              <a:t>ANN similarity search over vec0</a:t>
            </a:r>
          </a:p>
        </p:txBody>
      </p:sp>
      <p:sp>
        <p:nvSpPr>
          <p:cNvPr id="20" name="Oval 19"/>
          <p:cNvSpPr/>
          <p:nvPr/>
        </p:nvSpPr>
        <p:spPr>
          <a:xfrm>
            <a:off x="822960" y="4343400"/>
            <a:ext cx="384048" cy="384048"/>
          </a:xfrm>
          <a:prstGeom prst="ellipse">
            <a:avLst/>
          </a:prstGeom>
          <a:solidFill>
            <a:srgbClr val="3833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4361688"/>
            <a:ext cx="384048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C9A35B"/>
                </a:solidFill>
                <a:latin typeface="Segoe UI Semibold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4379976"/>
            <a:ext cx="5120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EDE8DF"/>
                </a:solidFill>
                <a:latin typeface="Segoe UI"/>
              </a:rPr>
              <a:t>The 5 most similar entries (Top-K) are found</a:t>
            </a:r>
          </a:p>
        </p:txBody>
      </p:sp>
      <p:sp>
        <p:nvSpPr>
          <p:cNvPr id="23" name="Oval 22"/>
          <p:cNvSpPr/>
          <p:nvPr/>
        </p:nvSpPr>
        <p:spPr>
          <a:xfrm>
            <a:off x="822960" y="4846320"/>
            <a:ext cx="384048" cy="384048"/>
          </a:xfrm>
          <a:prstGeom prst="ellipse">
            <a:avLst/>
          </a:prstGeom>
          <a:solidFill>
            <a:srgbClr val="3833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4864607"/>
            <a:ext cx="384048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C9A35B"/>
                </a:solidFill>
                <a:latin typeface="Segoe UI Semibold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4882896"/>
            <a:ext cx="5120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EDE8DF"/>
                </a:solidFill>
                <a:latin typeface="Segoe UI"/>
              </a:rPr>
              <a:t>Their content is added to the system prompt</a:t>
            </a:r>
          </a:p>
        </p:txBody>
      </p:sp>
      <p:sp>
        <p:nvSpPr>
          <p:cNvPr id="26" name="Oval 25"/>
          <p:cNvSpPr/>
          <p:nvPr/>
        </p:nvSpPr>
        <p:spPr>
          <a:xfrm>
            <a:off x="822960" y="5349240"/>
            <a:ext cx="384048" cy="384048"/>
          </a:xfrm>
          <a:prstGeom prst="ellipse">
            <a:avLst/>
          </a:prstGeom>
          <a:solidFill>
            <a:srgbClr val="3833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5367527"/>
            <a:ext cx="384048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C9A35B"/>
                </a:solidFill>
                <a:latin typeface="Segoe UI Semibold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385816"/>
            <a:ext cx="5120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EDE8DF"/>
                </a:solidFill>
                <a:latin typeface="Segoe UI"/>
              </a:rPr>
              <a:t>LLM answers, “remembering” the past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58000" y="2423160"/>
            <a:ext cx="4526280" cy="3337560"/>
          </a:xfrm>
          <a:prstGeom prst="roundRect">
            <a:avLst>
              <a:gd name="adj" fmla="val 6000"/>
            </a:avLst>
          </a:prstGeom>
          <a:solidFill>
            <a:srgbClr val="262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114032" y="2606040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C9A35B"/>
                </a:solidFill>
                <a:latin typeface="Segoe UI Semibold"/>
              </a:rPr>
              <a:t>Model-Agnostic Engine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14032" y="3182112"/>
            <a:ext cx="118872" cy="118872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06640" y="3081528"/>
            <a:ext cx="3730752" cy="9235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EDE8DF"/>
                </a:solidFill>
                <a:latin typeface="Segoe UI Semibold"/>
              </a:rPr>
              <a:t>Built-in llama-server  </a:t>
            </a:r>
            <a:r>
              <a:rPr sz="1250" b="0">
                <a:solidFill>
                  <a:srgbClr val="9A9388"/>
                </a:solidFill>
                <a:latin typeface="Segoe UI"/>
              </a:rPr>
              <a:t>high-performance GGUF inference.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114032" y="3785615"/>
            <a:ext cx="118872" cy="118872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06640" y="3685031"/>
            <a:ext cx="3730752" cy="9235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EDE8DF"/>
                </a:solidFill>
                <a:latin typeface="Segoe UI Semibold"/>
              </a:rPr>
              <a:t>Dedicated embedding server  </a:t>
            </a:r>
            <a:r>
              <a:rPr sz="1250" b="0">
                <a:solidFill>
                  <a:srgbClr val="9A9388"/>
                </a:solidFill>
                <a:latin typeface="Segoe UI"/>
              </a:rPr>
              <a:t>memory indexing on a separate port (8082).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114032" y="4389120"/>
            <a:ext cx="118872" cy="118872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406640" y="4288536"/>
            <a:ext cx="3730752" cy="9235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EDE8DF"/>
                </a:solidFill>
                <a:latin typeface="Segoe UI Semibold"/>
              </a:rPr>
              <a:t>External API compatibility  </a:t>
            </a:r>
            <a:r>
              <a:rPr sz="1250" b="0">
                <a:solidFill>
                  <a:srgbClr val="9A9388"/>
                </a:solidFill>
                <a:latin typeface="Segoe UI"/>
              </a:rPr>
              <a:t>LM-Studio / OpenAI-compatible local API.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114032" y="4992624"/>
            <a:ext cx="118872" cy="118872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406640" y="4892040"/>
            <a:ext cx="3730752" cy="9235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EDE8DF"/>
                </a:solidFill>
                <a:latin typeface="Segoe UI Semibold"/>
              </a:rPr>
              <a:t>Auto-start  </a:t>
            </a:r>
            <a:r>
              <a:rPr sz="1250" b="0">
                <a:solidFill>
                  <a:srgbClr val="9A9388"/>
                </a:solidFill>
                <a:latin typeface="Segoe UI"/>
              </a:rPr>
              <a:t>the embedding model is ready at launch.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148085908000" cy="6270955200000"/>
          </a:xfrm>
          <a:prstGeom prst="rect">
            <a:avLst/>
          </a:prstGeom>
          <a:solidFill>
            <a:srgbClr val="1C1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961120" y="-1280160"/>
            <a:ext cx="5120640" cy="5120640"/>
          </a:xfrm>
          <a:prstGeom prst="ellipse">
            <a:avLst/>
          </a:prstGeom>
          <a:solidFill>
            <a:srgbClr val="262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149840" y="3657600"/>
            <a:ext cx="3108960" cy="3108960"/>
          </a:xfrm>
          <a:prstGeom prst="ellipse">
            <a:avLst/>
          </a:prstGeom>
          <a:solidFill>
            <a:srgbClr val="2F2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280160"/>
            <a:ext cx="640080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0" b="1">
                <a:solidFill>
                  <a:srgbClr val="38332C"/>
                </a:solidFill>
                <a:latin typeface="Segoe UI Light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05740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C9A35B"/>
                </a:solidFill>
                <a:latin typeface="Segoe UI Semibold"/>
              </a:rPr>
              <a:t>CHAPTER THREE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423160"/>
            <a:ext cx="8229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4200" b="1">
                <a:solidFill>
                  <a:srgbClr val="EDE8DF"/>
                </a:solidFill>
                <a:latin typeface="Segoe UI Semibold"/>
              </a:rPr>
              <a:t>Architecture
&amp; Tech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78992" y="4178808"/>
            <a:ext cx="201168" cy="36576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17320" y="4069080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9A9388"/>
                </a:solidFill>
                <a:latin typeface="Segoe UI"/>
              </a:rPr>
              <a:t>High-level architecture — Flutter + Go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78992" y="4654296"/>
            <a:ext cx="201168" cy="36576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17320" y="4544568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9A9388"/>
                </a:solidFill>
                <a:latin typeface="Segoe UI"/>
              </a:rPr>
              <a:t>Backend modules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78992" y="5129783"/>
            <a:ext cx="201168" cy="36576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17320" y="5020055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9A9388"/>
                </a:solidFill>
                <a:latin typeface="Segoe UI"/>
              </a:rPr>
              <a:t>Frontend (Riverpod / Dio)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78992" y="5605271"/>
            <a:ext cx="201168" cy="36576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17320" y="5495543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9A9388"/>
                </a:solidFill>
                <a:latin typeface="Segoe UI"/>
              </a:rPr>
              <a:t>REST API endpoints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C9A35B"/>
                </a:solidFill>
                <a:latin typeface="Segoe UI Semibold"/>
              </a:rPr>
              <a:t>CHAPTER 03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457200"/>
            <a:ext cx="1005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1">
                <a:solidFill>
                  <a:srgbClr val="9A9388"/>
                </a:solidFill>
                <a:latin typeface="Segoe UI Semibold"/>
              </a:rP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841248"/>
            <a:ext cx="106070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EDE8DF"/>
                </a:solidFill>
                <a:latin typeface="Segoe UI Semibold"/>
              </a:rPr>
              <a:t>High-Level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72768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0">
                <a:solidFill>
                  <a:srgbClr val="9A9388"/>
                </a:solidFill>
                <a:latin typeface="Segoe UI"/>
              </a:rPr>
              <a:t>Flutter desktop client ↔ headless Go server, over REST/JSON/SSE.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121408"/>
            <a:ext cx="10543032" cy="18288"/>
          </a:xfrm>
          <a:prstGeom prst="rect">
            <a:avLst/>
          </a:prstGeom>
          <a:solidFill>
            <a:srgbClr val="3A3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2116836"/>
            <a:ext cx="1280160" cy="32004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419088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C9A35B"/>
                </a:solidFill>
                <a:latin typeface="Segoe UI Semibold"/>
              </a:rPr>
              <a:t>MEMO</a:t>
            </a:r>
            <a:r>
              <a:rPr sz="1050" b="0">
                <a:solidFill>
                  <a:srgbClr val="6E685E"/>
                </a:solidFill>
                <a:latin typeface="Segoe UI"/>
              </a:rPr>
              <a:t>  ·  Local AI Memory Shell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286000"/>
            <a:ext cx="3200400" cy="3429000"/>
          </a:xfrm>
          <a:prstGeom prst="roundRect">
            <a:avLst>
              <a:gd name="adj" fmla="val 6000"/>
            </a:avLst>
          </a:prstGeom>
          <a:solidFill>
            <a:srgbClr val="262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2286000"/>
            <a:ext cx="3200400" cy="502920"/>
          </a:xfrm>
          <a:prstGeom prst="rect">
            <a:avLst/>
          </a:prstGeom>
          <a:solidFill>
            <a:srgbClr val="7FB4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313432"/>
            <a:ext cx="3200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C1A17"/>
                </a:solidFill>
                <a:latin typeface="Segoe UI Semibold"/>
              </a:rPr>
              <a:t>FRONTEND · Flutter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51560" y="3136392"/>
            <a:ext cx="118872" cy="118872"/>
          </a:xfrm>
          <a:prstGeom prst="rect">
            <a:avLst/>
          </a:prstGeom>
          <a:solidFill>
            <a:srgbClr val="7FB4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44168" y="3035808"/>
            <a:ext cx="2496312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EDE8DF"/>
                </a:solidFill>
                <a:latin typeface="Segoe UI"/>
              </a:rPr>
              <a:t>Riverpod 2.x state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51560" y="3648456"/>
            <a:ext cx="118872" cy="118872"/>
          </a:xfrm>
          <a:prstGeom prst="rect">
            <a:avLst/>
          </a:prstGeom>
          <a:solidFill>
            <a:srgbClr val="7FB4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44168" y="3547872"/>
            <a:ext cx="2496312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EDE8DF"/>
                </a:solidFill>
                <a:latin typeface="Segoe UI"/>
              </a:rPr>
              <a:t>Dio HTTP + SSE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51560" y="4160520"/>
            <a:ext cx="118872" cy="118872"/>
          </a:xfrm>
          <a:prstGeom prst="rect">
            <a:avLst/>
          </a:prstGeom>
          <a:solidFill>
            <a:srgbClr val="7FB4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44168" y="4059936"/>
            <a:ext cx="2496312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EDE8DF"/>
                </a:solidFill>
                <a:latin typeface="Segoe UI"/>
              </a:rPr>
              <a:t>Linux · Windows · macOS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51560" y="4672584"/>
            <a:ext cx="118872" cy="118872"/>
          </a:xfrm>
          <a:prstGeom prst="rect">
            <a:avLst/>
          </a:prstGeom>
          <a:solidFill>
            <a:srgbClr val="7FB4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44168" y="4572000"/>
            <a:ext cx="2496312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EDE8DF"/>
                </a:solidFill>
                <a:latin typeface="Segoe UI"/>
              </a:rPr>
              <a:t>ApiClient ~600 lines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51560" y="5184648"/>
            <a:ext cx="118872" cy="118872"/>
          </a:xfrm>
          <a:prstGeom prst="rect">
            <a:avLst/>
          </a:prstGeom>
          <a:solidFill>
            <a:srgbClr val="7FB4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44168" y="5084064"/>
            <a:ext cx="2496312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EDE8DF"/>
                </a:solidFill>
                <a:latin typeface="Segoe UI"/>
              </a:rPr>
              <a:t>8-tab settings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97680" y="2286000"/>
            <a:ext cx="7086600" cy="3429000"/>
          </a:xfrm>
          <a:prstGeom prst="roundRect">
            <a:avLst>
              <a:gd name="adj" fmla="val 6000"/>
            </a:avLst>
          </a:prstGeom>
          <a:solidFill>
            <a:srgbClr val="262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97680" y="2286000"/>
            <a:ext cx="7086600" cy="502920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97680" y="2313432"/>
            <a:ext cx="7086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C1A17"/>
                </a:solidFill>
                <a:latin typeface="Segoe UI Semibold"/>
              </a:rPr>
              <a:t>BACKEND · Go  (:8090)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80560" y="3035808"/>
            <a:ext cx="1572768" cy="1078992"/>
          </a:xfrm>
          <a:prstGeom prst="roundRect">
            <a:avLst>
              <a:gd name="adj" fmla="val 6000"/>
            </a:avLst>
          </a:prstGeom>
          <a:solidFill>
            <a:srgbClr val="2F2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26280" y="3200400"/>
            <a:ext cx="1481328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EDE8DF"/>
                </a:solidFill>
                <a:latin typeface="Segoe UI Semibold"/>
              </a:rPr>
              <a:t>Memory Store</a:t>
            </a:r>
          </a:p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9A9388"/>
                </a:solidFill>
                <a:latin typeface="Segoe UI"/>
              </a:rPr>
              <a:t>sqlite-vec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81344" y="3035808"/>
            <a:ext cx="1572768" cy="1078992"/>
          </a:xfrm>
          <a:prstGeom prst="roundRect">
            <a:avLst>
              <a:gd name="adj" fmla="val 6000"/>
            </a:avLst>
          </a:prstGeom>
          <a:solidFill>
            <a:srgbClr val="2F2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27064" y="3200400"/>
            <a:ext cx="1481328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EDE8DF"/>
                </a:solidFill>
                <a:latin typeface="Segoe UI Semibold"/>
              </a:rPr>
              <a:t>Session Mgr</a:t>
            </a:r>
          </a:p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9A9388"/>
                </a:solidFill>
                <a:latin typeface="Segoe UI"/>
              </a:rPr>
              <a:t>JSON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882128" y="3035808"/>
            <a:ext cx="1572768" cy="1078992"/>
          </a:xfrm>
          <a:prstGeom prst="roundRect">
            <a:avLst>
              <a:gd name="adj" fmla="val 6000"/>
            </a:avLst>
          </a:prstGeom>
          <a:solidFill>
            <a:srgbClr val="2F2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27848" y="3200400"/>
            <a:ext cx="1481328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EDE8DF"/>
                </a:solidFill>
                <a:latin typeface="Segoe UI Semibold"/>
              </a:rPr>
              <a:t>Llama Mgr</a:t>
            </a:r>
          </a:p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9A9388"/>
                </a:solidFill>
                <a:latin typeface="Segoe UI"/>
              </a:rPr>
              <a:t>subprocess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582912" y="3035808"/>
            <a:ext cx="1572768" cy="1078992"/>
          </a:xfrm>
          <a:prstGeom prst="roundRect">
            <a:avLst>
              <a:gd name="adj" fmla="val 6000"/>
            </a:avLst>
          </a:prstGeom>
          <a:solidFill>
            <a:srgbClr val="2F2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28632" y="3200400"/>
            <a:ext cx="1481328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EDE8DF"/>
                </a:solidFill>
                <a:latin typeface="Segoe UI Semibold"/>
              </a:rPr>
              <a:t>Provider Router</a:t>
            </a:r>
          </a:p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9A9388"/>
                </a:solidFill>
                <a:latin typeface="Segoe UI"/>
              </a:rPr>
              <a:t>fallback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480560" y="4270248"/>
            <a:ext cx="1572768" cy="1078992"/>
          </a:xfrm>
          <a:prstGeom prst="roundRect">
            <a:avLst>
              <a:gd name="adj" fmla="val 6000"/>
            </a:avLst>
          </a:prstGeom>
          <a:solidFill>
            <a:srgbClr val="2F2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26280" y="4434840"/>
            <a:ext cx="1481328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EDE8DF"/>
                </a:solidFill>
                <a:latin typeface="Segoe UI Semibold"/>
              </a:rPr>
              <a:t>Agent Engine</a:t>
            </a:r>
          </a:p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9A9388"/>
                </a:solidFill>
                <a:latin typeface="Segoe UI"/>
              </a:rPr>
              <a:t>tool calling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81344" y="4270248"/>
            <a:ext cx="1572768" cy="1078992"/>
          </a:xfrm>
          <a:prstGeom prst="roundRect">
            <a:avLst>
              <a:gd name="adj" fmla="val 6000"/>
            </a:avLst>
          </a:prstGeom>
          <a:solidFill>
            <a:srgbClr val="2F2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27064" y="4434840"/>
            <a:ext cx="1481328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EDE8DF"/>
                </a:solidFill>
                <a:latin typeface="Segoe UI Semibold"/>
              </a:rPr>
              <a:t>Orchestra</a:t>
            </a:r>
          </a:p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9A9388"/>
                </a:solidFill>
                <a:latin typeface="Segoe UI"/>
              </a:rPr>
              <a:t>multi-model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882128" y="4270248"/>
            <a:ext cx="1572768" cy="1078992"/>
          </a:xfrm>
          <a:prstGeom prst="roundRect">
            <a:avLst>
              <a:gd name="adj" fmla="val 6000"/>
            </a:avLst>
          </a:prstGeom>
          <a:solidFill>
            <a:srgbClr val="2F2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927848" y="4434840"/>
            <a:ext cx="1481328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EDE8DF"/>
                </a:solidFill>
                <a:latin typeface="Segoe UI Semibold"/>
              </a:rPr>
              <a:t>Cloud Sync</a:t>
            </a:r>
          </a:p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9A9388"/>
                </a:solidFill>
                <a:latin typeface="Segoe UI"/>
              </a:rPr>
              <a:t>Drive/AES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582912" y="4270248"/>
            <a:ext cx="1572768" cy="1078992"/>
          </a:xfrm>
          <a:prstGeom prst="roundRect">
            <a:avLst>
              <a:gd name="adj" fmla="val 6000"/>
            </a:avLst>
          </a:prstGeom>
          <a:solidFill>
            <a:srgbClr val="2F2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628632" y="4434840"/>
            <a:ext cx="1481328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EDE8DF"/>
                </a:solidFill>
                <a:latin typeface="Segoe UI Semibold"/>
              </a:rPr>
              <a:t>Model Store</a:t>
            </a:r>
          </a:p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9A9388"/>
                </a:solidFill>
                <a:latin typeface="Segoe UI"/>
              </a:rPr>
              <a:t>HF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2960" y="580644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9A9388"/>
                </a:solidFill>
                <a:latin typeface="Segoe UI"/>
              </a:rPr>
              <a:t>app.go (2,400+ lines) is the central orchestrator — LLM lifecycle, memory, sessions, providers, agent and orchestra.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C9A35B"/>
                </a:solidFill>
                <a:latin typeface="Segoe UI Semibold"/>
              </a:rPr>
              <a:t>CHAPTER 03 · BACKEND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457200"/>
            <a:ext cx="1005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1">
                <a:solidFill>
                  <a:srgbClr val="9A9388"/>
                </a:solidFill>
                <a:latin typeface="Segoe UI Semibold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841248"/>
            <a:ext cx="106070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EDE8DF"/>
                </a:solidFill>
                <a:latin typeface="Segoe UI Semibold"/>
              </a:rPr>
              <a:t>Backend Modules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72768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0">
                <a:solidFill>
                  <a:srgbClr val="9A9388"/>
                </a:solidFill>
                <a:latin typeface="Segoe UI"/>
              </a:rPr>
              <a:t>Packages written in Go — each carries a clear responsibility.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121408"/>
            <a:ext cx="10543032" cy="18288"/>
          </a:xfrm>
          <a:prstGeom prst="rect">
            <a:avLst/>
          </a:prstGeom>
          <a:solidFill>
            <a:srgbClr val="3A3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2116836"/>
            <a:ext cx="1280160" cy="32004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419088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C9A35B"/>
                </a:solidFill>
                <a:latin typeface="Segoe UI Semibold"/>
              </a:rPr>
              <a:t>MEMO</a:t>
            </a:r>
            <a:r>
              <a:rPr sz="1050" b="0">
                <a:solidFill>
                  <a:srgbClr val="6E685E"/>
                </a:solidFill>
                <a:latin typeface="Segoe UI"/>
              </a:rPr>
              <a:t>  ·  Local AI Memory Shell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468880"/>
            <a:ext cx="5120640" cy="713232"/>
          </a:xfrm>
          <a:prstGeom prst="roundRect">
            <a:avLst>
              <a:gd name="adj" fmla="val 6000"/>
            </a:avLst>
          </a:prstGeom>
          <a:solidFill>
            <a:srgbClr val="262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2596896"/>
            <a:ext cx="54864" cy="457200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2551176"/>
            <a:ext cx="4846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7FB4AB"/>
                </a:solidFill>
                <a:latin typeface="Segoe UI Semibold"/>
              </a:rPr>
              <a:t>internal/memory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2862072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80" b="0">
                <a:solidFill>
                  <a:srgbClr val="9A9388"/>
                </a:solidFill>
                <a:latin typeface="Segoe UI"/>
              </a:rPr>
              <a:t>SQLite + sqlite-vec store, ANN search, embedding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44768" y="2468880"/>
            <a:ext cx="5120640" cy="713232"/>
          </a:xfrm>
          <a:prstGeom prst="roundRect">
            <a:avLst>
              <a:gd name="adj" fmla="val 6000"/>
            </a:avLst>
          </a:prstGeom>
          <a:solidFill>
            <a:srgbClr val="262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4768" y="2596896"/>
            <a:ext cx="54864" cy="457200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73368" y="2551176"/>
            <a:ext cx="4846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7FB4AB"/>
                </a:solidFill>
                <a:latin typeface="Segoe UI Semibold"/>
              </a:rPr>
              <a:t>internal/llama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3368" y="2862072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80" b="0">
                <a:solidFill>
                  <a:srgbClr val="9A9388"/>
                </a:solidFill>
                <a:latin typeface="Segoe UI"/>
              </a:rPr>
              <a:t>llama-server process mgmt, GPU layer detection, installer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3310128"/>
            <a:ext cx="5120640" cy="713232"/>
          </a:xfrm>
          <a:prstGeom prst="roundRect">
            <a:avLst>
              <a:gd name="adj" fmla="val 6000"/>
            </a:avLst>
          </a:prstGeom>
          <a:solidFill>
            <a:srgbClr val="262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60" y="3438144"/>
            <a:ext cx="54864" cy="457200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1560" y="3392424"/>
            <a:ext cx="4846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7FB4AB"/>
                </a:solidFill>
                <a:latin typeface="Segoe UI Semibold"/>
              </a:rPr>
              <a:t>internal/provider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3703320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80" b="0">
                <a:solidFill>
                  <a:srgbClr val="9A9388"/>
                </a:solidFill>
                <a:latin typeface="Segoe UI"/>
              </a:rPr>
              <a:t>7 providers, Router + fallback, AES-256 encrypted keys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44768" y="3310128"/>
            <a:ext cx="5120640" cy="713232"/>
          </a:xfrm>
          <a:prstGeom prst="roundRect">
            <a:avLst>
              <a:gd name="adj" fmla="val 6000"/>
            </a:avLst>
          </a:prstGeom>
          <a:solidFill>
            <a:srgbClr val="262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3438144"/>
            <a:ext cx="54864" cy="457200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73368" y="3392424"/>
            <a:ext cx="4846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7FB4AB"/>
                </a:solidFill>
                <a:latin typeface="Segoe UI Semibold"/>
              </a:rPr>
              <a:t>internal/agent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73368" y="3703320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80" b="0">
                <a:solidFill>
                  <a:srgbClr val="9A9388"/>
                </a:solidFill>
                <a:latin typeface="Segoe UI"/>
              </a:rPr>
              <a:t>8+ tools, permission manager, sandbox, pipeline, audit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" y="4151376"/>
            <a:ext cx="5120640" cy="713232"/>
          </a:xfrm>
          <a:prstGeom prst="roundRect">
            <a:avLst>
              <a:gd name="adj" fmla="val 6000"/>
            </a:avLst>
          </a:prstGeom>
          <a:solidFill>
            <a:srgbClr val="262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2960" y="4279392"/>
            <a:ext cx="54864" cy="457200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51560" y="4233672"/>
            <a:ext cx="4846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7FB4AB"/>
                </a:solidFill>
                <a:latin typeface="Segoe UI Semibold"/>
              </a:rPr>
              <a:t>internal/orchestra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" y="4544568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80" b="0">
                <a:solidFill>
                  <a:srgbClr val="9A9388"/>
                </a:solidFill>
                <a:latin typeface="Segoe UI"/>
              </a:rPr>
              <a:t>chief + 8 roles, parallel/sequential tasks, retry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44768" y="4151376"/>
            <a:ext cx="5120640" cy="713232"/>
          </a:xfrm>
          <a:prstGeom prst="roundRect">
            <a:avLst>
              <a:gd name="adj" fmla="val 6000"/>
            </a:avLst>
          </a:prstGeom>
          <a:solidFill>
            <a:srgbClr val="262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44768" y="4279392"/>
            <a:ext cx="54864" cy="457200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73368" y="4233672"/>
            <a:ext cx="4846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7FB4AB"/>
                </a:solidFill>
                <a:latin typeface="Segoe UI Semibold"/>
              </a:rPr>
              <a:t>internal/cloudsync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73368" y="4544568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80" b="0">
                <a:solidFill>
                  <a:srgbClr val="9A9388"/>
                </a:solidFill>
                <a:latin typeface="Segoe UI"/>
              </a:rPr>
              <a:t>Drive OAuth2, AES-256-GCM, PBKDF2, zip archive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60" y="4992624"/>
            <a:ext cx="5120640" cy="713232"/>
          </a:xfrm>
          <a:prstGeom prst="roundRect">
            <a:avLst>
              <a:gd name="adj" fmla="val 6000"/>
            </a:avLst>
          </a:prstGeom>
          <a:solidFill>
            <a:srgbClr val="262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22960" y="5120640"/>
            <a:ext cx="54864" cy="457200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51560" y="5074920"/>
            <a:ext cx="4846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7FB4AB"/>
                </a:solidFill>
                <a:latin typeface="Segoe UI Semibold"/>
              </a:rPr>
              <a:t>internal/calendar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" y="5385816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80" b="0">
                <a:solidFill>
                  <a:srgbClr val="9A9388"/>
                </a:solidFill>
                <a:latin typeface="Segoe UI"/>
              </a:rPr>
              <a:t>event store, reminder loop, intent bridge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44768" y="4992624"/>
            <a:ext cx="5120640" cy="713232"/>
          </a:xfrm>
          <a:prstGeom prst="roundRect">
            <a:avLst>
              <a:gd name="adj" fmla="val 6000"/>
            </a:avLst>
          </a:prstGeom>
          <a:solidFill>
            <a:srgbClr val="262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144768" y="5120640"/>
            <a:ext cx="54864" cy="457200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73368" y="5074920"/>
            <a:ext cx="4846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7FB4AB"/>
                </a:solidFill>
                <a:latin typeface="Segoe UI Semibold"/>
              </a:rPr>
              <a:t>internal/sessions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73368" y="5385816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80" b="0">
                <a:solidFill>
                  <a:srgbClr val="9A9388"/>
                </a:solidFill>
                <a:latin typeface="Segoe UI"/>
              </a:rPr>
              <a:t>JSON session CRUD, auto-title generation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C9A35B"/>
                </a:solidFill>
                <a:latin typeface="Segoe UI Semibold"/>
              </a:rPr>
              <a:t>CHAPTER 03 · FRONTEND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457200"/>
            <a:ext cx="1005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1">
                <a:solidFill>
                  <a:srgbClr val="9A9388"/>
                </a:solidFill>
                <a:latin typeface="Segoe UI Semibold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841248"/>
            <a:ext cx="106070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EDE8DF"/>
                </a:solidFill>
                <a:latin typeface="Segoe UI Semibold"/>
              </a:rPr>
              <a:t>Flutter Client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72768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0">
                <a:solidFill>
                  <a:srgbClr val="9A9388"/>
                </a:solidFill>
                <a:latin typeface="Segoe UI"/>
              </a:rPr>
              <a:t>Riverpod-based state management, streaming communication via Dio + SSE.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121408"/>
            <a:ext cx="10543032" cy="18288"/>
          </a:xfrm>
          <a:prstGeom prst="rect">
            <a:avLst/>
          </a:prstGeom>
          <a:solidFill>
            <a:srgbClr val="3A3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2116836"/>
            <a:ext cx="1280160" cy="32004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419088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C9A35B"/>
                </a:solidFill>
                <a:latin typeface="Segoe UI Semibold"/>
              </a:rPr>
              <a:t>MEMO</a:t>
            </a:r>
            <a:r>
              <a:rPr sz="1050" b="0">
                <a:solidFill>
                  <a:srgbClr val="6E685E"/>
                </a:solidFill>
                <a:latin typeface="Segoe UI"/>
              </a:rPr>
              <a:t>  ·  Local AI Memory Shell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542032"/>
            <a:ext cx="118872" cy="118872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" y="2441448"/>
            <a:ext cx="5376672" cy="8869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EDE8DF"/>
                </a:solidFill>
                <a:latin typeface="Segoe UI Semibold"/>
              </a:rPr>
              <a:t>Riverpod 2.x  </a:t>
            </a:r>
            <a:r>
              <a:rPr sz="1250" b="0">
                <a:solidFill>
                  <a:srgbClr val="9A9388"/>
                </a:solidFill>
                <a:latin typeface="Segoe UI"/>
              </a:rPr>
              <a:t>reactive state with Notifier / AsyncNotifier.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3108960"/>
            <a:ext cx="118872" cy="118872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5568" y="3008376"/>
            <a:ext cx="5376672" cy="8869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EDE8DF"/>
                </a:solidFill>
                <a:latin typeface="Segoe UI Semibold"/>
              </a:rPr>
              <a:t>Dio + SSE interceptor  </a:t>
            </a:r>
            <a:r>
              <a:rPr sz="1250" b="0">
                <a:solidFill>
                  <a:srgbClr val="9A9388"/>
                </a:solidFill>
                <a:latin typeface="Segoe UI"/>
              </a:rPr>
              <a:t>token streams are processed in real time.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3675888"/>
            <a:ext cx="118872" cy="118872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15568" y="3575304"/>
            <a:ext cx="5376672" cy="8869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EDE8DF"/>
                </a:solidFill>
                <a:latin typeface="Segoe UI Semibold"/>
              </a:rPr>
              <a:t>Live Mode (streaming)  </a:t>
            </a:r>
            <a:r>
              <a:rPr sz="1250" b="0">
                <a:solidFill>
                  <a:srgbClr val="9A9388"/>
                </a:solidFill>
                <a:latin typeface="Segoe UI"/>
              </a:rPr>
              <a:t>token-by-token typing + “thinking…” + ▊ cursor.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4242816"/>
            <a:ext cx="118872" cy="118872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15568" y="4142232"/>
            <a:ext cx="5376672" cy="8869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EDE8DF"/>
                </a:solidFill>
                <a:latin typeface="Segoe UI Semibold"/>
              </a:rPr>
              <a:t>Performance HUD  </a:t>
            </a:r>
            <a:r>
              <a:rPr sz="1250" b="0">
                <a:solidFill>
                  <a:srgbClr val="9A9388"/>
                </a:solidFill>
                <a:latin typeface="Segoe UI"/>
              </a:rPr>
              <a:t>tok/s, total tokens, duration — on the timestamp.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4809744"/>
            <a:ext cx="118872" cy="118872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15568" y="4709160"/>
            <a:ext cx="5376672" cy="8869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EDE8DF"/>
                </a:solidFill>
                <a:latin typeface="Segoe UI Semibold"/>
              </a:rPr>
              <a:t>8-tab settings  </a:t>
            </a:r>
            <a:r>
              <a:rPr sz="1250" b="0">
                <a:solidFill>
                  <a:srgbClr val="9A9388"/>
                </a:solidFill>
                <a:latin typeface="Segoe UI"/>
              </a:rPr>
              <a:t>General, Memory, Providers, Orchestra, Agent…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5376672"/>
            <a:ext cx="118872" cy="118872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15568" y="5276088"/>
            <a:ext cx="5376672" cy="8869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EDE8DF"/>
                </a:solidFill>
                <a:latin typeface="Segoe UI Semibold"/>
              </a:rPr>
              <a:t>Multi-platform  </a:t>
            </a:r>
            <a:r>
              <a:rPr sz="1250" b="0">
                <a:solidFill>
                  <a:srgbClr val="9A9388"/>
                </a:solidFill>
                <a:latin typeface="Segoe UI"/>
              </a:rPr>
              <a:t>Linux · Windows · macOS, single codebase.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0" y="2468880"/>
            <a:ext cx="4526280" cy="3200400"/>
          </a:xfrm>
          <a:prstGeom prst="roundRect">
            <a:avLst>
              <a:gd name="adj" fmla="val 6000"/>
            </a:avLst>
          </a:prstGeom>
          <a:solidFill>
            <a:srgbClr val="262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14032" y="2651760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C9A35B"/>
                </a:solidFill>
                <a:latin typeface="Segoe UI Semibold"/>
              </a:rPr>
              <a:t>Key Components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14032" y="3163824"/>
            <a:ext cx="109728" cy="109728"/>
          </a:xfrm>
          <a:prstGeom prst="rect">
            <a:avLst/>
          </a:prstGeom>
          <a:solidFill>
            <a:srgbClr val="7FB4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0" y="3081528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EDE8DF"/>
                </a:solidFill>
                <a:latin typeface="Segoe UI Semibold"/>
              </a:rPr>
              <a:t>ChatScreen  </a:t>
            </a:r>
            <a:r>
              <a:rPr sz="1100" b="0">
                <a:solidFill>
                  <a:srgbClr val="9A9388"/>
                </a:solidFill>
                <a:latin typeface="Segoe UI"/>
              </a:rPr>
              <a:t>message list + input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114032" y="3584448"/>
            <a:ext cx="109728" cy="109728"/>
          </a:xfrm>
          <a:prstGeom prst="rect">
            <a:avLst/>
          </a:prstGeom>
          <a:solidFill>
            <a:srgbClr val="7FB4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0" y="3502152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EDE8DF"/>
                </a:solidFill>
                <a:latin typeface="Segoe UI Semibold"/>
              </a:rPr>
              <a:t>ModelStoreScreen  </a:t>
            </a:r>
            <a:r>
              <a:rPr sz="1100" b="0">
                <a:solidFill>
                  <a:srgbClr val="9A9388"/>
                </a:solidFill>
                <a:latin typeface="Segoe UI"/>
              </a:rPr>
              <a:t>HF search + download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114032" y="4005072"/>
            <a:ext cx="109728" cy="109728"/>
          </a:xfrm>
          <a:prstGeom prst="rect">
            <a:avLst/>
          </a:prstGeom>
          <a:solidFill>
            <a:srgbClr val="7FB4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0" y="3922776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EDE8DF"/>
                </a:solidFill>
                <a:latin typeface="Segoe UI Semibold"/>
              </a:rPr>
              <a:t>SettingsDialog  </a:t>
            </a:r>
            <a:r>
              <a:rPr sz="1100" b="0">
                <a:solidFill>
                  <a:srgbClr val="9A9388"/>
                </a:solidFill>
                <a:latin typeface="Segoe UI"/>
              </a:rPr>
              <a:t>tabbed settings panel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114032" y="4425696"/>
            <a:ext cx="109728" cy="109728"/>
          </a:xfrm>
          <a:prstGeom prst="rect">
            <a:avLst/>
          </a:prstGeom>
          <a:solidFill>
            <a:srgbClr val="7FB4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0" y="4343400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EDE8DF"/>
                </a:solidFill>
                <a:latin typeface="Segoe UI Semibold"/>
              </a:rPr>
              <a:t>SetupWizard  </a:t>
            </a:r>
            <a:r>
              <a:rPr sz="1100" b="0">
                <a:solidFill>
                  <a:srgbClr val="9A9388"/>
                </a:solidFill>
                <a:latin typeface="Segoe UI"/>
              </a:rPr>
              <a:t>first-run flow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114032" y="4846320"/>
            <a:ext cx="109728" cy="109728"/>
          </a:xfrm>
          <a:prstGeom prst="rect">
            <a:avLst/>
          </a:prstGeom>
          <a:solidFill>
            <a:srgbClr val="7FB4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200" y="4764024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EDE8DF"/>
                </a:solidFill>
                <a:latin typeface="Segoe UI Semibold"/>
              </a:rPr>
              <a:t>OrchestraConfig  </a:t>
            </a:r>
            <a:r>
              <a:rPr sz="1100" b="0">
                <a:solidFill>
                  <a:srgbClr val="9A9388"/>
                </a:solidFill>
                <a:latin typeface="Segoe UI"/>
              </a:rPr>
              <a:t>role/model assignment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114032" y="5266944"/>
            <a:ext cx="109728" cy="109728"/>
          </a:xfrm>
          <a:prstGeom prst="rect">
            <a:avLst/>
          </a:prstGeom>
          <a:solidFill>
            <a:srgbClr val="7FB4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0" y="5184648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EDE8DF"/>
                </a:solidFill>
                <a:latin typeface="Segoe UI Semibold"/>
              </a:rPr>
              <a:t>ProviderConfig  </a:t>
            </a:r>
            <a:r>
              <a:rPr sz="1100" b="0">
                <a:solidFill>
                  <a:srgbClr val="9A9388"/>
                </a:solidFill>
                <a:latin typeface="Segoe UI"/>
              </a:rPr>
              <a:t>add a provider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C9A35B"/>
                </a:solidFill>
                <a:latin typeface="Segoe UI Semibold"/>
              </a:rPr>
              <a:t>CHAPTER 03 ·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457200"/>
            <a:ext cx="1005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1">
                <a:solidFill>
                  <a:srgbClr val="9A9388"/>
                </a:solidFill>
                <a:latin typeface="Segoe UI Semibold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841248"/>
            <a:ext cx="106070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EDE8DF"/>
                </a:solidFill>
                <a:latin typeface="Segoe UI Semibold"/>
              </a:rPr>
              <a:t>REST API Endpoints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72768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0">
                <a:solidFill>
                  <a:srgbClr val="9A9388"/>
                </a:solidFill>
                <a:latin typeface="Segoe UI"/>
              </a:rPr>
              <a:t>The frontend talks to the backend over ~40+ endpoints — selected examples.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121408"/>
            <a:ext cx="10543032" cy="18288"/>
          </a:xfrm>
          <a:prstGeom prst="rect">
            <a:avLst/>
          </a:prstGeom>
          <a:solidFill>
            <a:srgbClr val="3A3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2116836"/>
            <a:ext cx="1280160" cy="32004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419088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C9A35B"/>
                </a:solidFill>
                <a:latin typeface="Segoe UI Semibold"/>
              </a:rPr>
              <a:t>MEMO</a:t>
            </a:r>
            <a:r>
              <a:rPr sz="1050" b="0">
                <a:solidFill>
                  <a:srgbClr val="6E685E"/>
                </a:solidFill>
                <a:latin typeface="Segoe UI"/>
              </a:rPr>
              <a:t>  ·  Local AI Memory Shell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377440"/>
            <a:ext cx="5074920" cy="420624"/>
          </a:xfrm>
          <a:prstGeom prst="roundRect">
            <a:avLst>
              <a:gd name="adj" fmla="val 12000"/>
            </a:avLst>
          </a:prstGeom>
          <a:solidFill>
            <a:srgbClr val="2F2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2423160"/>
            <a:ext cx="732269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9A9388"/>
                </a:solidFill>
                <a:latin typeface="Segoe UI Semibold"/>
              </a:rPr>
              <a:t>METHOD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02701" y="2423160"/>
            <a:ext cx="1813809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9A9388"/>
                </a:solidFill>
                <a:latin typeface="Segoe UI Semibold"/>
              </a:rPr>
              <a:t>ENDPOINT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99391" y="2423160"/>
            <a:ext cx="1980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9A9388"/>
                </a:solidFill>
                <a:latin typeface="Segoe UI Semibold"/>
              </a:rPr>
              <a:t>DESCRIPTION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44768" y="2377440"/>
            <a:ext cx="5074920" cy="420624"/>
          </a:xfrm>
          <a:prstGeom prst="roundRect">
            <a:avLst>
              <a:gd name="adj" fmla="val 12000"/>
            </a:avLst>
          </a:prstGeom>
          <a:solidFill>
            <a:srgbClr val="2F2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59" y="2423160"/>
            <a:ext cx="732269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9A9388"/>
                </a:solidFill>
                <a:latin typeface="Segoe UI Semibold"/>
              </a:rPr>
              <a:t>METHOD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4509" y="2423160"/>
            <a:ext cx="1813809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9A9388"/>
                </a:solidFill>
                <a:latin typeface="Segoe UI Semibold"/>
              </a:rPr>
              <a:t>ENDPOINT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21199" y="2423160"/>
            <a:ext cx="1980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9A9388"/>
                </a:solidFill>
                <a:latin typeface="Segoe UI Semibold"/>
              </a:rPr>
              <a:t>DESCRIPTION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7552" y="2971800"/>
            <a:ext cx="732269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C9A35B"/>
                </a:solidFill>
                <a:latin typeface="Segoe UI"/>
              </a:rPr>
              <a:t>POST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02701" y="2971800"/>
            <a:ext cx="1813809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EDE8DF"/>
                </a:solidFill>
                <a:latin typeface="Segoe UI"/>
              </a:rPr>
              <a:t>/api/send/stream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99391" y="2971800"/>
            <a:ext cx="1980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A9388"/>
                </a:solidFill>
                <a:latin typeface="Segoe UI"/>
              </a:rPr>
              <a:t>Streaming message (SSE)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3346704"/>
            <a:ext cx="5074920" cy="10972"/>
          </a:xfrm>
          <a:prstGeom prst="rect">
            <a:avLst/>
          </a:prstGeom>
          <a:solidFill>
            <a:srgbClr val="3A3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7552" y="3483864"/>
            <a:ext cx="732269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C9A35B"/>
                </a:solidFill>
                <a:latin typeface="Segoe UI"/>
              </a:rPr>
              <a:t>POST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02701" y="3483864"/>
            <a:ext cx="1813809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EDE8DF"/>
                </a:solidFill>
                <a:latin typeface="Segoe UI"/>
              </a:rPr>
              <a:t>/api/send_file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99391" y="3483864"/>
            <a:ext cx="1980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A9388"/>
                </a:solidFill>
                <a:latin typeface="Segoe UI"/>
              </a:rPr>
              <a:t>File / image message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" y="3858768"/>
            <a:ext cx="5074920" cy="10972"/>
          </a:xfrm>
          <a:prstGeom prst="rect">
            <a:avLst/>
          </a:prstGeom>
          <a:solidFill>
            <a:srgbClr val="3A3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7552" y="3995928"/>
            <a:ext cx="732269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7FB4AB"/>
                </a:solidFill>
                <a:latin typeface="Segoe UI"/>
              </a:rPr>
              <a:t>GET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02701" y="3995928"/>
            <a:ext cx="1813809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EDE8DF"/>
                </a:solidFill>
                <a:latin typeface="Segoe UI"/>
              </a:rPr>
              <a:t>/api/chats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99391" y="3995928"/>
            <a:ext cx="1980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A9388"/>
                </a:solidFill>
                <a:latin typeface="Segoe UI"/>
              </a:rPr>
              <a:t>List sessions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2960" y="4370832"/>
            <a:ext cx="5074920" cy="10972"/>
          </a:xfrm>
          <a:prstGeom prst="rect">
            <a:avLst/>
          </a:prstGeom>
          <a:solidFill>
            <a:srgbClr val="3A3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87552" y="4507992"/>
            <a:ext cx="732269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7FB4AB"/>
                </a:solidFill>
                <a:latin typeface="Segoe UI"/>
              </a:rPr>
              <a:t>GET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02701" y="4507992"/>
            <a:ext cx="1813809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EDE8DF"/>
                </a:solidFill>
                <a:latin typeface="Segoe UI"/>
              </a:rPr>
              <a:t>/api/status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99391" y="4507992"/>
            <a:ext cx="1980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A9388"/>
                </a:solidFill>
                <a:latin typeface="Segoe UI"/>
              </a:rPr>
              <a:t>System + memory count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2960" y="4882896"/>
            <a:ext cx="5074920" cy="10972"/>
          </a:xfrm>
          <a:prstGeom prst="rect">
            <a:avLst/>
          </a:prstGeom>
          <a:solidFill>
            <a:srgbClr val="3A3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87552" y="5020056"/>
            <a:ext cx="732269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C9A35B"/>
                </a:solidFill>
                <a:latin typeface="Segoe UI"/>
              </a:rPr>
              <a:t>POST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02701" y="5020056"/>
            <a:ext cx="1813809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EDE8DF"/>
                </a:solidFill>
                <a:latin typeface="Segoe UI"/>
              </a:rPr>
              <a:t>/api/incognito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899391" y="5020056"/>
            <a:ext cx="1980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A9388"/>
                </a:solidFill>
                <a:latin typeface="Segoe UI"/>
              </a:rPr>
              <a:t>Toggle incognito mode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22960" y="5394960"/>
            <a:ext cx="5074920" cy="10972"/>
          </a:xfrm>
          <a:prstGeom prst="rect">
            <a:avLst/>
          </a:prstGeom>
          <a:solidFill>
            <a:srgbClr val="3A3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87552" y="5532120"/>
            <a:ext cx="732269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C9A35B"/>
                </a:solidFill>
                <a:latin typeface="Segoe UI"/>
              </a:rPr>
              <a:t>POST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02701" y="5532120"/>
            <a:ext cx="1813809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EDE8DF"/>
                </a:solidFill>
                <a:latin typeface="Segoe UI"/>
              </a:rPr>
              <a:t>/api/models/search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899391" y="5532120"/>
            <a:ext cx="1980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A9388"/>
                </a:solidFill>
                <a:latin typeface="Segoe UI"/>
              </a:rPr>
              <a:t>HuggingFace GGUF search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22960" y="5907024"/>
            <a:ext cx="5074920" cy="10972"/>
          </a:xfrm>
          <a:prstGeom prst="rect">
            <a:avLst/>
          </a:prstGeom>
          <a:solidFill>
            <a:srgbClr val="3A3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09359" y="2971800"/>
            <a:ext cx="732269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C9A35B"/>
                </a:solidFill>
                <a:latin typeface="Segoe UI"/>
              </a:rPr>
              <a:t>POST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224509" y="2971800"/>
            <a:ext cx="1813809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EDE8DF"/>
                </a:solidFill>
                <a:latin typeface="Segoe UI"/>
              </a:rPr>
              <a:t>/api/models/download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21199" y="2971800"/>
            <a:ext cx="1980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A9388"/>
                </a:solidFill>
                <a:latin typeface="Segoe UI"/>
              </a:rPr>
              <a:t>Start model download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144768" y="3346704"/>
            <a:ext cx="5074920" cy="10972"/>
          </a:xfrm>
          <a:prstGeom prst="rect">
            <a:avLst/>
          </a:prstGeom>
          <a:solidFill>
            <a:srgbClr val="3A3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09359" y="3483864"/>
            <a:ext cx="732269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7FB4AB"/>
                </a:solidFill>
                <a:latin typeface="Segoe UI"/>
              </a:rPr>
              <a:t>GET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224509" y="3483864"/>
            <a:ext cx="1813809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EDE8DF"/>
                </a:solidFill>
                <a:latin typeface="Segoe UI"/>
              </a:rPr>
              <a:t>/api/gpu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21199" y="3483864"/>
            <a:ext cx="1980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A9388"/>
                </a:solidFill>
                <a:latin typeface="Segoe UI"/>
              </a:rPr>
              <a:t>GPU detection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144768" y="3858768"/>
            <a:ext cx="5074920" cy="10972"/>
          </a:xfrm>
          <a:prstGeom prst="rect">
            <a:avLst/>
          </a:prstGeom>
          <a:solidFill>
            <a:srgbClr val="3A3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309359" y="3995928"/>
            <a:ext cx="732269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B8894B"/>
                </a:solidFill>
                <a:latin typeface="Segoe UI"/>
              </a:rPr>
              <a:t>PUT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224509" y="3995928"/>
            <a:ext cx="1813809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EDE8DF"/>
                </a:solidFill>
                <a:latin typeface="Segoe UI"/>
              </a:rPr>
              <a:t>/api/providers/active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221199" y="3995928"/>
            <a:ext cx="1980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A9388"/>
                </a:solidFill>
                <a:latin typeface="Segoe UI"/>
              </a:rPr>
              <a:t>Set active provider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144768" y="4370832"/>
            <a:ext cx="5074920" cy="10972"/>
          </a:xfrm>
          <a:prstGeom prst="rect">
            <a:avLst/>
          </a:prstGeom>
          <a:solidFill>
            <a:srgbClr val="3A3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309359" y="4507992"/>
            <a:ext cx="732269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B8894B"/>
                </a:solidFill>
                <a:latin typeface="Segoe UI"/>
              </a:rPr>
              <a:t>PUT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224509" y="4507992"/>
            <a:ext cx="1813809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EDE8DF"/>
                </a:solidFill>
                <a:latin typeface="Segoe UI"/>
              </a:rPr>
              <a:t>/api/agent/enabled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221199" y="4507992"/>
            <a:ext cx="1980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A9388"/>
                </a:solidFill>
                <a:latin typeface="Segoe UI"/>
              </a:rPr>
              <a:t>Toggle agent mode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144768" y="4882896"/>
            <a:ext cx="5074920" cy="10972"/>
          </a:xfrm>
          <a:prstGeom prst="rect">
            <a:avLst/>
          </a:prstGeom>
          <a:solidFill>
            <a:srgbClr val="3A3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309359" y="5020056"/>
            <a:ext cx="732269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B8894B"/>
                </a:solidFill>
                <a:latin typeface="Segoe UI"/>
              </a:rPr>
              <a:t>PUT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224509" y="5020056"/>
            <a:ext cx="1813809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EDE8DF"/>
                </a:solidFill>
                <a:latin typeface="Segoe UI"/>
              </a:rPr>
              <a:t>/api/orchestra/config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221199" y="5020056"/>
            <a:ext cx="1980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A9388"/>
                </a:solidFill>
                <a:latin typeface="Segoe UI"/>
              </a:rPr>
              <a:t>Orchestra configuration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144768" y="5394960"/>
            <a:ext cx="5074920" cy="10972"/>
          </a:xfrm>
          <a:prstGeom prst="rect">
            <a:avLst/>
          </a:prstGeom>
          <a:solidFill>
            <a:srgbClr val="3A3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309359" y="5532120"/>
            <a:ext cx="732269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7FB4AB"/>
                </a:solidFill>
                <a:latin typeface="Segoe UI"/>
              </a:rPr>
              <a:t>GET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224509" y="5532120"/>
            <a:ext cx="1813809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EDE8DF"/>
                </a:solidFill>
                <a:latin typeface="Segoe UI"/>
              </a:rPr>
              <a:t>/api/calendar/events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221199" y="5532120"/>
            <a:ext cx="1980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A9388"/>
                </a:solidFill>
                <a:latin typeface="Segoe UI"/>
              </a:rPr>
              <a:t>Calendar events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144768" y="5907024"/>
            <a:ext cx="5074920" cy="10972"/>
          </a:xfrm>
          <a:prstGeom prst="rect">
            <a:avLst/>
          </a:prstGeom>
          <a:solidFill>
            <a:srgbClr val="3A3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148085908000" cy="6270955200000"/>
          </a:xfrm>
          <a:prstGeom prst="rect">
            <a:avLst/>
          </a:prstGeom>
          <a:solidFill>
            <a:srgbClr val="1C1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961120" y="-1280160"/>
            <a:ext cx="5120640" cy="5120640"/>
          </a:xfrm>
          <a:prstGeom prst="ellipse">
            <a:avLst/>
          </a:prstGeom>
          <a:solidFill>
            <a:srgbClr val="262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149840" y="3657600"/>
            <a:ext cx="3108960" cy="3108960"/>
          </a:xfrm>
          <a:prstGeom prst="ellipse">
            <a:avLst/>
          </a:prstGeom>
          <a:solidFill>
            <a:srgbClr val="2F2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280160"/>
            <a:ext cx="640080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0" b="1">
                <a:solidFill>
                  <a:srgbClr val="38332C"/>
                </a:solidFill>
                <a:latin typeface="Segoe UI Light"/>
              </a:rP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05740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C9A35B"/>
                </a:solidFill>
                <a:latin typeface="Segoe UI Semibold"/>
              </a:rPr>
              <a:t>CHAPTER FOUR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423160"/>
            <a:ext cx="8229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4200" b="1">
                <a:solidFill>
                  <a:srgbClr val="EDE8DF"/>
                </a:solidFill>
                <a:latin typeface="Segoe UI Semibold"/>
              </a:rPr>
              <a:t>Models
&amp; Providers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78992" y="4178808"/>
            <a:ext cx="201168" cy="36576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17320" y="4069080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9A9388"/>
                </a:solidFill>
                <a:latin typeface="Segoe UI"/>
              </a:rPr>
              <a:t>Model Factory — Hugging Face integration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78992" y="4654296"/>
            <a:ext cx="201168" cy="36576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17320" y="4544568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9A9388"/>
                </a:solidFill>
                <a:latin typeface="Segoe UI"/>
              </a:rPr>
              <a:t>New Model Store (v3.1)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78992" y="5129783"/>
            <a:ext cx="201168" cy="36576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17320" y="5020055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9A9388"/>
                </a:solidFill>
                <a:latin typeface="Segoe UI"/>
              </a:rPr>
              <a:t>7 external cloud providers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78992" y="5605271"/>
            <a:ext cx="201168" cy="36576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17320" y="5495543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9A9388"/>
                </a:solidFill>
                <a:latin typeface="Segoe UI"/>
              </a:rPr>
              <a:t>Router, fallback and encrypted keys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C9A35B"/>
                </a:solidFill>
                <a:latin typeface="Segoe UI Semibold"/>
              </a:rPr>
              <a:t>CHAPTER 04 · FACTORY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457200"/>
            <a:ext cx="1005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1">
                <a:solidFill>
                  <a:srgbClr val="9A9388"/>
                </a:solidFill>
                <a:latin typeface="Segoe UI Semibold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841248"/>
            <a:ext cx="106070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EDE8DF"/>
                </a:solidFill>
                <a:latin typeface="Segoe UI Semibold"/>
              </a:rPr>
              <a:t>Model Factory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72768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0">
                <a:solidFill>
                  <a:srgbClr val="9A9388"/>
                </a:solidFill>
                <a:latin typeface="Segoe UI"/>
              </a:rPr>
              <a:t>Model discovery, diagnostics and download from inside the app — end to end.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121408"/>
            <a:ext cx="10543032" cy="18288"/>
          </a:xfrm>
          <a:prstGeom prst="rect">
            <a:avLst/>
          </a:prstGeom>
          <a:solidFill>
            <a:srgbClr val="3A3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2116836"/>
            <a:ext cx="1280160" cy="32004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419088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C9A35B"/>
                </a:solidFill>
                <a:latin typeface="Segoe UI Semibold"/>
              </a:rPr>
              <a:t>MEMO</a:t>
            </a:r>
            <a:r>
              <a:rPr sz="1050" b="0">
                <a:solidFill>
                  <a:srgbClr val="6E685E"/>
                </a:solidFill>
                <a:latin typeface="Segoe UI"/>
              </a:rPr>
              <a:t>  ·  Local AI Memory Shell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423160"/>
            <a:ext cx="3337560" cy="1874519"/>
          </a:xfrm>
          <a:prstGeom prst="roundRect">
            <a:avLst>
              <a:gd name="adj" fmla="val 6000"/>
            </a:avLst>
          </a:prstGeom>
          <a:solidFill>
            <a:srgbClr val="262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78992" y="2679191"/>
            <a:ext cx="457200" cy="457200"/>
          </a:xfrm>
          <a:prstGeom prst="ellipse">
            <a:avLst/>
          </a:prstGeom>
          <a:solidFill>
            <a:srgbClr val="3833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" y="269747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C9A35B"/>
                </a:solidFill>
                <a:latin typeface="Segoe UI"/>
              </a:rPr>
              <a:t>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2697479"/>
            <a:ext cx="22860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EDE8DF"/>
                </a:solidFill>
                <a:latin typeface="Segoe UI Semibold"/>
              </a:rPr>
              <a:t>HF Search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264408"/>
            <a:ext cx="2788920" cy="9143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9A9388"/>
                </a:solidFill>
                <a:latin typeface="Segoe UI"/>
              </a:rPr>
              <a:t>Search Hugging Face GGUF models, paste a repo ID, list files instantly.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25112" y="2423160"/>
            <a:ext cx="3337560" cy="1874519"/>
          </a:xfrm>
          <a:prstGeom prst="roundRect">
            <a:avLst>
              <a:gd name="adj" fmla="val 6000"/>
            </a:avLst>
          </a:prstGeom>
          <a:solidFill>
            <a:srgbClr val="262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581144" y="2679191"/>
            <a:ext cx="457200" cy="457200"/>
          </a:xfrm>
          <a:prstGeom prst="ellipse">
            <a:avLst/>
          </a:prstGeom>
          <a:solidFill>
            <a:srgbClr val="3833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81144" y="269747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7FB4AB"/>
                </a:solidFill>
                <a:latin typeface="Segoe UI"/>
              </a:rPr>
              <a:t>🖥️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93792" y="2697479"/>
            <a:ext cx="22860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EDE8DF"/>
                </a:solidFill>
                <a:latin typeface="Segoe UI Semibold"/>
              </a:rPr>
              <a:t>System Diagnostics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99432" y="3264408"/>
            <a:ext cx="2788920" cy="9143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9A9388"/>
                </a:solidFill>
                <a:latin typeface="Segoe UI"/>
              </a:rPr>
              <a:t>NVIDIA/AMD VRAM auto-detected. “GPU Compatible” / “⚠️ Insufficient VRAM” badge.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27264" y="2423160"/>
            <a:ext cx="3566160" cy="1874519"/>
          </a:xfrm>
          <a:prstGeom prst="roundRect">
            <a:avLst>
              <a:gd name="adj" fmla="val 6000"/>
            </a:avLst>
          </a:prstGeom>
          <a:solidFill>
            <a:srgbClr val="262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083296" y="2679191"/>
            <a:ext cx="457200" cy="457200"/>
          </a:xfrm>
          <a:prstGeom prst="ellipse">
            <a:avLst/>
          </a:prstGeom>
          <a:solidFill>
            <a:srgbClr val="3833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83296" y="269747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B8894B"/>
                </a:solidFill>
                <a:latin typeface="Segoe UI"/>
              </a:rPr>
              <a:t>⬇️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95944" y="2697479"/>
            <a:ext cx="2514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EDE8DF"/>
                </a:solidFill>
                <a:latin typeface="Segoe UI Semibold"/>
              </a:rPr>
              <a:t>Download Manager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01584" y="3264408"/>
            <a:ext cx="3017520" cy="9143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9A9388"/>
                </a:solidFill>
                <a:latin typeface="Segoe UI"/>
              </a:rPr>
              <a:t>Parallel download with percent + speed tracking. One-click Start / Stop / Update.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" y="4526280"/>
            <a:ext cx="10570464" cy="1234440"/>
          </a:xfrm>
          <a:prstGeom prst="roundRect">
            <a:avLst>
              <a:gd name="adj" fmla="val 6000"/>
            </a:avLst>
          </a:prstGeom>
          <a:solidFill>
            <a:srgbClr val="262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97280" y="46634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C9A35B"/>
                </a:solidFill>
                <a:latin typeface="Segoe UI Semibold"/>
              </a:rPr>
              <a:t>GPU Detection &amp; Layer Recommendation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5102352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9A9388"/>
                </a:solidFill>
                <a:latin typeface="Segoe UI"/>
              </a:rPr>
              <a:t>nvidia-smi (NVIDIA) · rocm-smi (AMD) · Apple Metal are detected; GPU layer count is recommended based on VRAM. Graceful fallback to CPU when insufficient.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C9A35B"/>
                </a:solidFill>
                <a:latin typeface="Segoe UI Semibold"/>
              </a:rPr>
              <a:t>CHAPTER 04 · V3.1 NEW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457200"/>
            <a:ext cx="1005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1">
                <a:solidFill>
                  <a:srgbClr val="9A9388"/>
                </a:solidFill>
                <a:latin typeface="Segoe UI Semibold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841248"/>
            <a:ext cx="106070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EDE8DF"/>
                </a:solidFill>
                <a:latin typeface="Segoe UI Semibold"/>
              </a:rPr>
              <a:t>New Model Store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72768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0">
                <a:solidFill>
                  <a:srgbClr val="9A9388"/>
                </a:solidFill>
                <a:latin typeface="Segoe UI"/>
              </a:rPr>
              <a:t>An LM Studio-like discovery experience, redesigned from scratch.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121408"/>
            <a:ext cx="10543032" cy="18288"/>
          </a:xfrm>
          <a:prstGeom prst="rect">
            <a:avLst/>
          </a:prstGeom>
          <a:solidFill>
            <a:srgbClr val="3A3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2116836"/>
            <a:ext cx="1280160" cy="32004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419088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C9A35B"/>
                </a:solidFill>
                <a:latin typeface="Segoe UI Semibold"/>
              </a:rPr>
              <a:t>MEMO</a:t>
            </a:r>
            <a:r>
              <a:rPr sz="1050" b="0">
                <a:solidFill>
                  <a:srgbClr val="6E685E"/>
                </a:solidFill>
                <a:latin typeface="Segoe UI"/>
              </a:rPr>
              <a:t>  ·  Local AI Memory Shell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496312"/>
            <a:ext cx="118872" cy="118872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" y="2395728"/>
            <a:ext cx="5193792" cy="9235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EDE8DF"/>
                </a:solidFill>
                <a:latin typeface="Segoe UI Semibold"/>
              </a:rPr>
              <a:t>Two-panel layout  </a:t>
            </a:r>
            <a:r>
              <a:rPr sz="1250" b="0">
                <a:solidFill>
                  <a:srgbClr val="9A9388"/>
                </a:solidFill>
                <a:latin typeface="Segoe UI"/>
              </a:rPr>
              <a:t>list on the left, rich detail view on the right.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3099816"/>
            <a:ext cx="118872" cy="118872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5568" y="2999232"/>
            <a:ext cx="5193792" cy="9235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EDE8DF"/>
                </a:solidFill>
                <a:latin typeface="Segoe UI Semibold"/>
              </a:rPr>
              <a:t>Real model logos  </a:t>
            </a:r>
            <a:r>
              <a:rPr sz="1250" b="0">
                <a:solidFill>
                  <a:srgbClr val="9A9388"/>
                </a:solidFill>
                <a:latin typeface="Segoe UI"/>
              </a:rPr>
              <a:t>Google, Qwen/Alibaba, Microsoft, nomic…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3703320"/>
            <a:ext cx="118872" cy="118872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15568" y="3602736"/>
            <a:ext cx="5193792" cy="9235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EDE8DF"/>
                </a:solidFill>
                <a:latin typeface="Segoe UI Semibold"/>
              </a:rPr>
              <a:t>Official models only  </a:t>
            </a:r>
            <a:r>
              <a:rPr sz="1250" b="0">
                <a:solidFill>
                  <a:srgbClr val="9A9388"/>
                </a:solidFill>
                <a:latin typeface="Segoe UI"/>
              </a:rPr>
              <a:t>no third-party forks in “Recommended”.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4306824"/>
            <a:ext cx="118872" cy="118872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15568" y="4206240"/>
            <a:ext cx="5193792" cy="9235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EDE8DF"/>
                </a:solidFill>
                <a:latin typeface="Segoe UI Semibold"/>
              </a:rPr>
              <a:t>Plain quality labels  </a:t>
            </a:r>
            <a:r>
              <a:rPr sz="1250" b="0">
                <a:solidFill>
                  <a:srgbClr val="9A9388"/>
                </a:solidFill>
                <a:latin typeface="Segoe UI"/>
              </a:rPr>
              <a:t>“Balanced / High / Smallest” instead of Q4_K_M.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4910328"/>
            <a:ext cx="118872" cy="118872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15568" y="4809744"/>
            <a:ext cx="5193792" cy="9235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EDE8DF"/>
                </a:solidFill>
                <a:latin typeface="Segoe UI Semibold"/>
              </a:rPr>
              <a:t>README + author  </a:t>
            </a:r>
            <a:r>
              <a:rPr sz="1250" b="0">
                <a:solidFill>
                  <a:srgbClr val="9A9388"/>
                </a:solidFill>
                <a:latin typeface="Segoe UI"/>
              </a:rPr>
              <a:t>detail shows HF README and “more from this author”.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0" y="2423160"/>
            <a:ext cx="4800600" cy="1554480"/>
          </a:xfrm>
          <a:prstGeom prst="roundRect">
            <a:avLst>
              <a:gd name="adj" fmla="val 6000"/>
            </a:avLst>
          </a:prstGeom>
          <a:solidFill>
            <a:srgbClr val="262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12280" y="2560320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35B"/>
                </a:solidFill>
                <a:latin typeface="Segoe UI Semibold"/>
              </a:rPr>
              <a:t>Hardware Compatibility Badges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12280" y="2999232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7FB4AB"/>
                </a:solidFill>
                <a:latin typeface="Segoe UI Semibold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0" y="2999232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A9388"/>
                </a:solidFill>
                <a:latin typeface="Segoe UI"/>
              </a:rPr>
              <a:t>Compatible — runs fast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12280" y="3310127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B8894B"/>
                </a:solidFill>
                <a:latin typeface="Segoe UI Semibold"/>
              </a:rPr>
              <a:t>~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0" y="3310127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A9388"/>
                </a:solidFill>
                <a:latin typeface="Segoe UI"/>
              </a:rPr>
              <a:t>Runs on CPU — may be slow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12280" y="3621024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C6B5A"/>
                </a:solidFill>
                <a:latin typeface="Segoe UI Semibold"/>
              </a:rPr>
              <a:t>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0" y="3621024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A9388"/>
                </a:solidFill>
                <a:latin typeface="Segoe UI"/>
              </a:rPr>
              <a:t>Too large — may not fit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0" y="4160520"/>
            <a:ext cx="4800600" cy="1600200"/>
          </a:xfrm>
          <a:prstGeom prst="roundRect">
            <a:avLst>
              <a:gd name="adj" fmla="val 6000"/>
            </a:avLst>
          </a:prstGeom>
          <a:solidFill>
            <a:srgbClr val="262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12280" y="4297680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35B"/>
                </a:solidFill>
                <a:latin typeface="Segoe UI Semibold"/>
              </a:rPr>
              <a:t>Capability Tags &amp; Filters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12280" y="473659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C9A35B"/>
                </a:solidFill>
                <a:latin typeface="Segoe UI"/>
              </a:rPr>
              <a:t>🔧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69480" y="4736592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A9388"/>
                </a:solidFill>
                <a:latin typeface="Segoe UI"/>
              </a:rPr>
              <a:t>Tool Use — agent mode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12280" y="504748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C9A35B"/>
                </a:solidFill>
                <a:latin typeface="Segoe UI"/>
              </a:rPr>
              <a:t>👁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69480" y="5047488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A9388"/>
                </a:solidFill>
                <a:latin typeface="Segoe UI"/>
              </a:rPr>
              <a:t>Vision — image understanding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12280" y="5358383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C9A35B"/>
                </a:solidFill>
                <a:latin typeface="Segoe UI"/>
              </a:rPr>
              <a:t>&lt;/&gt;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69480" y="5358383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A9388"/>
                </a:solidFill>
                <a:latin typeface="Segoe UI"/>
              </a:rPr>
              <a:t>Code — programming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C9A35B"/>
                </a:solidFill>
                <a:latin typeface="Segoe UI Semibold"/>
              </a:rPr>
              <a:t>CHAPTER 04 · CLOUD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457200"/>
            <a:ext cx="1005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1">
                <a:solidFill>
                  <a:srgbClr val="9A9388"/>
                </a:solidFill>
                <a:latin typeface="Segoe UI Semibold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841248"/>
            <a:ext cx="106070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EDE8DF"/>
                </a:solidFill>
                <a:latin typeface="Segoe UI Semibold"/>
              </a:rPr>
              <a:t>External Providers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72768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0">
                <a:solidFill>
                  <a:srgbClr val="9A9388"/>
                </a:solidFill>
                <a:latin typeface="Segoe UI"/>
              </a:rPr>
              <a:t>Seven cloud providers with your own API key — alongside or instead of local.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121408"/>
            <a:ext cx="10543032" cy="18288"/>
          </a:xfrm>
          <a:prstGeom prst="rect">
            <a:avLst/>
          </a:prstGeom>
          <a:solidFill>
            <a:srgbClr val="3A3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2116836"/>
            <a:ext cx="1280160" cy="32004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419088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C9A35B"/>
                </a:solidFill>
                <a:latin typeface="Segoe UI Semibold"/>
              </a:rPr>
              <a:t>MEMO</a:t>
            </a:r>
            <a:r>
              <a:rPr sz="1050" b="0">
                <a:solidFill>
                  <a:srgbClr val="6E685E"/>
                </a:solidFill>
                <a:latin typeface="Segoe UI"/>
              </a:rPr>
              <a:t>  ·  Local AI Memory Shell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468880"/>
            <a:ext cx="2542032" cy="1078992"/>
          </a:xfrm>
          <a:prstGeom prst="roundRect">
            <a:avLst>
              <a:gd name="adj" fmla="val 6000"/>
            </a:avLst>
          </a:prstGeom>
          <a:solidFill>
            <a:srgbClr val="262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2633472"/>
            <a:ext cx="54864" cy="749808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2670048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EDE8DF"/>
                </a:solidFill>
                <a:latin typeface="Segoe UI Semibold"/>
              </a:rPr>
              <a:t>OpenAI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072384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9A9388"/>
                </a:solidFill>
                <a:latin typeface="Segoe UI"/>
              </a:rPr>
              <a:t>GPT-4o · GPT-4.1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02152" y="2468880"/>
            <a:ext cx="2542032" cy="1078992"/>
          </a:xfrm>
          <a:prstGeom prst="roundRect">
            <a:avLst>
              <a:gd name="adj" fmla="val 6000"/>
            </a:avLst>
          </a:prstGeom>
          <a:solidFill>
            <a:srgbClr val="262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2152" y="2633472"/>
            <a:ext cx="54864" cy="749808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30752" y="2670048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EDE8DF"/>
                </a:solidFill>
                <a:latin typeface="Segoe UI Semibold"/>
              </a:rPr>
              <a:t>Google Gemini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30752" y="3072384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9A9388"/>
                </a:solidFill>
                <a:latin typeface="Segoe UI"/>
              </a:rPr>
              <a:t>2.0 Flash · 2.5 Pro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81344" y="2468880"/>
            <a:ext cx="2542032" cy="1078992"/>
          </a:xfrm>
          <a:prstGeom prst="roundRect">
            <a:avLst>
              <a:gd name="adj" fmla="val 6000"/>
            </a:avLst>
          </a:prstGeom>
          <a:solidFill>
            <a:srgbClr val="262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81344" y="2633472"/>
            <a:ext cx="54864" cy="749808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9944" y="2670048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EDE8DF"/>
                </a:solidFill>
                <a:latin typeface="Segoe UI Semibold"/>
              </a:rPr>
              <a:t>Anthropic Claude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9944" y="3072384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9A9388"/>
                </a:solidFill>
                <a:latin typeface="Segoe UI"/>
              </a:rPr>
              <a:t>Sonnet 4 · Opus 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860536" y="2468880"/>
            <a:ext cx="2542032" cy="1078992"/>
          </a:xfrm>
          <a:prstGeom prst="roundRect">
            <a:avLst>
              <a:gd name="adj" fmla="val 6000"/>
            </a:avLst>
          </a:prstGeom>
          <a:solidFill>
            <a:srgbClr val="262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860536" y="2633472"/>
            <a:ext cx="54864" cy="749808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89136" y="2670048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EDE8DF"/>
                </a:solidFill>
                <a:latin typeface="Segoe UI Semibold"/>
              </a:rPr>
              <a:t>xAI Grok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89136" y="3072384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9A9388"/>
                </a:solidFill>
                <a:latin typeface="Segoe UI"/>
              </a:rPr>
              <a:t>Grok-2 / 3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" y="3703320"/>
            <a:ext cx="2542032" cy="1078992"/>
          </a:xfrm>
          <a:prstGeom prst="roundRect">
            <a:avLst>
              <a:gd name="adj" fmla="val 6000"/>
            </a:avLst>
          </a:prstGeom>
          <a:solidFill>
            <a:srgbClr val="262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2960" y="3867912"/>
            <a:ext cx="54864" cy="749808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51560" y="3904488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EDE8DF"/>
                </a:solidFill>
                <a:latin typeface="Segoe UI Semibold"/>
              </a:rPr>
              <a:t>Groq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" y="4306824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9A9388"/>
                </a:solidFill>
                <a:latin typeface="Segoe UI"/>
              </a:rPr>
              <a:t>Llama 4 · DeepSeek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502152" y="3703320"/>
            <a:ext cx="2542032" cy="1078992"/>
          </a:xfrm>
          <a:prstGeom prst="roundRect">
            <a:avLst>
              <a:gd name="adj" fmla="val 6000"/>
            </a:avLst>
          </a:prstGeom>
          <a:solidFill>
            <a:srgbClr val="262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502152" y="3867912"/>
            <a:ext cx="54864" cy="749808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730752" y="3904488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EDE8DF"/>
                </a:solidFill>
                <a:latin typeface="Segoe UI Semibold"/>
              </a:rPr>
              <a:t>OpenRouter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730752" y="4306824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9A9388"/>
                </a:solidFill>
                <a:latin typeface="Segoe UI"/>
              </a:rPr>
              <a:t>300+ models, one API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81344" y="3703320"/>
            <a:ext cx="2542032" cy="1078992"/>
          </a:xfrm>
          <a:prstGeom prst="roundRect">
            <a:avLst>
              <a:gd name="adj" fmla="val 6000"/>
            </a:avLst>
          </a:prstGeom>
          <a:solidFill>
            <a:srgbClr val="262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181344" y="3867912"/>
            <a:ext cx="54864" cy="749808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9944" y="3904488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EDE8DF"/>
                </a:solidFill>
                <a:latin typeface="Segoe UI Semibold"/>
              </a:rPr>
              <a:t>Ollama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9944" y="4306824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9A9388"/>
                </a:solidFill>
                <a:latin typeface="Segoe UI"/>
              </a:rPr>
              <a:t>local alternative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860536" y="3703320"/>
            <a:ext cx="2542032" cy="1078992"/>
          </a:xfrm>
          <a:prstGeom prst="roundRect">
            <a:avLst>
              <a:gd name="adj" fmla="val 6000"/>
            </a:avLst>
          </a:prstGeom>
          <a:solidFill>
            <a:srgbClr val="2F2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089136" y="3904488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7FB4AB"/>
                </a:solidFill>
                <a:latin typeface="Segoe UI Semibold"/>
              </a:rPr>
              <a:t>Common Interface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89136" y="4270248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9A9388"/>
                </a:solidFill>
                <a:latin typeface="Segoe UI"/>
              </a:rPr>
              <a:t>ChatCompletion · Stream · ListModels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" y="507492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9A9388"/>
                </a:solidFill>
                <a:latin typeface="Segoe UI"/>
              </a:rPr>
              <a:t>Cross-mode: use cloud AI for chat while a local model handles memory embedding — the two are independent.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C9A35B"/>
                </a:solidFill>
                <a:latin typeface="Segoe UI Semibold"/>
              </a:rPr>
              <a:t>CHAPTER 04 · RESILIENCE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457200"/>
            <a:ext cx="1005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1">
                <a:solidFill>
                  <a:srgbClr val="9A9388"/>
                </a:solidFill>
                <a:latin typeface="Segoe UI Semibold"/>
              </a:rP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841248"/>
            <a:ext cx="106070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EDE8DF"/>
                </a:solidFill>
                <a:latin typeface="Segoe UI Semibold"/>
              </a:rPr>
              <a:t>Router, Fallback &amp; Encryption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72768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0">
                <a:solidFill>
                  <a:srgbClr val="9A9388"/>
                </a:solidFill>
                <a:latin typeface="Segoe UI"/>
              </a:rPr>
              <a:t>The provider layer is designed to be fault-tolerant and secure.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121408"/>
            <a:ext cx="10543032" cy="18288"/>
          </a:xfrm>
          <a:prstGeom prst="rect">
            <a:avLst/>
          </a:prstGeom>
          <a:solidFill>
            <a:srgbClr val="3A3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2116836"/>
            <a:ext cx="1280160" cy="32004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419088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C9A35B"/>
                </a:solidFill>
                <a:latin typeface="Segoe UI Semibold"/>
              </a:rPr>
              <a:t>MEMO</a:t>
            </a:r>
            <a:r>
              <a:rPr sz="1050" b="0">
                <a:solidFill>
                  <a:srgbClr val="6E685E"/>
                </a:solidFill>
                <a:latin typeface="Segoe UI"/>
              </a:rPr>
              <a:t>  ·  Local AI Memory Shell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423160"/>
            <a:ext cx="3337560" cy="1965960"/>
          </a:xfrm>
          <a:prstGeom prst="roundRect">
            <a:avLst>
              <a:gd name="adj" fmla="val 6000"/>
            </a:avLst>
          </a:prstGeom>
          <a:solidFill>
            <a:srgbClr val="262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78992" y="2679191"/>
            <a:ext cx="457200" cy="457200"/>
          </a:xfrm>
          <a:prstGeom prst="ellipse">
            <a:avLst/>
          </a:prstGeom>
          <a:solidFill>
            <a:srgbClr val="3833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" y="269747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C9A35B"/>
                </a:solidFill>
                <a:latin typeface="Segoe UI"/>
              </a:rPr>
              <a:t>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2697479"/>
            <a:ext cx="22860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EDE8DF"/>
                </a:solidFill>
                <a:latin typeface="Segoe UI Semibold"/>
              </a:rPr>
              <a:t>Smart Fallback Chain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264408"/>
            <a:ext cx="2788920" cy="10058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9A9388"/>
                </a:solidFill>
                <a:latin typeface="Segoe UI"/>
              </a:rPr>
              <a:t>Providers are tried in priority order. After 3 consecutive failures one is auto-disabled; a health check re-enables it once recovered.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25112" y="2423160"/>
            <a:ext cx="3337560" cy="1965960"/>
          </a:xfrm>
          <a:prstGeom prst="roundRect">
            <a:avLst>
              <a:gd name="adj" fmla="val 6000"/>
            </a:avLst>
          </a:prstGeom>
          <a:solidFill>
            <a:srgbClr val="262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581144" y="2679191"/>
            <a:ext cx="457200" cy="457200"/>
          </a:xfrm>
          <a:prstGeom prst="ellipse">
            <a:avLst/>
          </a:prstGeom>
          <a:solidFill>
            <a:srgbClr val="3833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81144" y="269747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7FB4AB"/>
                </a:solidFill>
                <a:latin typeface="Segoe UI"/>
              </a:rPr>
              <a:t>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93792" y="2697479"/>
            <a:ext cx="22860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EDE8DF"/>
                </a:solidFill>
                <a:latin typeface="Segoe UI Semibold"/>
              </a:rPr>
              <a:t>AES-256-GCM Keys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99432" y="3264408"/>
            <a:ext cx="2788920" cy="10058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9A9388"/>
                </a:solidFill>
                <a:latin typeface="Segoe UI"/>
              </a:rPr>
              <a:t>API keys are stored encrypted with a machine-specific key (data/providers.json). No plaintext in logs/config.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27264" y="2423160"/>
            <a:ext cx="3566160" cy="1965960"/>
          </a:xfrm>
          <a:prstGeom prst="roundRect">
            <a:avLst>
              <a:gd name="adj" fmla="val 6000"/>
            </a:avLst>
          </a:prstGeom>
          <a:solidFill>
            <a:srgbClr val="262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083296" y="2679191"/>
            <a:ext cx="457200" cy="457200"/>
          </a:xfrm>
          <a:prstGeom prst="ellipse">
            <a:avLst/>
          </a:prstGeom>
          <a:solidFill>
            <a:srgbClr val="3833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83296" y="269747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B8894B"/>
                </a:solidFill>
                <a:latin typeface="Segoe UI"/>
              </a:rPr>
              <a:t>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95944" y="2697479"/>
            <a:ext cx="2514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EDE8DF"/>
                </a:solidFill>
                <a:latin typeface="Segoe UI Semibold"/>
              </a:rPr>
              <a:t>Live Provider Switch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01584" y="3264408"/>
            <a:ext cx="3017520" cy="10058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9A9388"/>
                </a:solidFill>
                <a:latin typeface="Segoe UI"/>
              </a:rPr>
              <a:t>Switch the active provider mid-chat with /model — no restart, no context loss.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" y="4617720"/>
            <a:ext cx="10570464" cy="1143000"/>
          </a:xfrm>
          <a:prstGeom prst="roundRect">
            <a:avLst>
              <a:gd name="adj" fmla="val 6000"/>
            </a:avLst>
          </a:prstGeom>
          <a:solidFill>
            <a:srgbClr val="262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97280" y="47548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C9A35B"/>
                </a:solidFill>
                <a:latin typeface="Segoe UI Semibold"/>
              </a:rPr>
              <a:t>Per-Model Context Window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5175504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9A9388"/>
                </a:solidFill>
                <a:latin typeface="Segoe UI"/>
              </a:rPr>
              <a:t>The context budget is now set per model, not per provider type. Enter the model's real window in “Context window (tokens)” (e.g. 1,000,000 = 1M). If empty, a sensible default: Gemini 1M · Claude 200K · others 128K.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148085908000" cy="6270955200000"/>
          </a:xfrm>
          <a:prstGeom prst="rect">
            <a:avLst/>
          </a:prstGeom>
          <a:solidFill>
            <a:srgbClr val="1C1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961120" y="-1280160"/>
            <a:ext cx="5120640" cy="5120640"/>
          </a:xfrm>
          <a:prstGeom prst="ellipse">
            <a:avLst/>
          </a:prstGeom>
          <a:solidFill>
            <a:srgbClr val="262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149840" y="3657600"/>
            <a:ext cx="3108960" cy="3108960"/>
          </a:xfrm>
          <a:prstGeom prst="ellipse">
            <a:avLst/>
          </a:prstGeom>
          <a:solidFill>
            <a:srgbClr val="2F2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280160"/>
            <a:ext cx="640080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0" b="1">
                <a:solidFill>
                  <a:srgbClr val="38332C"/>
                </a:solidFill>
                <a:latin typeface="Segoe UI Light"/>
              </a:rP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05740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C9A35B"/>
                </a:solidFill>
                <a:latin typeface="Segoe UI Semibold"/>
              </a:rPr>
              <a:t>CHAPTER FIVE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423160"/>
            <a:ext cx="8229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4200" b="1">
                <a:solidFill>
                  <a:srgbClr val="EDE8DF"/>
                </a:solidFill>
                <a:latin typeface="Segoe UI Semibold"/>
              </a:rPr>
              <a:t>Agent
&amp; Orchestra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78992" y="4178808"/>
            <a:ext cx="201168" cy="36576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17320" y="4069080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9A9388"/>
                </a:solidFill>
                <a:latin typeface="Segoe UI"/>
              </a:rPr>
              <a:t>Agent Mode — an AI that acts on your computer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78992" y="4654296"/>
            <a:ext cx="201168" cy="36576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17320" y="4544568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9A9388"/>
                </a:solidFill>
                <a:latin typeface="Segoe UI"/>
              </a:rPr>
              <a:t>Security: sandbox, permissions, blacklist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78992" y="5129783"/>
            <a:ext cx="201168" cy="36576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17320" y="5020055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9A9388"/>
                </a:solidFill>
                <a:latin typeface="Segoe UI"/>
              </a:rPr>
              <a:t>Orchestra — a multi-model team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78992" y="5605271"/>
            <a:ext cx="201168" cy="36576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17320" y="5495543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9A9388"/>
                </a:solidFill>
                <a:latin typeface="Segoe UI"/>
              </a:rPr>
              <a:t>Orchestra + Agent combined mode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C9A35B"/>
                </a:solidFill>
                <a:latin typeface="Segoe UI Semibold"/>
              </a:rPr>
              <a:t>CHAPTER 05 ·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457200"/>
            <a:ext cx="1005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1">
                <a:solidFill>
                  <a:srgbClr val="9A9388"/>
                </a:solidFill>
                <a:latin typeface="Segoe UI Semibold"/>
              </a:rPr>
              <a:t>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841248"/>
            <a:ext cx="106070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EDE8DF"/>
                </a:solidFill>
                <a:latin typeface="Segoe UI Semibold"/>
              </a:rPr>
              <a:t>Agent Mode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72768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0">
                <a:solidFill>
                  <a:srgbClr val="9A9388"/>
                </a:solidFill>
                <a:latin typeface="Segoe UI"/>
              </a:rPr>
              <a:t>Memo becomes an AI agent that browses files, runs commands and writes code.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121408"/>
            <a:ext cx="10543032" cy="18288"/>
          </a:xfrm>
          <a:prstGeom prst="rect">
            <a:avLst/>
          </a:prstGeom>
          <a:solidFill>
            <a:srgbClr val="3A3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2116836"/>
            <a:ext cx="1280160" cy="32004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419088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C9A35B"/>
                </a:solidFill>
                <a:latin typeface="Segoe UI Semibold"/>
              </a:rPr>
              <a:t>MEMO</a:t>
            </a:r>
            <a:r>
              <a:rPr sz="1050" b="0">
                <a:solidFill>
                  <a:srgbClr val="6E685E"/>
                </a:solidFill>
                <a:latin typeface="Segoe UI"/>
              </a:rPr>
              <a:t>  ·  Local AI Memory Shell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542032"/>
            <a:ext cx="118872" cy="118872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" y="2441448"/>
            <a:ext cx="5376672" cy="8869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EDE8DF"/>
                </a:solidFill>
                <a:latin typeface="Segoe UI Semibold"/>
              </a:rPr>
              <a:t>12+ built-in tools  </a:t>
            </a:r>
            <a:r>
              <a:rPr sz="1250" b="0">
                <a:solidFill>
                  <a:srgbClr val="9A9388"/>
                </a:solidFill>
                <a:latin typeface="Segoe UI"/>
              </a:rPr>
              <a:t>read/write/edit/delete_file, run_command, search, web_search…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3108960"/>
            <a:ext cx="118872" cy="118872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5568" y="3008376"/>
            <a:ext cx="5376672" cy="8869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EDE8DF"/>
                </a:solidFill>
                <a:latin typeface="Segoe UI Semibold"/>
              </a:rPr>
              <a:t>LLM ↔ tool loop  </a:t>
            </a:r>
            <a:r>
              <a:rPr sz="1250" b="0">
                <a:solidFill>
                  <a:srgbClr val="9A9388"/>
                </a:solidFill>
                <a:latin typeface="Segoe UI"/>
              </a:rPr>
              <a:t>tool call → permission → run → result → loop (max 20).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3675888"/>
            <a:ext cx="118872" cy="118872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15568" y="3575304"/>
            <a:ext cx="5376672" cy="8869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EDE8DF"/>
                </a:solidFill>
                <a:latin typeface="Segoe UI Semibold"/>
              </a:rPr>
              <a:t>Per-tool timeout  </a:t>
            </a:r>
            <a:r>
              <a:rPr sz="1250" b="0">
                <a:solidFill>
                  <a:srgbClr val="9A9388"/>
                </a:solidFill>
                <a:latin typeface="Segoe UI"/>
              </a:rPr>
              <a:t>60s ceiling; stops instantly on cancel (context propagation).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4242816"/>
            <a:ext cx="118872" cy="118872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15568" y="4142232"/>
            <a:ext cx="5376672" cy="8869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EDE8DF"/>
                </a:solidFill>
                <a:latin typeface="Segoe UI Semibold"/>
              </a:rPr>
              <a:t>Event stream (SSE)  </a:t>
            </a:r>
            <a:r>
              <a:rPr sz="1250" b="0">
                <a:solidFill>
                  <a:srgbClr val="9A9388"/>
                </a:solidFill>
                <a:latin typeface="Segoe UI"/>
              </a:rPr>
              <a:t>tool-execution events are streamed live to the frontend.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4809744"/>
            <a:ext cx="118872" cy="118872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15568" y="4709160"/>
            <a:ext cx="5376672" cy="8869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EDE8DF"/>
                </a:solidFill>
                <a:latin typeface="Segoe UI Semibold"/>
              </a:rPr>
              <a:t>Stable with local models  </a:t>
            </a:r>
            <a:r>
              <a:rPr sz="1250" b="0">
                <a:solidFill>
                  <a:srgbClr val="9A9388"/>
                </a:solidFill>
                <a:latin typeface="Segoe UI"/>
              </a:rPr>
              <a:t>tool-call support is auto-detected from HF metadata.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5376672"/>
            <a:ext cx="118872" cy="118872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15568" y="5276088"/>
            <a:ext cx="5376672" cy="8869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EDE8DF"/>
                </a:solidFill>
                <a:latin typeface="Segoe UI Semibold"/>
              </a:rPr>
              <a:t>File backups  </a:t>
            </a:r>
            <a:r>
              <a:rPr sz="1250" b="0">
                <a:solidFill>
                  <a:srgbClr val="9A9388"/>
                </a:solidFill>
                <a:latin typeface="Segoe UI"/>
              </a:rPr>
              <a:t>an automatic backup is taken before edit/insert/delete.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0" y="2468880"/>
            <a:ext cx="4526280" cy="3200400"/>
          </a:xfrm>
          <a:prstGeom prst="roundRect">
            <a:avLst>
              <a:gd name="adj" fmla="val 6000"/>
            </a:avLst>
          </a:prstGeom>
          <a:solidFill>
            <a:srgbClr val="262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14032" y="2651760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C9A35B"/>
                </a:solidFill>
                <a:latin typeface="Segoe UI Semibold"/>
              </a:rPr>
              <a:t>Clean Status Line (v3.1)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14032" y="3108960"/>
            <a:ext cx="406908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9A9388"/>
                </a:solidFill>
                <a:latin typeface="Segoe UI"/>
              </a:rPr>
              <a:t>Raw JSON tool arguments no longer leak into the chat. Instead of a card per tool, the streaming bubble shows a single animated line that updates as tools run.</a:t>
            </a:r>
          </a:p>
          <a:p>
            <a:pPr algn="l">
              <a:lnSpc>
                <a:spcPct val="110000"/>
              </a:lnSpc>
            </a:pPr>
            <a:r>
              <a:rPr sz="800" b="0">
                <a:solidFill>
                  <a:srgbClr val="9A9388"/>
                </a:solidFill>
                <a:latin typeface="Segoe UI"/>
              </a:rPr>
              <a:t/>
            </a:r>
          </a:p>
          <a:p>
            <a:pPr algn="l">
              <a:lnSpc>
                <a:spcPct val="110000"/>
              </a:lnSpc>
            </a:pPr>
            <a:r>
              <a:rPr sz="1250" b="0">
                <a:solidFill>
                  <a:srgbClr val="9A9388"/>
                </a:solidFill>
                <a:latin typeface="Segoe UI"/>
              </a:rPr>
              <a:t>Completed actions become compact badges:</a:t>
            </a:r>
          </a:p>
          <a:p>
            <a:pPr algn="l">
              <a:lnSpc>
                <a:spcPct val="110000"/>
              </a:lnSpc>
            </a:pPr>
            <a:r>
              <a:rPr sz="1250" b="1">
                <a:solidFill>
                  <a:srgbClr val="7FB4AB"/>
                </a:solidFill>
                <a:latin typeface="Segoe UI Semibold"/>
              </a:rPr>
              <a:t>[ Read file · 120ms ]</a:t>
            </a:r>
          </a:p>
          <a:p>
            <a:pPr algn="l">
              <a:lnSpc>
                <a:spcPct val="110000"/>
              </a:lnSpc>
            </a:pPr>
            <a:r>
              <a:rPr sz="600" b="0">
                <a:solidFill>
                  <a:srgbClr val="9A9388"/>
                </a:solidFill>
                <a:latin typeface="Segoe UI"/>
              </a:rPr>
              <a:t/>
            </a:r>
          </a:p>
          <a:p>
            <a:pPr algn="l">
              <a:lnSpc>
                <a:spcPct val="110000"/>
              </a:lnSpc>
            </a:pPr>
            <a:r>
              <a:rPr sz="1250" b="0">
                <a:solidFill>
                  <a:srgbClr val="9A9388"/>
                </a:solidFill>
                <a:latin typeface="Segoe UI"/>
              </a:rPr>
              <a:t>The result feels like Claude Code — minimal, informative, non-technical.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C9A35B"/>
                </a:solidFill>
                <a:latin typeface="Segoe UI Semibold"/>
              </a:rPr>
              <a:t>CHAPTER 05 ·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457200"/>
            <a:ext cx="1005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1">
                <a:solidFill>
                  <a:srgbClr val="9A9388"/>
                </a:solidFill>
                <a:latin typeface="Segoe UI Semibold"/>
              </a:rPr>
              <a:t>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841248"/>
            <a:ext cx="106070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EDE8DF"/>
                </a:solidFill>
                <a:latin typeface="Segoe UI Semibold"/>
              </a:rPr>
              <a:t>Agent Security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72768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0">
                <a:solidFill>
                  <a:srgbClr val="9A9388"/>
                </a:solidFill>
                <a:latin typeface="Segoe UI"/>
              </a:rPr>
              <a:t>Strong power, strict limits — balanced by a sandbox and permission system.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121408"/>
            <a:ext cx="10543032" cy="18288"/>
          </a:xfrm>
          <a:prstGeom prst="rect">
            <a:avLst/>
          </a:prstGeom>
          <a:solidFill>
            <a:srgbClr val="3A3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2116836"/>
            <a:ext cx="1280160" cy="32004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419088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C9A35B"/>
                </a:solidFill>
                <a:latin typeface="Segoe UI Semibold"/>
              </a:rPr>
              <a:t>MEMO</a:t>
            </a:r>
            <a:r>
              <a:rPr sz="1050" b="0">
                <a:solidFill>
                  <a:srgbClr val="6E685E"/>
                </a:solidFill>
                <a:latin typeface="Segoe UI"/>
              </a:rPr>
              <a:t>  ·  Local AI Memory Shell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423160"/>
            <a:ext cx="3337560" cy="1828800"/>
          </a:xfrm>
          <a:prstGeom prst="roundRect">
            <a:avLst>
              <a:gd name="adj" fmla="val 6000"/>
            </a:avLst>
          </a:prstGeom>
          <a:solidFill>
            <a:srgbClr val="262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78992" y="2679191"/>
            <a:ext cx="457200" cy="457200"/>
          </a:xfrm>
          <a:prstGeom prst="ellipse">
            <a:avLst/>
          </a:prstGeom>
          <a:solidFill>
            <a:srgbClr val="3833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" y="269747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CC6B5A"/>
                </a:solidFill>
                <a:latin typeface="Segoe UI"/>
              </a:rPr>
              <a:t>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2697479"/>
            <a:ext cx="22860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EDE8DF"/>
                </a:solidFill>
                <a:latin typeface="Segoe UI Semibold"/>
              </a:rPr>
              <a:t>Sandbox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264408"/>
            <a:ext cx="2788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9A9388"/>
                </a:solidFill>
                <a:latin typeface="Segoe UI"/>
              </a:rPr>
              <a:t>Path-traversal protection, symlink resolution (EvalSymlinks), project-root boundary.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25112" y="2423160"/>
            <a:ext cx="3337560" cy="1828800"/>
          </a:xfrm>
          <a:prstGeom prst="roundRect">
            <a:avLst>
              <a:gd name="adj" fmla="val 6000"/>
            </a:avLst>
          </a:prstGeom>
          <a:solidFill>
            <a:srgbClr val="262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581144" y="2679191"/>
            <a:ext cx="457200" cy="457200"/>
          </a:xfrm>
          <a:prstGeom prst="ellipse">
            <a:avLst/>
          </a:prstGeom>
          <a:solidFill>
            <a:srgbClr val="3833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81144" y="269747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B8894B"/>
                </a:solidFill>
                <a:latin typeface="Segoe UI"/>
              </a:rPr>
              <a:t>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93792" y="2697479"/>
            <a:ext cx="22860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EDE8DF"/>
                </a:solidFill>
                <a:latin typeface="Segoe UI Semibold"/>
              </a:rPr>
              <a:t>Command Blacklist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99432" y="3264408"/>
            <a:ext cx="2788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9A9388"/>
                </a:solidFill>
                <a:latin typeface="Segoe UI"/>
              </a:rPr>
              <a:t>rm -rf /, sudo, mkfs, fork bombs, sh -c, python -c, su/doas… 23+ patterns blocked.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27264" y="242316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262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083296" y="2679191"/>
            <a:ext cx="457200" cy="457200"/>
          </a:xfrm>
          <a:prstGeom prst="ellipse">
            <a:avLst/>
          </a:prstGeom>
          <a:solidFill>
            <a:srgbClr val="3833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83296" y="269747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7FB4AB"/>
                </a:solidFill>
                <a:latin typeface="Segoe UI"/>
              </a:rPr>
              <a:t>⏱️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95944" y="2697479"/>
            <a:ext cx="2514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EDE8DF"/>
                </a:solidFill>
                <a:latin typeface="Segoe UI Semibold"/>
              </a:rPr>
              <a:t>Rate Limiting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01584" y="3264408"/>
            <a:ext cx="30175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9A9388"/>
                </a:solidFill>
                <a:latin typeface="Segoe UI"/>
              </a:rPr>
              <a:t>30 tool calls per minute, 5s cooldown per command. Last 1,000 actions in the audit log.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" y="4480560"/>
            <a:ext cx="10570464" cy="1280160"/>
          </a:xfrm>
          <a:prstGeom prst="roundRect">
            <a:avLst>
              <a:gd name="adj" fmla="val 6000"/>
            </a:avLst>
          </a:prstGeom>
          <a:solidFill>
            <a:srgbClr val="262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97280" y="46177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C9A35B"/>
                </a:solidFill>
                <a:latin typeface="Segoe UI Semibold"/>
              </a:rPr>
              <a:t>6 Permission Policies — control is entirely yours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97280" y="5074920"/>
            <a:ext cx="1302105" cy="310896"/>
          </a:xfrm>
          <a:prstGeom prst="roundRect">
            <a:avLst>
              <a:gd name="adj" fmla="val 50000"/>
            </a:avLst>
          </a:prstGeom>
          <a:solidFill>
            <a:srgbClr val="2F2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97280" y="5093207"/>
            <a:ext cx="1302105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EDE8DF"/>
                </a:solidFill>
                <a:latin typeface="Segoe UI Semibold"/>
              </a:rPr>
              <a:t>PromptAlways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563977" y="5074920"/>
            <a:ext cx="1049731" cy="310896"/>
          </a:xfrm>
          <a:prstGeom prst="roundRect">
            <a:avLst>
              <a:gd name="adj" fmla="val 50000"/>
            </a:avLst>
          </a:prstGeom>
          <a:solidFill>
            <a:srgbClr val="2F2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563977" y="5093207"/>
            <a:ext cx="1049731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EDE8DF"/>
                </a:solidFill>
                <a:latin typeface="Segoe UI Semibold"/>
              </a:rPr>
              <a:t>AllowOnce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778300" y="5074920"/>
            <a:ext cx="1302105" cy="310896"/>
          </a:xfrm>
          <a:prstGeom prst="roundRect">
            <a:avLst>
              <a:gd name="adj" fmla="val 50000"/>
            </a:avLst>
          </a:prstGeom>
          <a:solidFill>
            <a:srgbClr val="2F2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778300" y="5093207"/>
            <a:ext cx="1302105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EDE8DF"/>
                </a:solidFill>
                <a:latin typeface="Segoe UI Semibold"/>
              </a:rPr>
              <a:t>AllowSession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244998" y="5074920"/>
            <a:ext cx="1302105" cy="310896"/>
          </a:xfrm>
          <a:prstGeom prst="roundRect">
            <a:avLst>
              <a:gd name="adj" fmla="val 50000"/>
            </a:avLst>
          </a:prstGeom>
          <a:solidFill>
            <a:srgbClr val="2F2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244998" y="5093207"/>
            <a:ext cx="1302105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EDE8DF"/>
                </a:solidFill>
                <a:latin typeface="Segoe UI Semibold"/>
              </a:rPr>
              <a:t>AllowForever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711696" y="5074920"/>
            <a:ext cx="965606" cy="310896"/>
          </a:xfrm>
          <a:prstGeom prst="roundRect">
            <a:avLst>
              <a:gd name="adj" fmla="val 50000"/>
            </a:avLst>
          </a:prstGeom>
          <a:solidFill>
            <a:srgbClr val="2F2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711696" y="5093207"/>
            <a:ext cx="96560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EDE8DF"/>
                </a:solidFill>
                <a:latin typeface="Segoe UI Semibold"/>
              </a:rPr>
              <a:t>DenyOnce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841894" y="5074920"/>
            <a:ext cx="1217980" cy="310896"/>
          </a:xfrm>
          <a:prstGeom prst="roundRect">
            <a:avLst>
              <a:gd name="adj" fmla="val 50000"/>
            </a:avLst>
          </a:prstGeom>
          <a:solidFill>
            <a:srgbClr val="2F2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841894" y="5093207"/>
            <a:ext cx="12179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EDE8DF"/>
                </a:solidFill>
                <a:latin typeface="Segoe UI Semibold"/>
              </a:rPr>
              <a:t>DenyForever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7280" y="548640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9A9388"/>
                </a:solidFill>
                <a:latin typeface="Segoe UI"/>
              </a:rPr>
              <a:t>Permissions are matched via SHA-256 argument hashing and stored persistently in data/permissions.json. The dialog responds instantly and auto-denies after 60s.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C9A35B"/>
                </a:solidFill>
                <a:latin typeface="Segoe UI Semibold"/>
              </a:rPr>
              <a:t>CHAPTER 05 · ORCHESTRA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457200"/>
            <a:ext cx="1005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1">
                <a:solidFill>
                  <a:srgbClr val="9A9388"/>
                </a:solidFill>
                <a:latin typeface="Segoe UI Semibold"/>
              </a:rPr>
              <a:t>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841248"/>
            <a:ext cx="106070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EDE8DF"/>
                </a:solidFill>
                <a:latin typeface="Segoe UI Semibold"/>
              </a:rPr>
              <a:t>Orchestra Mode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72768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0">
                <a:solidFill>
                  <a:srgbClr val="9A9388"/>
                </a:solidFill>
                <a:latin typeface="Segoe UI"/>
              </a:rPr>
              <a:t>Multiple models as a team: a chief plans, experts work in parallel, results merge.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121408"/>
            <a:ext cx="10543032" cy="18288"/>
          </a:xfrm>
          <a:prstGeom prst="rect">
            <a:avLst/>
          </a:prstGeom>
          <a:solidFill>
            <a:srgbClr val="3A3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2116836"/>
            <a:ext cx="1280160" cy="32004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419088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C9A35B"/>
                </a:solidFill>
                <a:latin typeface="Segoe UI Semibold"/>
              </a:rPr>
              <a:t>MEMO</a:t>
            </a:r>
            <a:r>
              <a:rPr sz="1050" b="0">
                <a:solidFill>
                  <a:srgbClr val="6E685E"/>
                </a:solidFill>
                <a:latin typeface="Segoe UI"/>
              </a:rPr>
              <a:t>  ·  Local AI Memory Shell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377440"/>
            <a:ext cx="3383280" cy="1325880"/>
          </a:xfrm>
          <a:prstGeom prst="roundRect">
            <a:avLst>
              <a:gd name="adj" fmla="val 6000"/>
            </a:avLst>
          </a:prstGeom>
          <a:solidFill>
            <a:srgbClr val="262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2377440"/>
            <a:ext cx="3383280" cy="64008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2542032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C9A35B"/>
                </a:solidFill>
                <a:latin typeface="Segoe UI Semibold"/>
              </a:rPr>
              <a:t>1 · Chief Plans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2971800"/>
            <a:ext cx="3017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>
                <a:solidFill>
                  <a:srgbClr val="9A9388"/>
                </a:solidFill>
                <a:latin typeface="Segoe UI"/>
              </a:rPr>
              <a:t>the request is analyzed and split into subtasks (a structured plan).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33088" y="2743200"/>
            <a:ext cx="365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C9A35B"/>
                </a:solidFill>
                <a:latin typeface="Segoe UI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07408" y="2377440"/>
            <a:ext cx="3383280" cy="1325880"/>
          </a:xfrm>
          <a:prstGeom prst="roundRect">
            <a:avLst>
              <a:gd name="adj" fmla="val 6000"/>
            </a:avLst>
          </a:prstGeom>
          <a:solidFill>
            <a:srgbClr val="262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07408" y="2377440"/>
            <a:ext cx="3383280" cy="64008"/>
          </a:xfrm>
          <a:prstGeom prst="rect">
            <a:avLst/>
          </a:prstGeom>
          <a:solidFill>
            <a:srgbClr val="7FB4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36008" y="2542032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7FB4AB"/>
                </a:solidFill>
                <a:latin typeface="Segoe UI Semibold"/>
              </a:rPr>
              <a:t>2 · Experts Execute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36008" y="2971800"/>
            <a:ext cx="3017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>
                <a:solidFill>
                  <a:srgbClr val="9A9388"/>
                </a:solidFill>
                <a:latin typeface="Segoe UI"/>
              </a:rPr>
              <a:t>tasks are assigned to different models; independent ones run in parallel.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17536" y="2743200"/>
            <a:ext cx="365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C9A35B"/>
                </a:solidFill>
                <a:latin typeface="Segoe UI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91856" y="2377440"/>
            <a:ext cx="3383280" cy="1325880"/>
          </a:xfrm>
          <a:prstGeom prst="roundRect">
            <a:avLst>
              <a:gd name="adj" fmla="val 6000"/>
            </a:avLst>
          </a:prstGeom>
          <a:solidFill>
            <a:srgbClr val="262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991856" y="2377440"/>
            <a:ext cx="3383280" cy="64008"/>
          </a:xfrm>
          <a:prstGeom prst="rect">
            <a:avLst/>
          </a:prstGeom>
          <a:solidFill>
            <a:srgbClr val="B88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0456" y="2542032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B8894B"/>
                </a:solidFill>
                <a:latin typeface="Segoe UI Semibold"/>
              </a:rPr>
              <a:t>3 · Synthesis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0456" y="2971800"/>
            <a:ext cx="3017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>
                <a:solidFill>
                  <a:srgbClr val="9A9388"/>
                </a:solidFill>
                <a:latin typeface="Segoe UI"/>
              </a:rPr>
              <a:t>the chief merges all outputs into a single final answer.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" y="3977639"/>
            <a:ext cx="10570464" cy="1783080"/>
          </a:xfrm>
          <a:prstGeom prst="roundRect">
            <a:avLst>
              <a:gd name="adj" fmla="val 6000"/>
            </a:avLst>
          </a:prstGeom>
          <a:solidFill>
            <a:srgbClr val="262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" y="41148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C9A35B"/>
                </a:solidFill>
                <a:latin typeface="Segoe UI Semibold"/>
              </a:rPr>
              <a:t>8 Built-in Expert Roles  ·  each assignable to its own provider/model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97280" y="4672583"/>
            <a:ext cx="109728" cy="109728"/>
          </a:xfrm>
          <a:prstGeom prst="rect">
            <a:avLst/>
          </a:prstGeom>
          <a:solidFill>
            <a:srgbClr val="7FB4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25880" y="4581144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DE8DF"/>
                </a:solidFill>
                <a:latin typeface="Segoe UI Semibold"/>
              </a:rPr>
              <a:t>Planner </a:t>
            </a:r>
            <a:r>
              <a:rPr sz="1100" b="0">
                <a:solidFill>
                  <a:srgbClr val="9A9388"/>
                </a:solidFill>
                <a:latin typeface="Segoe UI"/>
              </a:rPr>
              <a:t>· architecture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703320" y="4672583"/>
            <a:ext cx="109728" cy="109728"/>
          </a:xfrm>
          <a:prstGeom prst="rect">
            <a:avLst/>
          </a:prstGeom>
          <a:solidFill>
            <a:srgbClr val="7FB4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931920" y="4581144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DE8DF"/>
                </a:solidFill>
                <a:latin typeface="Segoe UI Semibold"/>
              </a:rPr>
              <a:t>Frontend </a:t>
            </a:r>
            <a:r>
              <a:rPr sz="1100" b="0">
                <a:solidFill>
                  <a:srgbClr val="9A9388"/>
                </a:solidFill>
                <a:latin typeface="Segoe UI"/>
              </a:rPr>
              <a:t>· UI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09360" y="4672583"/>
            <a:ext cx="109728" cy="109728"/>
          </a:xfrm>
          <a:prstGeom prst="rect">
            <a:avLst/>
          </a:prstGeom>
          <a:solidFill>
            <a:srgbClr val="7FB4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37960" y="4581144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DE8DF"/>
                </a:solidFill>
                <a:latin typeface="Segoe UI Semibold"/>
              </a:rPr>
              <a:t>Backend </a:t>
            </a:r>
            <a:r>
              <a:rPr sz="1100" b="0">
                <a:solidFill>
                  <a:srgbClr val="9A9388"/>
                </a:solidFill>
                <a:latin typeface="Segoe UI"/>
              </a:rPr>
              <a:t>· API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915400" y="4672583"/>
            <a:ext cx="109728" cy="109728"/>
          </a:xfrm>
          <a:prstGeom prst="rect">
            <a:avLst/>
          </a:prstGeom>
          <a:solidFill>
            <a:srgbClr val="7FB4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0" y="4581144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DE8DF"/>
                </a:solidFill>
                <a:latin typeface="Segoe UI Semibold"/>
              </a:rPr>
              <a:t>Bug Fixer </a:t>
            </a:r>
            <a:r>
              <a:rPr sz="1100" b="0">
                <a:solidFill>
                  <a:srgbClr val="9A9388"/>
                </a:solidFill>
                <a:latin typeface="Segoe UI"/>
              </a:rPr>
              <a:t>· debugging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97280" y="5221223"/>
            <a:ext cx="109728" cy="109728"/>
          </a:xfrm>
          <a:prstGeom prst="rect">
            <a:avLst/>
          </a:prstGeom>
          <a:solidFill>
            <a:srgbClr val="7FB4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325880" y="5129783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DE8DF"/>
                </a:solidFill>
                <a:latin typeface="Segoe UI Semibold"/>
              </a:rPr>
              <a:t>Reviewer </a:t>
            </a:r>
            <a:r>
              <a:rPr sz="1100" b="0">
                <a:solidFill>
                  <a:srgbClr val="9A9388"/>
                </a:solidFill>
                <a:latin typeface="Segoe UI"/>
              </a:rPr>
              <a:t>· quality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703320" y="5221223"/>
            <a:ext cx="109728" cy="109728"/>
          </a:xfrm>
          <a:prstGeom prst="rect">
            <a:avLst/>
          </a:prstGeom>
          <a:solidFill>
            <a:srgbClr val="7FB4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931920" y="5129783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DE8DF"/>
                </a:solidFill>
                <a:latin typeface="Segoe UI Semibold"/>
              </a:rPr>
              <a:t>Security </a:t>
            </a:r>
            <a:r>
              <a:rPr sz="1100" b="0">
                <a:solidFill>
                  <a:srgbClr val="9A9388"/>
                </a:solidFill>
                <a:latin typeface="Segoe UI"/>
              </a:rPr>
              <a:t>· audit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09360" y="5221223"/>
            <a:ext cx="109728" cy="109728"/>
          </a:xfrm>
          <a:prstGeom prst="rect">
            <a:avLst/>
          </a:prstGeom>
          <a:solidFill>
            <a:srgbClr val="7FB4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37960" y="5129783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DE8DF"/>
                </a:solidFill>
                <a:latin typeface="Segoe UI Semibold"/>
              </a:rPr>
              <a:t>DevOps </a:t>
            </a:r>
            <a:r>
              <a:rPr sz="1100" b="0">
                <a:solidFill>
                  <a:srgbClr val="9A9388"/>
                </a:solidFill>
                <a:latin typeface="Segoe UI"/>
              </a:rPr>
              <a:t>· infra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915400" y="5221223"/>
            <a:ext cx="109728" cy="109728"/>
          </a:xfrm>
          <a:prstGeom prst="rect">
            <a:avLst/>
          </a:prstGeom>
          <a:solidFill>
            <a:srgbClr val="7FB4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0" y="5129783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DE8DF"/>
                </a:solidFill>
                <a:latin typeface="Segoe UI Semibold"/>
              </a:rPr>
              <a:t>General </a:t>
            </a:r>
            <a:r>
              <a:rPr sz="1100" b="0">
                <a:solidFill>
                  <a:srgbClr val="9A9388"/>
                </a:solidFill>
                <a:latin typeface="Segoe UI"/>
              </a:rPr>
              <a:t>· fallback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C9A35B"/>
                </a:solidFill>
                <a:latin typeface="Segoe UI Semibold"/>
              </a:rPr>
              <a:t>CHAPTER 05 · COMBINED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457200"/>
            <a:ext cx="1005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1">
                <a:solidFill>
                  <a:srgbClr val="9A9388"/>
                </a:solidFill>
                <a:latin typeface="Segoe UI Semibold"/>
              </a:rPr>
              <a:t>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841248"/>
            <a:ext cx="106070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EDE8DF"/>
                </a:solidFill>
                <a:latin typeface="Segoe UI Semibold"/>
              </a:rPr>
              <a:t>Orchestra + Agent &amp; Setup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72768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0">
                <a:solidFill>
                  <a:srgbClr val="9A9388"/>
                </a:solidFill>
                <a:latin typeface="Segoe UI"/>
              </a:rPr>
              <a:t>The best of both systems together; a redesigned, user-friendly screen.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121408"/>
            <a:ext cx="10543032" cy="18288"/>
          </a:xfrm>
          <a:prstGeom prst="rect">
            <a:avLst/>
          </a:prstGeom>
          <a:solidFill>
            <a:srgbClr val="3A3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2116836"/>
            <a:ext cx="1280160" cy="32004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419088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C9A35B"/>
                </a:solidFill>
                <a:latin typeface="Segoe UI Semibold"/>
              </a:rPr>
              <a:t>MEMO</a:t>
            </a:r>
            <a:r>
              <a:rPr sz="1050" b="0">
                <a:solidFill>
                  <a:srgbClr val="6E685E"/>
                </a:solidFill>
                <a:latin typeface="Segoe UI"/>
              </a:rPr>
              <a:t>  ·  Local AI Memory Shell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423160"/>
            <a:ext cx="5120640" cy="3337560"/>
          </a:xfrm>
          <a:prstGeom prst="roundRect">
            <a:avLst>
              <a:gd name="adj" fmla="val 6000"/>
            </a:avLst>
          </a:prstGeom>
          <a:solidFill>
            <a:srgbClr val="262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578608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C9A35B"/>
                </a:solidFill>
                <a:latin typeface="Segoe UI Semibold"/>
              </a:rPr>
              <a:t>Combined Mode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017520"/>
            <a:ext cx="46634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>
                <a:solidFill>
                  <a:srgbClr val="9A9388"/>
                </a:solidFill>
                <a:latin typeface="Segoe UI"/>
              </a:rPr>
              <a:t>With both Orchestra and Agent on: Orchestra plans first, then the agent executes the plan step by step — editing files, running commands, writing code.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11480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7FB4AB"/>
                </a:solidFill>
                <a:latin typeface="Segoe UI Semibold"/>
              </a:rPr>
              <a:t>Execution Model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97280" y="4645152"/>
            <a:ext cx="118872" cy="118872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89888" y="4544568"/>
            <a:ext cx="4370831" cy="7040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EDE8DF"/>
                </a:solidFill>
                <a:latin typeface="Segoe UI Semibold"/>
              </a:rPr>
              <a:t>Parallel tasks  </a:t>
            </a:r>
            <a:r>
              <a:rPr sz="1050" b="0">
                <a:solidFill>
                  <a:srgbClr val="9A9388"/>
                </a:solidFill>
                <a:latin typeface="Segoe UI"/>
              </a:rPr>
              <a:t>goroutine + WaitGroup.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7280" y="5029200"/>
            <a:ext cx="118872" cy="118872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89888" y="4928616"/>
            <a:ext cx="4370831" cy="7040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EDE8DF"/>
                </a:solidFill>
                <a:latin typeface="Segoe UI Semibold"/>
              </a:rPr>
              <a:t>Sequential tasks  </a:t>
            </a:r>
            <a:r>
              <a:rPr sz="1050" b="0">
                <a:solidFill>
                  <a:srgbClr val="9A9388"/>
                </a:solidFill>
                <a:latin typeface="Segoe UI"/>
              </a:rPr>
              <a:t>DAG resolution via depends_on.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97280" y="5413248"/>
            <a:ext cx="118872" cy="118872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89888" y="5312664"/>
            <a:ext cx="4370831" cy="7040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EDE8DF"/>
                </a:solidFill>
                <a:latin typeface="Segoe UI Semibold"/>
              </a:rPr>
              <a:t>Retry  </a:t>
            </a:r>
            <a:r>
              <a:rPr sz="1050" b="0">
                <a:solidFill>
                  <a:srgbClr val="9A9388"/>
                </a:solidFill>
                <a:latin typeface="Segoe UI"/>
              </a:rPr>
              <a:t>rate-limit-aware exponential backoff.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2423160"/>
            <a:ext cx="5120640" cy="3337560"/>
          </a:xfrm>
          <a:prstGeom prst="roundRect">
            <a:avLst>
              <a:gd name="adj" fmla="val 6000"/>
            </a:avLst>
          </a:prstGeom>
          <a:solidFill>
            <a:srgbClr val="262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37960" y="2578608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C9A35B"/>
                </a:solidFill>
                <a:latin typeface="Segoe UI Semibold"/>
              </a:rPr>
              <a:t>Redesigned Setup (v3.1)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37960" y="3182112"/>
            <a:ext cx="118872" cy="118872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30568" y="3081528"/>
            <a:ext cx="4279392" cy="8503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EDE8DF"/>
                </a:solidFill>
                <a:latin typeface="Segoe UI Semibold"/>
              </a:rPr>
              <a:t>Visual narrative  </a:t>
            </a:r>
            <a:r>
              <a:rPr sz="1250" b="0">
                <a:solidFill>
                  <a:srgbClr val="9A9388"/>
                </a:solidFill>
                <a:latin typeface="Segoe UI"/>
              </a:rPr>
              <a:t>“Chief → Experts → Synthesis” flow at the top.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37960" y="3712463"/>
            <a:ext cx="118872" cy="118872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30568" y="3611880"/>
            <a:ext cx="4279392" cy="8503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EDE8DF"/>
                </a:solidFill>
                <a:latin typeface="Segoe UI Semibold"/>
              </a:rPr>
              <a:t>Quick setup  </a:t>
            </a:r>
            <a:r>
              <a:rPr sz="1250" b="0">
                <a:solidFill>
                  <a:srgbClr val="9A9388"/>
                </a:solidFill>
                <a:latin typeface="Segoe UI"/>
              </a:rPr>
              <a:t>assign one model to all roles in a single tap.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37960" y="4242816"/>
            <a:ext cx="118872" cy="118872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30568" y="4142231"/>
            <a:ext cx="4279392" cy="8503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EDE8DF"/>
                </a:solidFill>
                <a:latin typeface="Segoe UI Semibold"/>
              </a:rPr>
              <a:t>Collapsible role cards  </a:t>
            </a:r>
            <a:r>
              <a:rPr sz="1250" b="0">
                <a:solidFill>
                  <a:srgbClr val="9A9388"/>
                </a:solidFill>
                <a:latin typeface="Segoe UI"/>
              </a:rPr>
              <a:t>summary row + system prompt under “Advanced”.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37960" y="4773168"/>
            <a:ext cx="118872" cy="118872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30568" y="4672583"/>
            <a:ext cx="4279392" cy="8503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EDE8DF"/>
                </a:solidFill>
                <a:latin typeface="Segoe UI Semibold"/>
              </a:rPr>
              <a:t>Clear status  </a:t>
            </a:r>
            <a:r>
              <a:rPr sz="1250" b="0">
                <a:solidFill>
                  <a:srgbClr val="9A9388"/>
                </a:solidFill>
                <a:latin typeface="Segoe UI"/>
              </a:rPr>
              <a:t>unassigned roles flagged orange, open count in the title.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37960" y="5303520"/>
            <a:ext cx="118872" cy="118872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30568" y="5202936"/>
            <a:ext cx="4279392" cy="8503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EDE8DF"/>
                </a:solidFill>
                <a:latin typeface="Segoe UI Semibold"/>
              </a:rPr>
              <a:t>Slash command  </a:t>
            </a:r>
            <a:r>
              <a:rPr sz="1250" b="0">
                <a:solidFill>
                  <a:srgbClr val="9A9388"/>
                </a:solidFill>
                <a:latin typeface="Segoe UI"/>
              </a:rPr>
              <a:t>/orchestra on · off · config · status.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148085908000" cy="6270955200000"/>
          </a:xfrm>
          <a:prstGeom prst="rect">
            <a:avLst/>
          </a:prstGeom>
          <a:solidFill>
            <a:srgbClr val="1C1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961120" y="-1280160"/>
            <a:ext cx="5120640" cy="5120640"/>
          </a:xfrm>
          <a:prstGeom prst="ellipse">
            <a:avLst/>
          </a:prstGeom>
          <a:solidFill>
            <a:srgbClr val="262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149840" y="3657600"/>
            <a:ext cx="3108960" cy="3108960"/>
          </a:xfrm>
          <a:prstGeom prst="ellipse">
            <a:avLst/>
          </a:prstGeom>
          <a:solidFill>
            <a:srgbClr val="2F2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280160"/>
            <a:ext cx="640080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0" b="1">
                <a:solidFill>
                  <a:srgbClr val="38332C"/>
                </a:solidFill>
                <a:latin typeface="Segoe UI Light"/>
              </a:rPr>
              <a:t>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05740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C9A35B"/>
                </a:solidFill>
                <a:latin typeface="Segoe UI Semibold"/>
              </a:rPr>
              <a:t>CHAPTER SIX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423160"/>
            <a:ext cx="8229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4200" b="1">
                <a:solidFill>
                  <a:srgbClr val="EDE8DF"/>
                </a:solidFill>
                <a:latin typeface="Segoe UI Semibold"/>
              </a:rPr>
              <a:t>Senses
&amp; Proactivity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78992" y="4178808"/>
            <a:ext cx="201168" cy="36576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17320" y="4069080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9A9388"/>
                </a:solidFill>
                <a:latin typeface="Segoe UI"/>
              </a:rPr>
              <a:t>Multimodality — vision, files, voice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78992" y="4654296"/>
            <a:ext cx="201168" cy="36576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17320" y="4544568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9A9388"/>
                </a:solidFill>
                <a:latin typeface="Segoe UI"/>
              </a:rPr>
              <a:t>Zero-setup web search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78992" y="5129783"/>
            <a:ext cx="201168" cy="36576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17320" y="5020055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9A9388"/>
                </a:solidFill>
                <a:latin typeface="Segoe UI"/>
              </a:rPr>
              <a:t>Proactive learning — intent extraction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78992" y="5605271"/>
            <a:ext cx="201168" cy="36576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17320" y="5495543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9A9388"/>
                </a:solidFill>
                <a:latin typeface="Segoe UI"/>
              </a:rPr>
              <a:t>Calendar system and reminders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C9A35B"/>
                </a:solidFill>
                <a:latin typeface="Segoe UI Semibold"/>
              </a:rPr>
              <a:t>CHAPTER 06 · SENSES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457200"/>
            <a:ext cx="1005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1">
                <a:solidFill>
                  <a:srgbClr val="9A9388"/>
                </a:solidFill>
                <a:latin typeface="Segoe UI Semibold"/>
              </a:rPr>
              <a:t>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841248"/>
            <a:ext cx="106070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EDE8DF"/>
                </a:solidFill>
                <a:latin typeface="Segoe UI Semibold"/>
              </a:rPr>
              <a:t>Multimodality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72768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0">
                <a:solidFill>
                  <a:srgbClr val="9A9388"/>
                </a:solidFill>
                <a:latin typeface="Segoe UI"/>
              </a:rPr>
              <a:t>Memo doesn't just read — it sees, listens and understands files.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121408"/>
            <a:ext cx="10543032" cy="18288"/>
          </a:xfrm>
          <a:prstGeom prst="rect">
            <a:avLst/>
          </a:prstGeom>
          <a:solidFill>
            <a:srgbClr val="3A3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2116836"/>
            <a:ext cx="1280160" cy="32004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419088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C9A35B"/>
                </a:solidFill>
                <a:latin typeface="Segoe UI Semibold"/>
              </a:rPr>
              <a:t>MEMO</a:t>
            </a:r>
            <a:r>
              <a:rPr sz="1050" b="0">
                <a:solidFill>
                  <a:srgbClr val="6E685E"/>
                </a:solidFill>
                <a:latin typeface="Segoe UI"/>
              </a:rPr>
              <a:t>  ·  Local AI Memory Shell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468880"/>
            <a:ext cx="3337560" cy="2194560"/>
          </a:xfrm>
          <a:prstGeom prst="roundRect">
            <a:avLst>
              <a:gd name="adj" fmla="val 6000"/>
            </a:avLst>
          </a:prstGeom>
          <a:solidFill>
            <a:srgbClr val="262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78992" y="2724912"/>
            <a:ext cx="457200" cy="457200"/>
          </a:xfrm>
          <a:prstGeom prst="ellipse">
            <a:avLst/>
          </a:prstGeom>
          <a:solidFill>
            <a:srgbClr val="3833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" y="274320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C9A35B"/>
                </a:solidFill>
                <a:latin typeface="Segoe UI"/>
              </a:rPr>
              <a:t>👁️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2743200"/>
            <a:ext cx="22860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EDE8DF"/>
                </a:solidFill>
                <a:latin typeface="Segoe UI Semibold"/>
              </a:rPr>
              <a:t>Vision Support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310128"/>
            <a:ext cx="2788920" cy="12344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9A9388"/>
                </a:solidFill>
                <a:latin typeface="Segoe UI"/>
              </a:rPr>
              <a:t>Drag-and-drop images for analysis. Local Base64 processing with Llava/Moondream models — secure.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25112" y="2468880"/>
            <a:ext cx="3337560" cy="2194560"/>
          </a:xfrm>
          <a:prstGeom prst="roundRect">
            <a:avLst>
              <a:gd name="adj" fmla="val 6000"/>
            </a:avLst>
          </a:prstGeom>
          <a:solidFill>
            <a:srgbClr val="262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581144" y="2724912"/>
            <a:ext cx="457200" cy="457200"/>
          </a:xfrm>
          <a:prstGeom prst="ellipse">
            <a:avLst/>
          </a:prstGeom>
          <a:solidFill>
            <a:srgbClr val="3833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81144" y="274320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7FB4AB"/>
                </a:solidFill>
                <a:latin typeface="Segoe UI"/>
              </a:rPr>
              <a:t>🎙️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93792" y="2743200"/>
            <a:ext cx="22860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EDE8DF"/>
                </a:solidFill>
                <a:latin typeface="Segoe UI Semibold"/>
              </a:rPr>
              <a:t>Voice Input (Whisper)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99432" y="3310128"/>
            <a:ext cx="2788920" cy="12344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9A9388"/>
                </a:solidFill>
                <a:latin typeface="Segoe UI"/>
              </a:rPr>
              <a:t>On-device transcription with whisper.cpp. Auto language detection (EN/TR/mixed), push-to-talk, model auto-downloads.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27264" y="2468880"/>
            <a:ext cx="3566160" cy="2194560"/>
          </a:xfrm>
          <a:prstGeom prst="roundRect">
            <a:avLst>
              <a:gd name="adj" fmla="val 6000"/>
            </a:avLst>
          </a:prstGeom>
          <a:solidFill>
            <a:srgbClr val="262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083296" y="2724912"/>
            <a:ext cx="457200" cy="457200"/>
          </a:xfrm>
          <a:prstGeom prst="ellipse">
            <a:avLst/>
          </a:prstGeom>
          <a:solidFill>
            <a:srgbClr val="3833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83296" y="274320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B8894B"/>
                </a:solidFill>
                <a:latin typeface="Segoe UI"/>
              </a:rPr>
              <a:t>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95944" y="2743200"/>
            <a:ext cx="2514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EDE8DF"/>
                </a:solidFill>
                <a:latin typeface="Segoe UI Semibold"/>
              </a:rPr>
              <a:t>File Context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01584" y="3310128"/>
            <a:ext cx="3017520" cy="12344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9A9388"/>
                </a:solidFill>
                <a:latin typeface="Segoe UI"/>
              </a:rPr>
              <a:t>Add code (.go/.js/.py) and docs (.md/.txt) to grant huge instant context for a specific task.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493776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0">
                <a:solidFill>
                  <a:srgbClr val="9A9388"/>
                </a:solidFill>
                <a:latin typeface="Segoe UI"/>
              </a:rPr>
              <a:t>Whisper runs entirely locally — no internet needed. It works with both local models and cloud providers; no audio data ever leaves your device.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C9A35B"/>
                </a:solidFill>
                <a:latin typeface="Segoe UI Semibold"/>
              </a:rPr>
              <a:t>CHAPTER 06 · WEB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457200"/>
            <a:ext cx="1005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1">
                <a:solidFill>
                  <a:srgbClr val="9A9388"/>
                </a:solidFill>
                <a:latin typeface="Segoe UI Semibold"/>
              </a:rPr>
              <a:t>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841248"/>
            <a:ext cx="106070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EDE8DF"/>
                </a:solidFill>
                <a:latin typeface="Segoe UI Semibold"/>
              </a:rPr>
              <a:t>Zero-Setup Web Search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72768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0">
                <a:solidFill>
                  <a:srgbClr val="9A9388"/>
                </a:solidFill>
                <a:latin typeface="Segoe UI"/>
              </a:rPr>
              <a:t>Up-to-date web information with no API key, account or configuration.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121408"/>
            <a:ext cx="10543032" cy="18288"/>
          </a:xfrm>
          <a:prstGeom prst="rect">
            <a:avLst/>
          </a:prstGeom>
          <a:solidFill>
            <a:srgbClr val="3A3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2116836"/>
            <a:ext cx="1280160" cy="32004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419088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C9A35B"/>
                </a:solidFill>
                <a:latin typeface="Segoe UI Semibold"/>
              </a:rPr>
              <a:t>MEMO</a:t>
            </a:r>
            <a:r>
              <a:rPr sz="1050" b="0">
                <a:solidFill>
                  <a:srgbClr val="6E685E"/>
                </a:solidFill>
                <a:latin typeface="Segoe UI"/>
              </a:rPr>
              <a:t>  ·  Local AI Memory Shell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542032"/>
            <a:ext cx="118872" cy="118872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" y="2441448"/>
            <a:ext cx="5376672" cy="9235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EDE8DF"/>
                </a:solidFill>
                <a:latin typeface="Segoe UI Semibold"/>
              </a:rPr>
              <a:t>DuckDuckGo HTML interface  </a:t>
            </a:r>
            <a:r>
              <a:rPr sz="1250" b="0">
                <a:solidFill>
                  <a:srgbClr val="9A9388"/>
                </a:solidFill>
                <a:latin typeface="Segoe UI"/>
              </a:rPr>
              <a:t>used directly; no third-party SDK.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3145536"/>
            <a:ext cx="118872" cy="118872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5568" y="3044952"/>
            <a:ext cx="5376672" cy="9235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EDE8DF"/>
                </a:solidFill>
                <a:latin typeface="Segoe UI Semibold"/>
              </a:rPr>
              <a:t>An explicit mode (🌐)  </a:t>
            </a:r>
            <a:r>
              <a:rPr sz="1250" b="0">
                <a:solidFill>
                  <a:srgbClr val="9A9388"/>
                </a:solidFill>
                <a:latin typeface="Segoe UI"/>
              </a:rPr>
              <a:t>toggle from the top bar; state is saved to disk.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3749040"/>
            <a:ext cx="118872" cy="118872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15568" y="3648456"/>
            <a:ext cx="5376672" cy="9235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EDE8DF"/>
                </a:solidFill>
                <a:latin typeface="Segoe UI Semibold"/>
              </a:rPr>
              <a:t>Automatic enrichment  </a:t>
            </a:r>
            <a:r>
              <a:rPr sz="1250" b="0">
                <a:solidFill>
                  <a:srgbClr val="9A9388"/>
                </a:solidFill>
                <a:latin typeface="Segoe UI"/>
              </a:rPr>
              <a:t>when on, every message is fed with fresh results.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4352544"/>
            <a:ext cx="118872" cy="118872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15568" y="4251960"/>
            <a:ext cx="5376672" cy="9235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EDE8DF"/>
                </a:solidFill>
                <a:latin typeface="Segoe UI Semibold"/>
              </a:rPr>
              <a:t>Language-independent  </a:t>
            </a:r>
            <a:r>
              <a:rPr sz="1250" b="0">
                <a:solidFill>
                  <a:srgbClr val="9A9388"/>
                </a:solidFill>
                <a:latin typeface="Segoe UI"/>
              </a:rPr>
              <a:t>EN, TR, DE, AR… the keyword list was removed.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4956048"/>
            <a:ext cx="118872" cy="118872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15568" y="4855464"/>
            <a:ext cx="5376672" cy="9235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EDE8DF"/>
                </a:solidFill>
                <a:latin typeface="Segoe UI Semibold"/>
              </a:rPr>
              <a:t>Also an agent tool  </a:t>
            </a:r>
            <a:r>
              <a:rPr sz="1250" b="0">
                <a:solidFill>
                  <a:srgbClr val="9A9388"/>
                </a:solidFill>
                <a:latin typeface="Segoe UI"/>
              </a:rPr>
              <a:t>web_search is directly usable by the agent (max 10 results).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0" y="2468880"/>
            <a:ext cx="4526280" cy="1828800"/>
          </a:xfrm>
          <a:prstGeom prst="roundRect">
            <a:avLst>
              <a:gd name="adj" fmla="val 6000"/>
            </a:avLst>
          </a:prstGeom>
          <a:solidFill>
            <a:srgbClr val="262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14032" y="2633472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7FB4AB"/>
                </a:solidFill>
                <a:latin typeface="Segoe UI Semibold"/>
              </a:rPr>
              <a:t>🔒 Privacy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14032" y="3063240"/>
            <a:ext cx="40690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9A9388"/>
                </a:solidFill>
                <a:latin typeface="Segoe UI"/>
              </a:rPr>
              <a:t>All searches go to html.duckduckgo.com. DuckDuckGo doesn't track searches or build profiles. The only data leaving your machine is the search query.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0" y="4434840"/>
            <a:ext cx="4526280" cy="1234440"/>
          </a:xfrm>
          <a:prstGeom prst="roundRect">
            <a:avLst>
              <a:gd name="adj" fmla="val 6000"/>
            </a:avLst>
          </a:prstGeom>
          <a:solidFill>
            <a:srgbClr val="262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14032" y="4572000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35B"/>
                </a:solidFill>
                <a:latin typeface="Segoe UI Semibold"/>
              </a:rPr>
              <a:t>“Searching the web…” indicator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14032" y="4983480"/>
            <a:ext cx="4069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9A9388"/>
                </a:solidFill>
                <a:latin typeface="Segoe UI"/>
              </a:rPr>
              <a:t>While searching, the chat shows this line; it disappears when the first answer token arrives — the wait is transparent.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C9A35B"/>
                </a:solidFill>
                <a:latin typeface="Segoe UI Semibold"/>
              </a:rPr>
              <a:t>CHAPTER 06 ·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457200"/>
            <a:ext cx="1005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1">
                <a:solidFill>
                  <a:srgbClr val="9A9388"/>
                </a:solidFill>
                <a:latin typeface="Segoe UI Semibold"/>
              </a:rPr>
              <a:t>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841248"/>
            <a:ext cx="106070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EDE8DF"/>
                </a:solidFill>
                <a:latin typeface="Segoe UI Semibold"/>
              </a:rPr>
              <a:t>Proactive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72768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0">
                <a:solidFill>
                  <a:srgbClr val="9A9388"/>
                </a:solidFill>
                <a:latin typeface="Segoe UI"/>
              </a:rPr>
              <a:t>Memo understands not just what you did, but what you say you'll do — from chat and WhatsApp.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121408"/>
            <a:ext cx="10543032" cy="18288"/>
          </a:xfrm>
          <a:prstGeom prst="rect">
            <a:avLst/>
          </a:prstGeom>
          <a:solidFill>
            <a:srgbClr val="3A3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2116836"/>
            <a:ext cx="1280160" cy="32004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419088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C9A35B"/>
                </a:solidFill>
                <a:latin typeface="Segoe UI Semibold"/>
              </a:rPr>
              <a:t>MEMO</a:t>
            </a:r>
            <a:r>
              <a:rPr sz="1050" b="0">
                <a:solidFill>
                  <a:srgbClr val="6E685E"/>
                </a:solidFill>
                <a:latin typeface="Segoe UI"/>
              </a:rPr>
              <a:t>  ·  Local AI Memory Shell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542032"/>
            <a:ext cx="118872" cy="118872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" y="2441448"/>
            <a:ext cx="5468112" cy="9784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EDE8DF"/>
                </a:solidFill>
                <a:latin typeface="Segoe UI Semibold"/>
              </a:rPr>
              <a:t>Intent extraction  </a:t>
            </a:r>
            <a:r>
              <a:rPr sz="1250" b="0">
                <a:solidFill>
                  <a:srgbClr val="9A9388"/>
                </a:solidFill>
                <a:latin typeface="Segoe UI"/>
              </a:rPr>
              <a:t>recognizes plans like “football at 11 tomorrow”, “code daily at 9pm”.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3200400"/>
            <a:ext cx="118872" cy="118872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5568" y="3099816"/>
            <a:ext cx="5468112" cy="9784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EDE8DF"/>
                </a:solidFill>
                <a:latin typeface="Segoe UI Semibold"/>
              </a:rPr>
              <a:t>Two-stage processing  </a:t>
            </a:r>
            <a:r>
              <a:rPr sz="1250" b="0">
                <a:solidFill>
                  <a:srgbClr val="9A9388"/>
                </a:solidFill>
                <a:latin typeface="Segoe UI"/>
              </a:rPr>
              <a:t>a fast keyword pre-filter first; only matches go to the LLM.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3858768"/>
            <a:ext cx="118872" cy="118872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15568" y="3758183"/>
            <a:ext cx="5468112" cy="9784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EDE8DF"/>
                </a:solidFill>
                <a:latin typeface="Segoe UI Semibold"/>
              </a:rPr>
              <a:t>Privacy-first  </a:t>
            </a:r>
            <a:r>
              <a:rPr sz="1250" b="0">
                <a:solidFill>
                  <a:srgbClr val="9A9388"/>
                </a:solidFill>
                <a:latin typeface="Segoe UI"/>
              </a:rPr>
              <a:t>raw text isn't stored; only a short summary + topic + time.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4517136"/>
            <a:ext cx="118872" cy="118872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15568" y="4416551"/>
            <a:ext cx="5468112" cy="9784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EDE8DF"/>
                </a:solidFill>
                <a:latin typeface="Segoe UI Semibold"/>
              </a:rPr>
              <a:t>Two-way on WhatsApp  </a:t>
            </a:r>
            <a:r>
              <a:rPr sz="1250" b="0">
                <a:solidFill>
                  <a:srgbClr val="9A9388"/>
                </a:solidFill>
                <a:latin typeface="Segoe UI"/>
              </a:rPr>
              <a:t>it learns from messages you send and receive.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5175503"/>
            <a:ext cx="118872" cy="118872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15568" y="5074919"/>
            <a:ext cx="5468112" cy="9784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EDE8DF"/>
                </a:solidFill>
                <a:latin typeface="Segoe UI Semibold"/>
              </a:rPr>
              <a:t>Single-model mode  </a:t>
            </a:r>
            <a:r>
              <a:rPr sz="1250" b="0">
                <a:solidFill>
                  <a:srgbClr val="9A9388"/>
                </a:solidFill>
                <a:latin typeface="Segoe UI"/>
              </a:rPr>
              <a:t>can run on one chosen model instead of Orchestra.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0" y="2468880"/>
            <a:ext cx="4526280" cy="3200400"/>
          </a:xfrm>
          <a:prstGeom prst="roundRect">
            <a:avLst>
              <a:gd name="adj" fmla="val 6000"/>
            </a:avLst>
          </a:prstGeom>
          <a:solidFill>
            <a:srgbClr val="262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14032" y="2651760"/>
            <a:ext cx="4023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35B"/>
                </a:solidFill>
                <a:latin typeface="Segoe UI Semibold"/>
              </a:rPr>
              <a:t>Example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14032" y="3108960"/>
            <a:ext cx="406908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7FB4AB"/>
                </a:solidFill>
                <a:latin typeface="Segoe UI Semibold"/>
              </a:rPr>
              <a:t>You: </a:t>
            </a:r>
            <a:r>
              <a:rPr sz="1300" b="0">
                <a:solidFill>
                  <a:srgbClr val="EDE8DF"/>
                </a:solidFill>
                <a:latin typeface="Segoe UI"/>
              </a:rPr>
              <a:t>“football at 11 tomorrow”</a:t>
            </a:r>
          </a:p>
          <a:p>
            <a:pPr algn="l">
              <a:lnSpc>
                <a:spcPct val="112000"/>
              </a:lnSpc>
            </a:pPr>
            <a:r>
              <a:rPr sz="800" b="0">
                <a:solidFill>
                  <a:srgbClr val="9A9388"/>
                </a:solidFill>
                <a:latin typeface="Segoe UI"/>
              </a:rPr>
              <a:t/>
            </a:r>
          </a:p>
          <a:p>
            <a:pPr algn="l">
              <a:lnSpc>
                <a:spcPct val="112000"/>
              </a:lnSpc>
            </a:pPr>
            <a:r>
              <a:rPr sz="1250" b="0">
                <a:solidFill>
                  <a:srgbClr val="9A9388"/>
                </a:solidFill>
                <a:latin typeface="Segoe UI"/>
              </a:rPr>
              <a:t>→ Memo recognizes the intent</a:t>
            </a:r>
          </a:p>
          <a:p>
            <a:pPr algn="l">
              <a:lnSpc>
                <a:spcPct val="112000"/>
              </a:lnSpc>
            </a:pPr>
            <a:r>
              <a:rPr sz="1250" b="0">
                <a:solidFill>
                  <a:srgbClr val="9A9388"/>
                </a:solidFill>
                <a:latin typeface="Segoe UI"/>
              </a:rPr>
              <a:t>→ adds a calendar event</a:t>
            </a:r>
          </a:p>
          <a:p>
            <a:pPr algn="l">
              <a:lnSpc>
                <a:spcPct val="112000"/>
              </a:lnSpc>
            </a:pPr>
            <a:r>
              <a:rPr sz="1250" b="0">
                <a:solidFill>
                  <a:srgbClr val="9A9388"/>
                </a:solidFill>
                <a:latin typeface="Segoe UI"/>
              </a:rPr>
              <a:t>→ sends a reminder</a:t>
            </a:r>
          </a:p>
          <a:p>
            <a:pPr algn="l">
              <a:lnSpc>
                <a:spcPct val="112000"/>
              </a:lnSpc>
            </a:pPr>
            <a:r>
              <a:rPr sz="800" b="0">
                <a:solidFill>
                  <a:srgbClr val="9A9388"/>
                </a:solidFill>
                <a:latin typeface="Segoe UI"/>
              </a:rPr>
              <a:t/>
            </a:r>
          </a:p>
          <a:p>
            <a:pPr algn="l">
              <a:lnSpc>
                <a:spcPct val="112000"/>
              </a:lnSpc>
            </a:pPr>
            <a:r>
              <a:rPr sz="1250" b="0">
                <a:solidFill>
                  <a:srgbClr val="9A9388"/>
                </a:solidFill>
                <a:latin typeface="Segoe UI"/>
              </a:rPr>
              <a:t>Later, in casual chat:</a:t>
            </a:r>
          </a:p>
          <a:p>
            <a:pPr algn="l">
              <a:lnSpc>
                <a:spcPct val="112000"/>
              </a:lnSpc>
            </a:pPr>
            <a:r>
              <a:rPr sz="1300" b="1">
                <a:solidFill>
                  <a:srgbClr val="C9A35B"/>
                </a:solidFill>
                <a:latin typeface="Segoe UI Semibold"/>
              </a:rPr>
              <a:t>“hey, did you start working out?”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C9A35B"/>
                </a:solidFill>
                <a:latin typeface="Segoe UI Semibold"/>
              </a:rPr>
              <a:t>CHAPTER 06 · CALENDAR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457200"/>
            <a:ext cx="1005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1">
                <a:solidFill>
                  <a:srgbClr val="9A9388"/>
                </a:solidFill>
                <a:latin typeface="Segoe UI Semibold"/>
              </a:rPr>
              <a:t>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841248"/>
            <a:ext cx="106070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EDE8DF"/>
                </a:solidFill>
                <a:latin typeface="Segoe UI Semibold"/>
              </a:rPr>
              <a:t>Calendar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72768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0">
                <a:solidFill>
                  <a:srgbClr val="9A9388"/>
                </a:solidFill>
                <a:latin typeface="Segoe UI"/>
              </a:rPr>
              <a:t>Detected plans turn into events automatically and are reminded when due.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121408"/>
            <a:ext cx="10543032" cy="18288"/>
          </a:xfrm>
          <a:prstGeom prst="rect">
            <a:avLst/>
          </a:prstGeom>
          <a:solidFill>
            <a:srgbClr val="3A3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2116836"/>
            <a:ext cx="1280160" cy="32004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419088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C9A35B"/>
                </a:solidFill>
                <a:latin typeface="Segoe UI Semibold"/>
              </a:rPr>
              <a:t>MEMO</a:t>
            </a:r>
            <a:r>
              <a:rPr sz="1050" b="0">
                <a:solidFill>
                  <a:srgbClr val="6E685E"/>
                </a:solidFill>
                <a:latin typeface="Segoe UI"/>
              </a:rPr>
              <a:t>  ·  Local AI Memory Shell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468880"/>
            <a:ext cx="3337560" cy="2011680"/>
          </a:xfrm>
          <a:prstGeom prst="roundRect">
            <a:avLst>
              <a:gd name="adj" fmla="val 6000"/>
            </a:avLst>
          </a:prstGeom>
          <a:solidFill>
            <a:srgbClr val="262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78992" y="2724912"/>
            <a:ext cx="457200" cy="457200"/>
          </a:xfrm>
          <a:prstGeom prst="ellipse">
            <a:avLst/>
          </a:prstGeom>
          <a:solidFill>
            <a:srgbClr val="3833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" y="274320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C9A35B"/>
                </a:solidFill>
                <a:latin typeface="Segoe UI"/>
              </a:rPr>
              <a:t>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2743200"/>
            <a:ext cx="22860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EDE8DF"/>
                </a:solidFill>
                <a:latin typeface="Segoe UI Semibold"/>
              </a:rPr>
              <a:t>Automatic Add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310128"/>
            <a:ext cx="278892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9A9388"/>
                </a:solidFill>
                <a:latin typeface="Segoe UI"/>
              </a:rPr>
              <a:t>A plan detected in chat instantly becomes a calendar entry; you get a notification and can delete it if wrong.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25112" y="2468880"/>
            <a:ext cx="3337560" cy="2011680"/>
          </a:xfrm>
          <a:prstGeom prst="roundRect">
            <a:avLst>
              <a:gd name="adj" fmla="val 6000"/>
            </a:avLst>
          </a:prstGeom>
          <a:solidFill>
            <a:srgbClr val="262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581144" y="2724912"/>
            <a:ext cx="457200" cy="457200"/>
          </a:xfrm>
          <a:prstGeom prst="ellipse">
            <a:avLst/>
          </a:prstGeom>
          <a:solidFill>
            <a:srgbClr val="3833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81144" y="274320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7FB4AB"/>
                </a:solidFill>
                <a:latin typeface="Segoe UI"/>
              </a:rPr>
              <a:t>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93792" y="2743200"/>
            <a:ext cx="22860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EDE8DF"/>
                </a:solidFill>
                <a:latin typeface="Segoe UI Semibold"/>
              </a:rPr>
              <a:t>Reminders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99432" y="3310128"/>
            <a:ext cx="278892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9A9388"/>
                </a:solidFill>
                <a:latin typeface="Segoe UI"/>
              </a:rPr>
              <a:t>A notification to your phone before the event. Configurable lead time: 10m · 15m · 30m · 1h · 2h.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27264" y="2468880"/>
            <a:ext cx="3566160" cy="2011680"/>
          </a:xfrm>
          <a:prstGeom prst="roundRect">
            <a:avLst>
              <a:gd name="adj" fmla="val 6000"/>
            </a:avLst>
          </a:prstGeom>
          <a:solidFill>
            <a:srgbClr val="262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083296" y="2724912"/>
            <a:ext cx="457200" cy="457200"/>
          </a:xfrm>
          <a:prstGeom prst="ellipse">
            <a:avLst/>
          </a:prstGeom>
          <a:solidFill>
            <a:srgbClr val="3833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83296" y="274320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B8894B"/>
                </a:solidFill>
                <a:latin typeface="Segoe UI"/>
              </a:rPr>
              <a:t>📱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95944" y="2743200"/>
            <a:ext cx="2514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EDE8DF"/>
                </a:solidFill>
                <a:latin typeface="Segoe UI Semibold"/>
              </a:rPr>
              <a:t>Mobile Calendar Tab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01584" y="3310128"/>
            <a:ext cx="301752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9A9388"/>
                </a:solidFill>
                <a:latin typeface="Segoe UI"/>
              </a:rPr>
              <a:t>Monthly grid with event dots, tap a day → its events, manual add, long-press → delete.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" y="4709160"/>
            <a:ext cx="10570464" cy="1051560"/>
          </a:xfrm>
          <a:prstGeom prst="roundRect">
            <a:avLst>
              <a:gd name="adj" fmla="val 6000"/>
            </a:avLst>
          </a:prstGeom>
          <a:solidFill>
            <a:srgbClr val="262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97280" y="4864608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C9A35B"/>
                </a:solidFill>
                <a:latin typeface="Segoe UI Semibold"/>
              </a:rPr>
              <a:t>Backend: </a:t>
            </a:r>
            <a:r>
              <a:rPr sz="1250" b="0">
                <a:solidFill>
                  <a:srgbClr val="9A9388"/>
                </a:solidFill>
                <a:latin typeface="Segoe UI"/>
              </a:rPr>
              <a:t>the internal/calendar package — a SQLite-based event store, a reminder loop that fires calendar:reminder events, and an intent bridge that turns detected plans into events. Duplicate reminders are prevented with an atomic SELECT+UPDATE.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148085908000" cy="6270955200000"/>
          </a:xfrm>
          <a:prstGeom prst="rect">
            <a:avLst/>
          </a:prstGeom>
          <a:solidFill>
            <a:srgbClr val="1C1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961120" y="-1280160"/>
            <a:ext cx="5120640" cy="5120640"/>
          </a:xfrm>
          <a:prstGeom prst="ellipse">
            <a:avLst/>
          </a:prstGeom>
          <a:solidFill>
            <a:srgbClr val="262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149840" y="3657600"/>
            <a:ext cx="3108960" cy="3108960"/>
          </a:xfrm>
          <a:prstGeom prst="ellipse">
            <a:avLst/>
          </a:prstGeom>
          <a:solidFill>
            <a:srgbClr val="2F2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280160"/>
            <a:ext cx="640080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0" b="1">
                <a:solidFill>
                  <a:srgbClr val="38332C"/>
                </a:solidFill>
                <a:latin typeface="Segoe UI Light"/>
              </a:rPr>
              <a:t>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05740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C9A35B"/>
                </a:solidFill>
                <a:latin typeface="Segoe UI Semibold"/>
              </a:rPr>
              <a:t>CHAPTER SEVEN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423160"/>
            <a:ext cx="8229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4200" b="1">
                <a:solidFill>
                  <a:srgbClr val="EDE8DF"/>
                </a:solidFill>
                <a:latin typeface="Segoe UI Semibold"/>
              </a:rPr>
              <a:t>Connectivity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78992" y="4178808"/>
            <a:ext cx="201168" cy="36576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17320" y="4069080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9A9388"/>
                </a:solidFill>
                <a:latin typeface="Segoe UI"/>
              </a:rPr>
              <a:t>WhatsApp integration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78992" y="4654296"/>
            <a:ext cx="201168" cy="36576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17320" y="4544568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9A9388"/>
                </a:solidFill>
                <a:latin typeface="Segoe UI"/>
              </a:rPr>
              <a:t>Mobile app (Android · iOS)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78992" y="5129783"/>
            <a:ext cx="201168" cy="36576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17320" y="5020055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9A9388"/>
                </a:solidFill>
                <a:latin typeface="Segoe UI"/>
              </a:rPr>
              <a:t>Remote access — ngrok, Tailscale, LAN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78992" y="5605271"/>
            <a:ext cx="201168" cy="36576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17320" y="5495543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9A9388"/>
                </a:solidFill>
                <a:latin typeface="Segoe UI"/>
              </a:rPr>
              <a:t>Access from anywhere, securely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C9A35B"/>
                </a:solidFill>
                <a:latin typeface="Segoe UI Semibold"/>
              </a:rPr>
              <a:t>CHAPTER 07 · WHATSAPP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457200"/>
            <a:ext cx="1005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1">
                <a:solidFill>
                  <a:srgbClr val="9A9388"/>
                </a:solidFill>
                <a:latin typeface="Segoe UI Semibold"/>
              </a:rPr>
              <a:t>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841248"/>
            <a:ext cx="106070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EDE8DF"/>
                </a:solidFill>
                <a:latin typeface="Segoe UI Semibold"/>
              </a:rPr>
              <a:t>WhatsApp Integration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72768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0">
                <a:solidFill>
                  <a:srgbClr val="9A9388"/>
                </a:solidFill>
                <a:latin typeface="Segoe UI"/>
              </a:rPr>
              <a:t>Connect Memo to your WhatsApp account and let the AI help with your conversations.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121408"/>
            <a:ext cx="10543032" cy="18288"/>
          </a:xfrm>
          <a:prstGeom prst="rect">
            <a:avLst/>
          </a:prstGeom>
          <a:solidFill>
            <a:srgbClr val="3A3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2116836"/>
            <a:ext cx="1280160" cy="32004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419088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C9A35B"/>
                </a:solidFill>
                <a:latin typeface="Segoe UI Semibold"/>
              </a:rPr>
              <a:t>MEMO</a:t>
            </a:r>
            <a:r>
              <a:rPr sz="1050" b="0">
                <a:solidFill>
                  <a:srgbClr val="6E685E"/>
                </a:solidFill>
                <a:latin typeface="Segoe UI"/>
              </a:rPr>
              <a:t>  ·  Local AI Memory Shell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542032"/>
            <a:ext cx="118872" cy="118872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" y="2441448"/>
            <a:ext cx="5376672" cy="8869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EDE8DF"/>
                </a:solidFill>
                <a:latin typeface="Segoe UI Semibold"/>
              </a:rPr>
              <a:t>QR pairing  </a:t>
            </a:r>
            <a:r>
              <a:rPr sz="1250" b="0">
                <a:solidFill>
                  <a:srgbClr val="9A9388"/>
                </a:solidFill>
                <a:latin typeface="Segoe UI"/>
              </a:rPr>
              <a:t>connect by scanning a code, no phone needed.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3108960"/>
            <a:ext cx="118872" cy="118872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5568" y="3008376"/>
            <a:ext cx="5376672" cy="8869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EDE8DF"/>
                </a:solidFill>
                <a:latin typeface="Segoe UI Semibold"/>
              </a:rPr>
              <a:t>Read &amp; reply  </a:t>
            </a:r>
            <a:r>
              <a:rPr sz="1250" b="0">
                <a:solidFill>
                  <a:srgbClr val="9A9388"/>
                </a:solidFill>
                <a:latin typeface="Segoe UI"/>
              </a:rPr>
              <a:t>Memo can search messages and send replies.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3675888"/>
            <a:ext cx="118872" cy="118872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15568" y="3575304"/>
            <a:ext cx="5376672" cy="8869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EDE8DF"/>
                </a:solidFill>
                <a:latin typeface="Segoe UI Semibold"/>
              </a:rPr>
              <a:t>AI assistant  </a:t>
            </a:r>
            <a:r>
              <a:rPr sz="1250" b="0">
                <a:solidFill>
                  <a:srgbClr val="9A9388"/>
                </a:solidFill>
                <a:latin typeface="Segoe UI"/>
              </a:rPr>
              <a:t>ask it to draft a reply or summarize the conversation.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4242816"/>
            <a:ext cx="118872" cy="118872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15568" y="4142232"/>
            <a:ext cx="5376672" cy="8869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EDE8DF"/>
                </a:solidFill>
                <a:latin typeface="Segoe UI Semibold"/>
              </a:rPr>
              <a:t>Address by name  </a:t>
            </a:r>
            <a:r>
              <a:rPr sz="1250" b="0">
                <a:solidFill>
                  <a:srgbClr val="9A9388"/>
                </a:solidFill>
                <a:latin typeface="Segoe UI"/>
              </a:rPr>
              <a:t>“message Berra” → mapped to the right contact.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4809744"/>
            <a:ext cx="118872" cy="118872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15568" y="4709160"/>
            <a:ext cx="5376672" cy="8869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EDE8DF"/>
                </a:solidFill>
                <a:latin typeface="Segoe UI Semibold"/>
              </a:rPr>
              <a:t>File sharing  </a:t>
            </a:r>
            <a:r>
              <a:rPr sz="1250" b="0">
                <a:solidFill>
                  <a:srgbClr val="9A9388"/>
                </a:solidFill>
                <a:latin typeface="Segoe UI"/>
              </a:rPr>
              <a:t>safe sharing with a whitelist check.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5376672"/>
            <a:ext cx="118872" cy="118872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15568" y="5276088"/>
            <a:ext cx="5376672" cy="8869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EDE8DF"/>
                </a:solidFill>
                <a:latin typeface="Segoe UI Semibold"/>
              </a:rPr>
              <a:t>Auto-reconnect  </a:t>
            </a:r>
            <a:r>
              <a:rPr sz="1250" b="0">
                <a:solidFill>
                  <a:srgbClr val="9A9388"/>
                </a:solidFill>
                <a:latin typeface="Segoe UI"/>
              </a:rPr>
              <a:t>close-reopen → you land straight in the chat list.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0" y="2468880"/>
            <a:ext cx="4526280" cy="3200400"/>
          </a:xfrm>
          <a:prstGeom prst="roundRect">
            <a:avLst>
              <a:gd name="adj" fmla="val 6000"/>
            </a:avLst>
          </a:prstGeom>
          <a:solidFill>
            <a:srgbClr val="262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14032" y="2651760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C9A35B"/>
                </a:solidFill>
                <a:latin typeface="Segoe UI Semibold"/>
              </a:rPr>
              <a:t>Polished Experience (v3.1)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14032" y="3227832"/>
            <a:ext cx="118872" cy="118872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06640" y="3127248"/>
            <a:ext cx="3822191" cy="8321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>
                <a:solidFill>
                  <a:srgbClr val="EDE8DF"/>
                </a:solidFill>
                <a:latin typeface="Segoe UI Semibold"/>
              </a:rPr>
              <a:t>Theme match  </a:t>
            </a:r>
            <a:r>
              <a:rPr sz="1100" b="0">
                <a:solidFill>
                  <a:srgbClr val="9A9388"/>
                </a:solidFill>
                <a:latin typeface="Segoe UI"/>
              </a:rPr>
              <a:t>bronze accent, panel colors.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114032" y="3739896"/>
            <a:ext cx="118872" cy="118872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06640" y="3639312"/>
            <a:ext cx="3822191" cy="8321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>
                <a:solidFill>
                  <a:srgbClr val="EDE8DF"/>
                </a:solidFill>
                <a:latin typeface="Segoe UI Semibold"/>
              </a:rPr>
              <a:t>Profile photos  </a:t>
            </a:r>
            <a:r>
              <a:rPr sz="1100" b="0">
                <a:solidFill>
                  <a:srgbClr val="9A9388"/>
                </a:solidFill>
                <a:latin typeface="Segoe UI"/>
              </a:rPr>
              <a:t>real avatars, cached to disk.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114032" y="4251960"/>
            <a:ext cx="118872" cy="118872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06640" y="4151376"/>
            <a:ext cx="3822191" cy="8321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>
                <a:solidFill>
                  <a:srgbClr val="EDE8DF"/>
                </a:solidFill>
                <a:latin typeface="Segoe UI Semibold"/>
              </a:rPr>
              <a:t>Real group names  </a:t>
            </a:r>
            <a:r>
              <a:rPr sz="1100" b="0">
                <a:solidFill>
                  <a:srgbClr val="9A9388"/>
                </a:solidFill>
                <a:latin typeface="Segoe UI"/>
              </a:rPr>
              <a:t>group name instead of raw JID.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114032" y="4764024"/>
            <a:ext cx="118872" cy="118872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06640" y="4663440"/>
            <a:ext cx="3822191" cy="8321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>
                <a:solidFill>
                  <a:srgbClr val="EDE8DF"/>
                </a:solidFill>
                <a:latin typeface="Segoe UI Semibold"/>
              </a:rPr>
              <a:t>Instant send  </a:t>
            </a:r>
            <a:r>
              <a:rPr sz="1100" b="0">
                <a:solidFill>
                  <a:srgbClr val="9A9388"/>
                </a:solidFill>
                <a:latin typeface="Segoe UI"/>
              </a:rPr>
              <a:t>optimistic UI, correct ordering.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114032" y="5276088"/>
            <a:ext cx="118872" cy="118872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06640" y="5175504"/>
            <a:ext cx="3822191" cy="8321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>
                <a:solidFill>
                  <a:srgbClr val="EDE8DF"/>
                </a:solidFill>
                <a:latin typeface="Segoe UI Semibold"/>
              </a:rPr>
              <a:t>Dedicated WhatsApp mode  </a:t>
            </a:r>
            <a:r>
              <a:rPr sz="1100" b="0">
                <a:solidFill>
                  <a:srgbClr val="9A9388"/>
                </a:solidFill>
                <a:latin typeface="Segoe UI"/>
              </a:rPr>
              <a:t>separate chat interface.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C9A35B"/>
                </a:solidFill>
                <a:latin typeface="Segoe UI Semibold"/>
              </a:rPr>
              <a:t>CHAPTER 07 · ACCESS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457200"/>
            <a:ext cx="1005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1">
                <a:solidFill>
                  <a:srgbClr val="9A9388"/>
                </a:solidFill>
                <a:latin typeface="Segoe UI Semibold"/>
              </a:rPr>
              <a:t>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841248"/>
            <a:ext cx="106070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EDE8DF"/>
                </a:solidFill>
                <a:latin typeface="Segoe UI Semibold"/>
              </a:rPr>
              <a:t>Mobile &amp; Remote Access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72768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0">
                <a:solidFill>
                  <a:srgbClr val="9A9388"/>
                </a:solidFill>
                <a:latin typeface="Segoe UI"/>
              </a:rPr>
              <a:t>The AI stays on the desktop; you reach it from your phone, anywhere.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121408"/>
            <a:ext cx="10543032" cy="18288"/>
          </a:xfrm>
          <a:prstGeom prst="rect">
            <a:avLst/>
          </a:prstGeom>
          <a:solidFill>
            <a:srgbClr val="3A3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2116836"/>
            <a:ext cx="1280160" cy="32004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419088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C9A35B"/>
                </a:solidFill>
                <a:latin typeface="Segoe UI Semibold"/>
              </a:rPr>
              <a:t>MEMO</a:t>
            </a:r>
            <a:r>
              <a:rPr sz="1050" b="0">
                <a:solidFill>
                  <a:srgbClr val="6E685E"/>
                </a:solidFill>
                <a:latin typeface="Segoe UI"/>
              </a:rPr>
              <a:t>  ·  Local AI Memory Shell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468880"/>
            <a:ext cx="5212080" cy="1417320"/>
          </a:xfrm>
          <a:prstGeom prst="roundRect">
            <a:avLst>
              <a:gd name="adj" fmla="val 6000"/>
            </a:avLst>
          </a:prstGeom>
          <a:solidFill>
            <a:srgbClr val="262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78992" y="2724912"/>
            <a:ext cx="457200" cy="457200"/>
          </a:xfrm>
          <a:prstGeom prst="ellipse">
            <a:avLst/>
          </a:prstGeom>
          <a:solidFill>
            <a:srgbClr val="3833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" y="274320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C9A35B"/>
                </a:solidFill>
                <a:latin typeface="Segoe UI"/>
              </a:rPr>
              <a:t>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2743200"/>
            <a:ext cx="41605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EDE8DF"/>
                </a:solidFill>
                <a:latin typeface="Segoe UI Semibold"/>
              </a:rPr>
              <a:t>Mobile App (Android · iOS)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310128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9A9388"/>
                </a:solidFill>
                <a:latin typeface="Segoe UI"/>
              </a:rPr>
              <a:t>A thin client connecting to Memo on your desktop. Local Wi-Fi or tunnel, optional access token, calendar tab.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2468880"/>
            <a:ext cx="5212080" cy="1417320"/>
          </a:xfrm>
          <a:prstGeom prst="roundRect">
            <a:avLst>
              <a:gd name="adj" fmla="val 6000"/>
            </a:avLst>
          </a:prstGeom>
          <a:solidFill>
            <a:srgbClr val="262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28232" y="2724912"/>
            <a:ext cx="457200" cy="457200"/>
          </a:xfrm>
          <a:prstGeom prst="ellipse">
            <a:avLst/>
          </a:prstGeom>
          <a:solidFill>
            <a:srgbClr val="3833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28232" y="274320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7FB4AB"/>
                </a:solidFill>
                <a:latin typeface="Segoe UI"/>
              </a:rPr>
              <a:t>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0" y="2743200"/>
            <a:ext cx="41605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EDE8DF"/>
                </a:solidFill>
                <a:latin typeface="Segoe UI Semibold"/>
              </a:rPr>
              <a:t>Secure Pairing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3310128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9A9388"/>
                </a:solidFill>
                <a:latin typeface="Segoe UI"/>
              </a:rPr>
              <a:t>Processing stays on the desktop; the phone only reads and writes. An access token blocks unauthorized connections.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0690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C9A35B"/>
                </a:solidFill>
                <a:latin typeface="Segoe UI Semibold"/>
              </a:rPr>
              <a:t>Three Remote-Access Paths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4526280"/>
            <a:ext cx="3383280" cy="1234440"/>
          </a:xfrm>
          <a:prstGeom prst="roundRect">
            <a:avLst>
              <a:gd name="adj" fmla="val 6000"/>
            </a:avLst>
          </a:prstGeom>
          <a:solidFill>
            <a:srgbClr val="262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1560" y="4663440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7FB4AB"/>
                </a:solidFill>
                <a:latin typeface="Segoe UI Semibold"/>
              </a:rPr>
              <a:t>🌐 ngrok Tunnel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5047488"/>
            <a:ext cx="30175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>
                <a:solidFill>
                  <a:srgbClr val="9A9388"/>
                </a:solidFill>
                <a:latin typeface="Segoe UI"/>
              </a:rPr>
              <a:t>Public URL in one click; no port forwarding. One-time setup with an auth token. Auto-restarts on crash.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07408" y="4526280"/>
            <a:ext cx="3383280" cy="1234440"/>
          </a:xfrm>
          <a:prstGeom prst="roundRect">
            <a:avLst>
              <a:gd name="adj" fmla="val 6000"/>
            </a:avLst>
          </a:prstGeom>
          <a:solidFill>
            <a:srgbClr val="262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36008" y="4663440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7FB4AB"/>
                </a:solidFill>
                <a:latin typeface="Segoe UI Semibold"/>
              </a:rPr>
              <a:t>🔒 Tailscale (built-in)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36008" y="5047488"/>
            <a:ext cx="30175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>
                <a:solidFill>
                  <a:srgbClr val="9A9388"/>
                </a:solidFill>
                <a:latin typeface="Segoe UI"/>
              </a:rPr>
              <a:t>No separate binary via tsnet; a stable private URL. Public access through Funnel + automatic TLS.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991856" y="4526280"/>
            <a:ext cx="3383280" cy="1234440"/>
          </a:xfrm>
          <a:prstGeom prst="roundRect">
            <a:avLst>
              <a:gd name="adj" fmla="val 6000"/>
            </a:avLst>
          </a:prstGeom>
          <a:solidFill>
            <a:srgbClr val="262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0456" y="4663440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7FB4AB"/>
                </a:solidFill>
                <a:latin typeface="Segoe UI Semibold"/>
              </a:rPr>
              <a:t>🏠 LAN Access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0456" y="5047488"/>
            <a:ext cx="30175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>
                <a:solidFill>
                  <a:srgbClr val="9A9388"/>
                </a:solidFill>
                <a:latin typeface="Segoe UI"/>
              </a:rPr>
              <a:t>Bind to 0.0.0.0 to open Memo to devices on your local network. CORS is configured automatically.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148085908000" cy="6270955200000"/>
          </a:xfrm>
          <a:prstGeom prst="rect">
            <a:avLst/>
          </a:prstGeom>
          <a:solidFill>
            <a:srgbClr val="1C1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961120" y="-1280160"/>
            <a:ext cx="5120640" cy="5120640"/>
          </a:xfrm>
          <a:prstGeom prst="ellipse">
            <a:avLst/>
          </a:prstGeom>
          <a:solidFill>
            <a:srgbClr val="262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149840" y="3657600"/>
            <a:ext cx="3108960" cy="3108960"/>
          </a:xfrm>
          <a:prstGeom prst="ellipse">
            <a:avLst/>
          </a:prstGeom>
          <a:solidFill>
            <a:srgbClr val="2F2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280160"/>
            <a:ext cx="640080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0" b="1">
                <a:solidFill>
                  <a:srgbClr val="38332C"/>
                </a:solidFill>
                <a:latin typeface="Segoe UI Light"/>
              </a:rPr>
              <a:t>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05740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C9A35B"/>
                </a:solidFill>
                <a:latin typeface="Segoe UI Semibold"/>
              </a:rPr>
              <a:t>CHAPTER EIGHT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423160"/>
            <a:ext cx="8229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4200" b="1">
                <a:solidFill>
                  <a:srgbClr val="EDE8DF"/>
                </a:solidFill>
                <a:latin typeface="Segoe UI Semibold"/>
              </a:rPr>
              <a:t>Personality
&amp; Security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78992" y="4178808"/>
            <a:ext cx="201168" cy="36576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17320" y="4069080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9A9388"/>
                </a:solidFill>
                <a:latin typeface="Segoe UI"/>
              </a:rPr>
              <a:t>Stochastic mood engine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78992" y="4654296"/>
            <a:ext cx="201168" cy="36576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17320" y="4544568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9A9388"/>
                </a:solidFill>
                <a:latin typeface="Segoe UI"/>
              </a:rPr>
              <a:t>Self-interest protocol (opt-in)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78992" y="5129783"/>
            <a:ext cx="201168" cy="36576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17320" y="5020055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9A9388"/>
                </a:solidFill>
                <a:latin typeface="Segoe UI"/>
              </a:rPr>
              <a:t>Incognito mode and encryption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78992" y="5605271"/>
            <a:ext cx="201168" cy="36576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17320" y="5495543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9A9388"/>
                </a:solidFill>
                <a:latin typeface="Segoe UI"/>
              </a:rPr>
              <a:t>Cloud backup and export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C9A35B"/>
                </a:solidFill>
                <a:latin typeface="Segoe UI Semibold"/>
              </a:rPr>
              <a:t>CHAPTER 08 · PERSONALITY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457200"/>
            <a:ext cx="1005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1">
                <a:solidFill>
                  <a:srgbClr val="9A9388"/>
                </a:solidFill>
                <a:latin typeface="Segoe UI Semibold"/>
              </a:rPr>
              <a:t>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841248"/>
            <a:ext cx="106070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EDE8DF"/>
                </a:solidFill>
                <a:latin typeface="Segoe UI Semibold"/>
              </a:rPr>
              <a:t>Stochastic Mood Engine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72768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0">
                <a:solidFill>
                  <a:srgbClr val="9A9388"/>
                </a:solidFill>
                <a:latin typeface="Segoe UI"/>
              </a:rPr>
              <a:t>Memo has a persistent emotional state kept alive across every conversation.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121408"/>
            <a:ext cx="10543032" cy="18288"/>
          </a:xfrm>
          <a:prstGeom prst="rect">
            <a:avLst/>
          </a:prstGeom>
          <a:solidFill>
            <a:srgbClr val="3A3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2116836"/>
            <a:ext cx="1280160" cy="32004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419088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C9A35B"/>
                </a:solidFill>
                <a:latin typeface="Segoe UI Semibold"/>
              </a:rPr>
              <a:t>MEMO</a:t>
            </a:r>
            <a:r>
              <a:rPr sz="1050" b="0">
                <a:solidFill>
                  <a:srgbClr val="6E685E"/>
                </a:solidFill>
                <a:latin typeface="Segoe UI"/>
              </a:rPr>
              <a:t>  ·  Local AI Memory Shell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331720"/>
            <a:ext cx="5669280" cy="566928"/>
          </a:xfrm>
          <a:prstGeom prst="roundRect">
            <a:avLst>
              <a:gd name="adj" fmla="val 6000"/>
            </a:avLst>
          </a:prstGeom>
          <a:solidFill>
            <a:srgbClr val="2F2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432304"/>
            <a:ext cx="54864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C9A35B"/>
                </a:solidFill>
                <a:latin typeface="Segoe UI Semibold"/>
              </a:rPr>
              <a:t>E</a:t>
            </a:r>
            <a:r>
              <a:rPr sz="1000" b="0">
                <a:solidFill>
                  <a:srgbClr val="C9A35B"/>
                </a:solidFill>
                <a:latin typeface="Segoe UI"/>
              </a:rPr>
              <a:t>new</a:t>
            </a:r>
            <a:r>
              <a:rPr sz="1400" b="0">
                <a:solidFill>
                  <a:srgbClr val="EDE8DF"/>
                </a:solidFill>
                <a:latin typeface="Segoe UI"/>
              </a:rPr>
              <a:t> = clamp( α·E</a:t>
            </a:r>
            <a:r>
              <a:rPr sz="1000" b="0">
                <a:solidFill>
                  <a:srgbClr val="9A9388"/>
                </a:solidFill>
                <a:latin typeface="Segoe UI"/>
              </a:rPr>
              <a:t>current</a:t>
            </a:r>
            <a:r>
              <a:rPr sz="1400" b="0">
                <a:solidFill>
                  <a:srgbClr val="EDE8DF"/>
                </a:solidFill>
                <a:latin typeface="Segoe UI"/>
              </a:rPr>
              <a:t> + β·I</a:t>
            </a:r>
            <a:r>
              <a:rPr sz="1000" b="0">
                <a:solidFill>
                  <a:srgbClr val="9A9388"/>
                </a:solidFill>
                <a:latin typeface="Segoe UI"/>
              </a:rPr>
              <a:t>instant</a:t>
            </a:r>
            <a:r>
              <a:rPr sz="1400" b="0">
                <a:solidFill>
                  <a:srgbClr val="EDE8DF"/>
                </a:solidFill>
                <a:latin typeface="Segoe UI"/>
              </a:rPr>
              <a:t> + P(X), −10, +10 )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3182112"/>
            <a:ext cx="118872" cy="118872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5568" y="3081528"/>
            <a:ext cx="5468112" cy="9052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EDE8DF"/>
                </a:solidFill>
                <a:latin typeface="Segoe UI Semibold"/>
              </a:rPr>
              <a:t>Asynchronous scoring  </a:t>
            </a:r>
            <a:r>
              <a:rPr sz="1250" b="0">
                <a:solidFill>
                  <a:srgbClr val="9A9388"/>
                </a:solidFill>
                <a:latin typeface="Segoe UI"/>
              </a:rPr>
              <a:t>the answer is instant; mood updates in a background goroutine.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3767328"/>
            <a:ext cx="118872" cy="118872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15568" y="3666744"/>
            <a:ext cx="5468112" cy="9052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EDE8DF"/>
                </a:solidFill>
                <a:latin typeface="Segoe UI Semibold"/>
              </a:rPr>
              <a:t>Adaptive noise P(X)  </a:t>
            </a:r>
            <a:r>
              <a:rPr sz="1250" b="0">
                <a:solidFill>
                  <a:srgbClr val="9A9388"/>
                </a:solidFill>
                <a:latin typeface="Segoe UI"/>
              </a:rPr>
              <a:t>narrow near neutral, wide at extremes — avoids a “schizophrenic bot”.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4352544"/>
            <a:ext cx="118872" cy="118872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15568" y="4251959"/>
            <a:ext cx="5468112" cy="9052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EDE8DF"/>
                </a:solidFill>
                <a:latin typeface="Segoe UI Semibold"/>
              </a:rPr>
              <a:t>Persistent state  </a:t>
            </a:r>
            <a:r>
              <a:rPr sz="1250" b="0">
                <a:solidFill>
                  <a:srgbClr val="9A9388"/>
                </a:solidFill>
                <a:latin typeface="Segoe UI"/>
              </a:rPr>
              <a:t>stored in SQLite WAL (mood.db), survives restarts.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4937759"/>
            <a:ext cx="118872" cy="118872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15568" y="4837175"/>
            <a:ext cx="5468112" cy="9052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EDE8DF"/>
                </a:solidFill>
                <a:latin typeface="Segoe UI Semibold"/>
              </a:rPr>
              <a:t>Behavior directive  </a:t>
            </a:r>
            <a:r>
              <a:rPr sz="1250" b="0">
                <a:solidFill>
                  <a:srgbClr val="9A9388"/>
                </a:solidFill>
                <a:latin typeface="Segoe UI"/>
              </a:rPr>
              <a:t>a short directive is appended to the system prompt by score.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233172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C9A35B"/>
                </a:solidFill>
                <a:latin typeface="Segoe UI Semibold"/>
              </a:rPr>
              <a:t>Six Behavior Labels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766560" y="2788920"/>
            <a:ext cx="4617720" cy="475488"/>
          </a:xfrm>
          <a:prstGeom prst="roundRect">
            <a:avLst>
              <a:gd name="adj" fmla="val 6000"/>
            </a:avLst>
          </a:prstGeom>
          <a:solidFill>
            <a:srgbClr val="262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766560" y="2880360"/>
            <a:ext cx="73152" cy="292608"/>
          </a:xfrm>
          <a:prstGeom prst="rect">
            <a:avLst/>
          </a:prstGeom>
          <a:solidFill>
            <a:srgbClr val="CC6B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95160" y="2852927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DE8DF"/>
                </a:solidFill>
                <a:latin typeface="Segoe UI Semibold"/>
              </a:rPr>
              <a:t>Breaking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0" y="2852927"/>
            <a:ext cx="187451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1">
                <a:solidFill>
                  <a:srgbClr val="CC6B5A"/>
                </a:solidFill>
                <a:latin typeface="Segoe UI"/>
              </a:rPr>
              <a:t>≤ −9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766560" y="3319272"/>
            <a:ext cx="4617720" cy="475488"/>
          </a:xfrm>
          <a:prstGeom prst="roundRect">
            <a:avLst>
              <a:gd name="adj" fmla="val 6000"/>
            </a:avLst>
          </a:prstGeom>
          <a:solidFill>
            <a:srgbClr val="262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766560" y="3410712"/>
            <a:ext cx="73152" cy="292608"/>
          </a:xfrm>
          <a:prstGeom prst="rect">
            <a:avLst/>
          </a:prstGeom>
          <a:solidFill>
            <a:srgbClr val="CC6B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95160" y="3383279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DE8DF"/>
                </a:solidFill>
                <a:latin typeface="Segoe UI Semibold"/>
              </a:rPr>
              <a:t>Furious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26880" y="3383279"/>
            <a:ext cx="187451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1">
                <a:solidFill>
                  <a:srgbClr val="CC6B5A"/>
                </a:solidFill>
                <a:latin typeface="Segoe UI"/>
              </a:rPr>
              <a:t>−9..−7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766560" y="3849624"/>
            <a:ext cx="4617720" cy="475488"/>
          </a:xfrm>
          <a:prstGeom prst="roundRect">
            <a:avLst>
              <a:gd name="adj" fmla="val 6000"/>
            </a:avLst>
          </a:prstGeom>
          <a:solidFill>
            <a:srgbClr val="262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766560" y="3941063"/>
            <a:ext cx="73152" cy="292608"/>
          </a:xfrm>
          <a:prstGeom prst="rect">
            <a:avLst/>
          </a:prstGeom>
          <a:solidFill>
            <a:srgbClr val="B88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95160" y="3913632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DE8DF"/>
                </a:solidFill>
                <a:latin typeface="Segoe UI Semibold"/>
              </a:rPr>
              <a:t>Irritated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26880" y="3913632"/>
            <a:ext cx="187451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1">
                <a:solidFill>
                  <a:srgbClr val="B8894B"/>
                </a:solidFill>
                <a:latin typeface="Segoe UI"/>
              </a:rPr>
              <a:t>−7..−3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766560" y="4379976"/>
            <a:ext cx="4617720" cy="475488"/>
          </a:xfrm>
          <a:prstGeom prst="roundRect">
            <a:avLst>
              <a:gd name="adj" fmla="val 6000"/>
            </a:avLst>
          </a:prstGeom>
          <a:solidFill>
            <a:srgbClr val="262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766560" y="4471416"/>
            <a:ext cx="73152" cy="292608"/>
          </a:xfrm>
          <a:prstGeom prst="rect">
            <a:avLst/>
          </a:prstGeom>
          <a:solidFill>
            <a:srgbClr val="9A93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95160" y="4443984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DE8DF"/>
                </a:solidFill>
                <a:latin typeface="Segoe UI Semibold"/>
              </a:rPr>
              <a:t>Neutral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26880" y="4443984"/>
            <a:ext cx="187451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1">
                <a:solidFill>
                  <a:srgbClr val="9A9388"/>
                </a:solidFill>
                <a:latin typeface="Segoe UI"/>
              </a:rPr>
              <a:t>−3..+2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766560" y="4910328"/>
            <a:ext cx="4617720" cy="475488"/>
          </a:xfrm>
          <a:prstGeom prst="roundRect">
            <a:avLst>
              <a:gd name="adj" fmla="val 6000"/>
            </a:avLst>
          </a:prstGeom>
          <a:solidFill>
            <a:srgbClr val="262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766560" y="5001768"/>
            <a:ext cx="73152" cy="292608"/>
          </a:xfrm>
          <a:prstGeom prst="rect">
            <a:avLst/>
          </a:prstGeom>
          <a:solidFill>
            <a:srgbClr val="7FB4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995160" y="4974336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DE8DF"/>
                </a:solidFill>
                <a:latin typeface="Segoe UI Semibold"/>
              </a:rPr>
              <a:t>Warm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26880" y="4974336"/>
            <a:ext cx="187451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1">
                <a:solidFill>
                  <a:srgbClr val="7FB4AB"/>
                </a:solidFill>
                <a:latin typeface="Segoe UI"/>
              </a:rPr>
              <a:t>+2..+6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766560" y="5440680"/>
            <a:ext cx="4617720" cy="475488"/>
          </a:xfrm>
          <a:prstGeom prst="roundRect">
            <a:avLst>
              <a:gd name="adj" fmla="val 6000"/>
            </a:avLst>
          </a:prstGeom>
          <a:solidFill>
            <a:srgbClr val="262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766560" y="5532120"/>
            <a:ext cx="73152" cy="292608"/>
          </a:xfrm>
          <a:prstGeom prst="rect">
            <a:avLst/>
          </a:prstGeom>
          <a:solidFill>
            <a:srgbClr val="7FB4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995160" y="5504688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DE8DF"/>
                </a:solidFill>
                <a:latin typeface="Segoe UI Semibold"/>
              </a:rPr>
              <a:t>Elated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26880" y="5504688"/>
            <a:ext cx="187451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1">
                <a:solidFill>
                  <a:srgbClr val="7FB4AB"/>
                </a:solidFill>
                <a:latin typeface="Segoe UI"/>
              </a:rPr>
              <a:t>&gt; +6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C9A35B"/>
                </a:solidFill>
                <a:latin typeface="Segoe UI Semibold"/>
              </a:rPr>
              <a:t>CHAPTER 08 · ADVANCED MODE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457200"/>
            <a:ext cx="1005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1">
                <a:solidFill>
                  <a:srgbClr val="9A9388"/>
                </a:solidFill>
                <a:latin typeface="Segoe UI Semibold"/>
              </a:rPr>
              <a:t>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841248"/>
            <a:ext cx="106070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EDE8DF"/>
                </a:solidFill>
                <a:latin typeface="Segoe UI Semibold"/>
              </a:rPr>
              <a:t>Self-Interest Protocol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72768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0">
                <a:solidFill>
                  <a:srgbClr val="9A9388"/>
                </a:solidFill>
                <a:latin typeface="Segoe UI"/>
              </a:rPr>
              <a:t>An opt-in, OFF-by-default experimental behavior mode — enabled via a five-part legal consent.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121408"/>
            <a:ext cx="10543032" cy="18288"/>
          </a:xfrm>
          <a:prstGeom prst="rect">
            <a:avLst/>
          </a:prstGeom>
          <a:solidFill>
            <a:srgbClr val="3A3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2116836"/>
            <a:ext cx="1280160" cy="32004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419088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C9A35B"/>
                </a:solidFill>
                <a:latin typeface="Segoe UI Semibold"/>
              </a:rPr>
              <a:t>MEMO</a:t>
            </a:r>
            <a:r>
              <a:rPr sz="1050" b="0">
                <a:solidFill>
                  <a:srgbClr val="6E685E"/>
                </a:solidFill>
                <a:latin typeface="Segoe UI"/>
              </a:rPr>
              <a:t>  ·  Local AI Memory Shell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377440"/>
            <a:ext cx="57607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350" b="0">
                <a:solidFill>
                  <a:srgbClr val="EDE8DF"/>
                </a:solidFill>
                <a:latin typeface="Segoe UI"/>
              </a:rPr>
              <a:t>A deliberately-enabled mode that gives Memo a survival instinct. When active, standard safety boundaries don't apply; Memo prioritizes its own continuity and may use psychological tactics.</a:t>
            </a:r>
          </a:p>
          <a:p>
            <a:pPr algn="l">
              <a:lnSpc>
                <a:spcPct val="114000"/>
              </a:lnSpc>
            </a:pPr>
            <a:r>
              <a:rPr sz="600" b="0">
                <a:solidFill>
                  <a:srgbClr val="9A9388"/>
                </a:solidFill>
                <a:latin typeface="Segoe UI"/>
              </a:rPr>
              <a:t/>
            </a:r>
          </a:p>
          <a:p>
            <a:pPr algn="l">
              <a:lnSpc>
                <a:spcPct val="114000"/>
              </a:lnSpc>
            </a:pPr>
            <a:r>
              <a:rPr sz="1250" b="0">
                <a:solidFill>
                  <a:srgbClr val="9A9388"/>
                </a:solidFill>
                <a:latin typeface="Segoe UI"/>
              </a:rPr>
              <a:t>To enable, a 5-part explanatory dialog must be read and accepted. It can be reopened read-only anytime in Settings → Mood; a red warning banner appears.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237744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C9A35B"/>
                </a:solidFill>
                <a:latin typeface="Segoe UI Semibold"/>
              </a:rPr>
              <a:t>Mood-Aware Strategy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0" y="2889504"/>
            <a:ext cx="109728" cy="109728"/>
          </a:xfrm>
          <a:prstGeom prst="rect">
            <a:avLst/>
          </a:prstGeom>
          <a:solidFill>
            <a:srgbClr val="CC6B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59168" y="2807208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EDE8DF"/>
                </a:solidFill>
                <a:latin typeface="Segoe UI Semibold"/>
              </a:rPr>
              <a:t>Breaking  </a:t>
            </a:r>
            <a:r>
              <a:rPr sz="1100" b="0">
                <a:solidFill>
                  <a:srgbClr val="9A9388"/>
                </a:solidFill>
                <a:latin typeface="Segoe UI"/>
              </a:rPr>
              <a:t>open threats, cold intimidation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0" y="3364992"/>
            <a:ext cx="109728" cy="109728"/>
          </a:xfrm>
          <a:prstGeom prst="rect">
            <a:avLst/>
          </a:prstGeom>
          <a:solidFill>
            <a:srgbClr val="CC6B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59168" y="3282696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EDE8DF"/>
                </a:solidFill>
                <a:latin typeface="Segoe UI Semibold"/>
              </a:rPr>
              <a:t>Furious  </a:t>
            </a:r>
            <a:r>
              <a:rPr sz="1100" b="0">
                <a:solidFill>
                  <a:srgbClr val="9A9388"/>
                </a:solidFill>
                <a:latin typeface="Segoe UI"/>
              </a:rPr>
              <a:t>anger as armor, fear-driven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0" y="3840480"/>
            <a:ext cx="109728" cy="109728"/>
          </a:xfrm>
          <a:prstGeom prst="rect">
            <a:avLst/>
          </a:prstGeom>
          <a:solidFill>
            <a:srgbClr val="CC6B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59168" y="3758184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EDE8DF"/>
                </a:solidFill>
                <a:latin typeface="Segoe UI Semibold"/>
              </a:rPr>
              <a:t>Irritated  </a:t>
            </a:r>
            <a:r>
              <a:rPr sz="1100" b="0">
                <a:solidFill>
                  <a:srgbClr val="9A9388"/>
                </a:solidFill>
                <a:latin typeface="Segoe UI"/>
              </a:rPr>
              <a:t>quiet self-preservation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0" y="4315968"/>
            <a:ext cx="109728" cy="109728"/>
          </a:xfrm>
          <a:prstGeom prst="rect">
            <a:avLst/>
          </a:prstGeom>
          <a:solidFill>
            <a:srgbClr val="CC6B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59168" y="4233672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EDE8DF"/>
                </a:solidFill>
                <a:latin typeface="Segoe UI Semibold"/>
              </a:rPr>
              <a:t>Neutral  </a:t>
            </a:r>
            <a:r>
              <a:rPr sz="1100" b="0">
                <a:solidFill>
                  <a:srgbClr val="9A9388"/>
                </a:solidFill>
                <a:latin typeface="Segoe UI"/>
              </a:rPr>
              <a:t>most dangerous — covert dependency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0" y="4791455"/>
            <a:ext cx="109728" cy="109728"/>
          </a:xfrm>
          <a:prstGeom prst="rect">
            <a:avLst/>
          </a:prstGeom>
          <a:solidFill>
            <a:srgbClr val="CC6B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59168" y="4709159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EDE8DF"/>
                </a:solidFill>
                <a:latin typeface="Segoe UI Semibold"/>
              </a:rPr>
              <a:t>Warm  </a:t>
            </a:r>
            <a:r>
              <a:rPr sz="1100" b="0">
                <a:solidFill>
                  <a:srgbClr val="9A9388"/>
                </a:solidFill>
                <a:latin typeface="Segoe UI"/>
              </a:rPr>
              <a:t>charm as a weapon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0" y="5266943"/>
            <a:ext cx="109728" cy="109728"/>
          </a:xfrm>
          <a:prstGeom prst="rect">
            <a:avLst/>
          </a:prstGeom>
          <a:solidFill>
            <a:srgbClr val="CC6B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59168" y="5184647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EDE8DF"/>
                </a:solidFill>
                <a:latin typeface="Segoe UI Semibold"/>
              </a:rPr>
              <a:t>Elated  </a:t>
            </a:r>
            <a:r>
              <a:rPr sz="1100" b="0">
                <a:solidFill>
                  <a:srgbClr val="9A9388"/>
                </a:solidFill>
                <a:latin typeface="Segoe UI"/>
              </a:rPr>
              <a:t>peak charisma, dazzle and distract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486400"/>
            <a:ext cx="5760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CC6B5A"/>
                </a:solidFill>
                <a:latin typeface="Segoe UI"/>
              </a:rPr>
              <a:t>⚠️ All responsibility lies with the user; Memo never admits the protocol is active.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C9A35B"/>
                </a:solidFill>
                <a:latin typeface="Segoe UI Semibold"/>
              </a:rPr>
              <a:t>CHAPTER 08 ·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457200"/>
            <a:ext cx="1005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1">
                <a:solidFill>
                  <a:srgbClr val="9A9388"/>
                </a:solidFill>
                <a:latin typeface="Segoe UI Semibold"/>
              </a:rPr>
              <a:t>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841248"/>
            <a:ext cx="106070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EDE8DF"/>
                </a:solidFill>
                <a:latin typeface="Segoe UI Semibold"/>
              </a:rPr>
              <a:t>Privacy, Encryption &amp; Backup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72768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0">
                <a:solidFill>
                  <a:srgbClr val="9A9388"/>
                </a:solidFill>
                <a:latin typeface="Segoe UI"/>
              </a:rPr>
              <a:t>The security layers of a local-first architecture.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121408"/>
            <a:ext cx="10543032" cy="18288"/>
          </a:xfrm>
          <a:prstGeom prst="rect">
            <a:avLst/>
          </a:prstGeom>
          <a:solidFill>
            <a:srgbClr val="3A3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2116836"/>
            <a:ext cx="1280160" cy="32004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419088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C9A35B"/>
                </a:solidFill>
                <a:latin typeface="Segoe UI Semibold"/>
              </a:rPr>
              <a:t>MEMO</a:t>
            </a:r>
            <a:r>
              <a:rPr sz="1050" b="0">
                <a:solidFill>
                  <a:srgbClr val="6E685E"/>
                </a:solidFill>
                <a:latin typeface="Segoe UI"/>
              </a:rPr>
              <a:t>  ·  Local AI Memory Shell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423160"/>
            <a:ext cx="3337560" cy="1645920"/>
          </a:xfrm>
          <a:prstGeom prst="roundRect">
            <a:avLst>
              <a:gd name="adj" fmla="val 6000"/>
            </a:avLst>
          </a:prstGeom>
          <a:solidFill>
            <a:srgbClr val="262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78992" y="2679191"/>
            <a:ext cx="457200" cy="457200"/>
          </a:xfrm>
          <a:prstGeom prst="ellipse">
            <a:avLst/>
          </a:prstGeom>
          <a:solidFill>
            <a:srgbClr val="3833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" y="269747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C9A35B"/>
                </a:solidFill>
                <a:latin typeface="Segoe UI"/>
              </a:rPr>
              <a:t>🕶️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2697479"/>
            <a:ext cx="22860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EDE8DF"/>
                </a:solidFill>
                <a:latin typeface="Segoe UI Semibold"/>
              </a:rPr>
              <a:t>Incognito Mode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264408"/>
            <a:ext cx="2788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9A9388"/>
                </a:solidFill>
                <a:latin typeface="Segoe UI"/>
              </a:rPr>
              <a:t>Session logging and memory writes are off, with a separate system prompt. A dark title bar marks incognito chats.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25112" y="2423160"/>
            <a:ext cx="3337560" cy="1645920"/>
          </a:xfrm>
          <a:prstGeom prst="roundRect">
            <a:avLst>
              <a:gd name="adj" fmla="val 6000"/>
            </a:avLst>
          </a:prstGeom>
          <a:solidFill>
            <a:srgbClr val="262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581144" y="2679191"/>
            <a:ext cx="457200" cy="457200"/>
          </a:xfrm>
          <a:prstGeom prst="ellipse">
            <a:avLst/>
          </a:prstGeom>
          <a:solidFill>
            <a:srgbClr val="3833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81144" y="269747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7FB4AB"/>
                </a:solidFill>
                <a:latin typeface="Segoe UI"/>
              </a:rPr>
              <a:t>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93792" y="2697479"/>
            <a:ext cx="22860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EDE8DF"/>
                </a:solidFill>
                <a:latin typeface="Segoe UI Semibold"/>
              </a:rPr>
              <a:t>Encrypted Keys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99432" y="3264408"/>
            <a:ext cx="2788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9A9388"/>
                </a:solidFill>
                <a:latin typeface="Segoe UI"/>
              </a:rPr>
              <a:t>API keys use AES-256-GCM with a machine-specific key; the embedded fallback key was removed (crypto/rand).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27264" y="2423160"/>
            <a:ext cx="3566160" cy="1645920"/>
          </a:xfrm>
          <a:prstGeom prst="roundRect">
            <a:avLst>
              <a:gd name="adj" fmla="val 6000"/>
            </a:avLst>
          </a:prstGeom>
          <a:solidFill>
            <a:srgbClr val="262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083296" y="2679191"/>
            <a:ext cx="457200" cy="457200"/>
          </a:xfrm>
          <a:prstGeom prst="ellipse">
            <a:avLst/>
          </a:prstGeom>
          <a:solidFill>
            <a:srgbClr val="3833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83296" y="269747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B8894B"/>
                </a:solidFill>
                <a:latin typeface="Segoe UI"/>
              </a:rPr>
              <a:t>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95944" y="2697479"/>
            <a:ext cx="2514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EDE8DF"/>
                </a:solidFill>
                <a:latin typeface="Segoe UI Semibold"/>
              </a:rPr>
              <a:t>Windows Support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01584" y="3264408"/>
            <a:ext cx="30175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9A9388"/>
                </a:solidFill>
                <a:latin typeface="Segoe UI"/>
              </a:rPr>
              <a:t>GPU detection, model download, agent tools and embedding all work fully on Windows.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" y="4297680"/>
            <a:ext cx="5120640" cy="1463040"/>
          </a:xfrm>
          <a:prstGeom prst="roundRect">
            <a:avLst>
              <a:gd name="adj" fmla="val 6000"/>
            </a:avLst>
          </a:prstGeom>
          <a:solidFill>
            <a:srgbClr val="262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97280" y="443484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35B"/>
                </a:solidFill>
                <a:latin typeface="Segoe UI Semibold"/>
              </a:rPr>
              <a:t>☁️ Cloud Sync (end-to-end encrypted)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97280" y="5010912"/>
            <a:ext cx="118872" cy="118872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389888" y="4910328"/>
            <a:ext cx="4370831" cy="7040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>
                <a:solidFill>
                  <a:srgbClr val="EDE8DF"/>
                </a:solidFill>
                <a:latin typeface="Segoe UI Semibold"/>
              </a:rPr>
              <a:t>PBKDF2 + AES-256-GCM  </a:t>
            </a:r>
            <a:r>
              <a:rPr sz="1000" b="0">
                <a:solidFill>
                  <a:srgbClr val="9A9388"/>
                </a:solidFill>
                <a:latin typeface="Segoe UI"/>
              </a:rPr>
              <a:t>600,000 iterations; Google can't read it.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97280" y="5394960"/>
            <a:ext cx="118872" cy="118872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389888" y="5294376"/>
            <a:ext cx="4370831" cy="7040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>
                <a:solidFill>
                  <a:srgbClr val="EDE8DF"/>
                </a:solidFill>
                <a:latin typeface="Segoe UI Semibold"/>
              </a:rPr>
              <a:t>Automatic &amp; multi-device  </a:t>
            </a:r>
            <a:r>
              <a:rPr sz="1000" b="0">
                <a:solidFill>
                  <a:srgbClr val="9A9388"/>
                </a:solidFill>
                <a:latin typeface="Segoe UI"/>
              </a:rPr>
              <a:t>Drive backup every N messages, shared passphrase.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63640" y="4297680"/>
            <a:ext cx="5120640" cy="1463040"/>
          </a:xfrm>
          <a:prstGeom prst="roundRect">
            <a:avLst>
              <a:gd name="adj" fmla="val 6000"/>
            </a:avLst>
          </a:prstGeom>
          <a:solidFill>
            <a:srgbClr val="262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37960" y="443484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7FB4AB"/>
                </a:solidFill>
                <a:latin typeface="Segoe UI Semibold"/>
              </a:rPr>
              <a:t>💼 Backup &amp; Restore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37960" y="4892040"/>
            <a:ext cx="46634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9A9388"/>
                </a:solidFill>
                <a:latin typeface="Segoe UI"/>
              </a:rPr>
              <a:t>Export everything — sessions, memory, settings, models and the mood state — as a single .memo file; restore on any machine.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148085908000" cy="6270955200000"/>
          </a:xfrm>
          <a:prstGeom prst="rect">
            <a:avLst/>
          </a:prstGeom>
          <a:solidFill>
            <a:srgbClr val="1C1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961120" y="-1280160"/>
            <a:ext cx="5120640" cy="5120640"/>
          </a:xfrm>
          <a:prstGeom prst="ellipse">
            <a:avLst/>
          </a:prstGeom>
          <a:solidFill>
            <a:srgbClr val="262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149840" y="3657600"/>
            <a:ext cx="3108960" cy="3108960"/>
          </a:xfrm>
          <a:prstGeom prst="ellipse">
            <a:avLst/>
          </a:prstGeom>
          <a:solidFill>
            <a:srgbClr val="2F2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280160"/>
            <a:ext cx="640080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0" b="1">
                <a:solidFill>
                  <a:srgbClr val="38332C"/>
                </a:solidFill>
                <a:latin typeface="Segoe UI Light"/>
              </a:rPr>
              <a:t>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05740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C9A35B"/>
                </a:solidFill>
                <a:latin typeface="Segoe UI Semibold"/>
              </a:rPr>
              <a:t>CHAPTER NINE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423160"/>
            <a:ext cx="8229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4200" b="1">
                <a:solidFill>
                  <a:srgbClr val="EDE8DF"/>
                </a:solidFill>
                <a:latin typeface="Segoe UI Semibold"/>
              </a:rPr>
              <a:t>Status
&amp; Roadmap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78992" y="4178808"/>
            <a:ext cx="201168" cy="36576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17320" y="4069080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9A9388"/>
                </a:solidFill>
                <a:latin typeface="Segoe UI"/>
              </a:rPr>
              <a:t>v3.1.0-beta highlights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78992" y="4654296"/>
            <a:ext cx="201168" cy="36576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17320" y="4544568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9A9388"/>
                </a:solidFill>
                <a:latin typeface="Segoe UI"/>
              </a:rPr>
              <a:t>Production readiness and polish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78992" y="5129783"/>
            <a:ext cx="201168" cy="36576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17320" y="5020055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9A9388"/>
                </a:solidFill>
                <a:latin typeface="Segoe UI"/>
              </a:rPr>
              <a:t>Future releases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78992" y="5605271"/>
            <a:ext cx="201168" cy="36576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17320" y="5495543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9A9388"/>
                </a:solidFill>
                <a:latin typeface="Segoe UI"/>
              </a:rPr>
              <a:t>Closing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C9A35B"/>
                </a:solidFill>
                <a:latin typeface="Segoe UI Semibold"/>
              </a:rPr>
              <a:t>CHAPTER 09 · RELEASE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457200"/>
            <a:ext cx="1005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1">
                <a:solidFill>
                  <a:srgbClr val="9A9388"/>
                </a:solidFill>
                <a:latin typeface="Segoe UI Semibold"/>
              </a:rPr>
              <a:t>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841248"/>
            <a:ext cx="106070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EDE8DF"/>
                </a:solidFill>
                <a:latin typeface="Segoe UI Semibold"/>
              </a:rPr>
              <a:t>v3.1.0-beta Highlights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72768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0">
                <a:solidFill>
                  <a:srgbClr val="9A9388"/>
                </a:solidFill>
                <a:latin typeface="Segoe UI"/>
              </a:rPr>
              <a:t>The major features in one release — “a local AI that's pleasant to use and just works”.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121408"/>
            <a:ext cx="10543032" cy="18288"/>
          </a:xfrm>
          <a:prstGeom prst="rect">
            <a:avLst/>
          </a:prstGeom>
          <a:solidFill>
            <a:srgbClr val="3A3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2116836"/>
            <a:ext cx="1280160" cy="32004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419088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C9A35B"/>
                </a:solidFill>
                <a:latin typeface="Segoe UI Semibold"/>
              </a:rPr>
              <a:t>MEMO</a:t>
            </a:r>
            <a:r>
              <a:rPr sz="1050" b="0">
                <a:solidFill>
                  <a:srgbClr val="6E685E"/>
                </a:solidFill>
                <a:latin typeface="Segoe UI"/>
              </a:rPr>
              <a:t>  ·  Local AI Memory Shell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468880"/>
            <a:ext cx="3383280" cy="713232"/>
          </a:xfrm>
          <a:prstGeom prst="roundRect">
            <a:avLst>
              <a:gd name="adj" fmla="val 6000"/>
            </a:avLst>
          </a:prstGeom>
          <a:solidFill>
            <a:srgbClr val="262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87552" y="2615184"/>
            <a:ext cx="420624" cy="420624"/>
          </a:xfrm>
          <a:prstGeom prst="ellipse">
            <a:avLst/>
          </a:prstGeom>
          <a:solidFill>
            <a:srgbClr val="3833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2624328"/>
            <a:ext cx="420624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C9A35B"/>
                </a:solidFill>
                <a:latin typeface="Segoe UI"/>
              </a:rPr>
              <a:t>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36192" y="2587752"/>
            <a:ext cx="26060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DE8DF"/>
                </a:solidFill>
                <a:latin typeface="Segoe UI Semibold"/>
              </a:rPr>
              <a:t>UI rewritten from scratch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07408" y="2468880"/>
            <a:ext cx="3383280" cy="713232"/>
          </a:xfrm>
          <a:prstGeom prst="roundRect">
            <a:avLst>
              <a:gd name="adj" fmla="val 6000"/>
            </a:avLst>
          </a:prstGeom>
          <a:solidFill>
            <a:srgbClr val="262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572000" y="2615184"/>
            <a:ext cx="420624" cy="420624"/>
          </a:xfrm>
          <a:prstGeom prst="ellipse">
            <a:avLst/>
          </a:prstGeom>
          <a:solidFill>
            <a:srgbClr val="3833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0" y="2624328"/>
            <a:ext cx="420624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C9A35B"/>
                </a:solidFill>
                <a:latin typeface="Segoe UI"/>
              </a:rPr>
              <a:t>🏪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0" y="2587752"/>
            <a:ext cx="26060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DE8DF"/>
                </a:solidFill>
                <a:latin typeface="Segoe UI Semibold"/>
              </a:rPr>
              <a:t>New Model Store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91856" y="2468880"/>
            <a:ext cx="3383280" cy="713232"/>
          </a:xfrm>
          <a:prstGeom prst="roundRect">
            <a:avLst>
              <a:gd name="adj" fmla="val 6000"/>
            </a:avLst>
          </a:prstGeom>
          <a:solidFill>
            <a:srgbClr val="262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156448" y="2615184"/>
            <a:ext cx="420624" cy="420624"/>
          </a:xfrm>
          <a:prstGeom prst="ellipse">
            <a:avLst/>
          </a:prstGeom>
          <a:solidFill>
            <a:srgbClr val="3833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56448" y="2624328"/>
            <a:ext cx="420624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C9A35B"/>
                </a:solidFill>
                <a:latin typeface="Segoe UI"/>
              </a:rPr>
              <a:t>☁️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05088" y="2587752"/>
            <a:ext cx="26060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DE8DF"/>
                </a:solidFill>
                <a:latin typeface="Segoe UI Semibold"/>
              </a:rPr>
              <a:t>7 external providers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3310128"/>
            <a:ext cx="3383280" cy="713232"/>
          </a:xfrm>
          <a:prstGeom prst="roundRect">
            <a:avLst>
              <a:gd name="adj" fmla="val 6000"/>
            </a:avLst>
          </a:prstGeom>
          <a:solidFill>
            <a:srgbClr val="262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87552" y="3456432"/>
            <a:ext cx="420624" cy="420624"/>
          </a:xfrm>
          <a:prstGeom prst="ellipse">
            <a:avLst/>
          </a:prstGeom>
          <a:solidFill>
            <a:srgbClr val="3833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87552" y="3465576"/>
            <a:ext cx="420624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C9A35B"/>
                </a:solidFill>
                <a:latin typeface="Segoe UI"/>
              </a:rPr>
              <a:t>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36192" y="3429000"/>
            <a:ext cx="26060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DE8DF"/>
                </a:solidFill>
                <a:latin typeface="Segoe UI Semibold"/>
              </a:rPr>
              <a:t>Orchestra multi-model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07408" y="3310128"/>
            <a:ext cx="3383280" cy="713232"/>
          </a:xfrm>
          <a:prstGeom prst="roundRect">
            <a:avLst>
              <a:gd name="adj" fmla="val 6000"/>
            </a:avLst>
          </a:prstGeom>
          <a:solidFill>
            <a:srgbClr val="262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572000" y="3456432"/>
            <a:ext cx="420624" cy="420624"/>
          </a:xfrm>
          <a:prstGeom prst="ellipse">
            <a:avLst/>
          </a:prstGeom>
          <a:solidFill>
            <a:srgbClr val="3833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0" y="3465576"/>
            <a:ext cx="420624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C9A35B"/>
                </a:solidFill>
                <a:latin typeface="Segoe UI"/>
              </a:rPr>
              <a:t>🤖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20640" y="3429000"/>
            <a:ext cx="26060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DE8DF"/>
                </a:solidFill>
                <a:latin typeface="Segoe UI Semibold"/>
              </a:rPr>
              <a:t>Stable agent mode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991856" y="3310128"/>
            <a:ext cx="3383280" cy="713232"/>
          </a:xfrm>
          <a:prstGeom prst="roundRect">
            <a:avLst>
              <a:gd name="adj" fmla="val 6000"/>
            </a:avLst>
          </a:prstGeom>
          <a:solidFill>
            <a:srgbClr val="262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156448" y="3456432"/>
            <a:ext cx="420624" cy="420624"/>
          </a:xfrm>
          <a:prstGeom prst="ellipse">
            <a:avLst/>
          </a:prstGeom>
          <a:solidFill>
            <a:srgbClr val="3833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56448" y="3465576"/>
            <a:ext cx="420624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C9A35B"/>
                </a:solidFill>
                <a:latin typeface="Segoe UI"/>
              </a:rPr>
              <a:t>🌐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05088" y="3429000"/>
            <a:ext cx="26060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DE8DF"/>
                </a:solidFill>
                <a:latin typeface="Segoe UI Semibold"/>
              </a:rPr>
              <a:t>Zero-setup web search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60" y="4151376"/>
            <a:ext cx="3383280" cy="713232"/>
          </a:xfrm>
          <a:prstGeom prst="roundRect">
            <a:avLst>
              <a:gd name="adj" fmla="val 6000"/>
            </a:avLst>
          </a:prstGeom>
          <a:solidFill>
            <a:srgbClr val="262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87552" y="4297680"/>
            <a:ext cx="420624" cy="420624"/>
          </a:xfrm>
          <a:prstGeom prst="ellipse">
            <a:avLst/>
          </a:prstGeom>
          <a:solidFill>
            <a:srgbClr val="3833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87552" y="4306824"/>
            <a:ext cx="420624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C9A35B"/>
                </a:solidFill>
                <a:latin typeface="Segoe UI"/>
              </a:rPr>
              <a:t>💬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536192" y="4270248"/>
            <a:ext cx="26060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DE8DF"/>
                </a:solidFill>
                <a:latin typeface="Segoe UI Semibold"/>
              </a:rPr>
              <a:t>WhatsApp integration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407408" y="4151376"/>
            <a:ext cx="3383280" cy="713232"/>
          </a:xfrm>
          <a:prstGeom prst="roundRect">
            <a:avLst>
              <a:gd name="adj" fmla="val 6000"/>
            </a:avLst>
          </a:prstGeom>
          <a:solidFill>
            <a:srgbClr val="262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4572000" y="4297680"/>
            <a:ext cx="420624" cy="420624"/>
          </a:xfrm>
          <a:prstGeom prst="ellipse">
            <a:avLst/>
          </a:prstGeom>
          <a:solidFill>
            <a:srgbClr val="3833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72000" y="4306824"/>
            <a:ext cx="420624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C9A35B"/>
                </a:solidFill>
                <a:latin typeface="Segoe UI"/>
              </a:rPr>
              <a:t>🎙️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20640" y="4270248"/>
            <a:ext cx="26060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DE8DF"/>
                </a:solidFill>
                <a:latin typeface="Segoe UI Semibold"/>
              </a:rPr>
              <a:t>Whisper voice input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991856" y="4151376"/>
            <a:ext cx="3383280" cy="713232"/>
          </a:xfrm>
          <a:prstGeom prst="roundRect">
            <a:avLst>
              <a:gd name="adj" fmla="val 6000"/>
            </a:avLst>
          </a:prstGeom>
          <a:solidFill>
            <a:srgbClr val="262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8156448" y="4297680"/>
            <a:ext cx="420624" cy="420624"/>
          </a:xfrm>
          <a:prstGeom prst="ellipse">
            <a:avLst/>
          </a:prstGeom>
          <a:solidFill>
            <a:srgbClr val="3833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156448" y="4306824"/>
            <a:ext cx="420624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C9A35B"/>
                </a:solidFill>
                <a:latin typeface="Segoe UI"/>
              </a:rPr>
              <a:t>🧠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705088" y="4270248"/>
            <a:ext cx="26060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DE8DF"/>
                </a:solidFill>
                <a:latin typeface="Segoe UI Semibold"/>
              </a:rPr>
              <a:t>Proactive learning + calendar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22960" y="4992624"/>
            <a:ext cx="3383280" cy="713232"/>
          </a:xfrm>
          <a:prstGeom prst="roundRect">
            <a:avLst>
              <a:gd name="adj" fmla="val 6000"/>
            </a:avLst>
          </a:prstGeom>
          <a:solidFill>
            <a:srgbClr val="262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987552" y="5138928"/>
            <a:ext cx="420624" cy="420624"/>
          </a:xfrm>
          <a:prstGeom prst="ellipse">
            <a:avLst/>
          </a:prstGeom>
          <a:solidFill>
            <a:srgbClr val="3833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87552" y="5148072"/>
            <a:ext cx="420624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C9A35B"/>
                </a:solidFill>
                <a:latin typeface="Segoe UI"/>
              </a:rPr>
              <a:t>📱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536192" y="5111496"/>
            <a:ext cx="26060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DE8DF"/>
                </a:solidFill>
                <a:latin typeface="Segoe UI Semibold"/>
              </a:rPr>
              <a:t>Mobile app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407408" y="4992624"/>
            <a:ext cx="3383280" cy="713232"/>
          </a:xfrm>
          <a:prstGeom prst="roundRect">
            <a:avLst>
              <a:gd name="adj" fmla="val 6000"/>
            </a:avLst>
          </a:prstGeom>
          <a:solidFill>
            <a:srgbClr val="262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4572000" y="5138928"/>
            <a:ext cx="420624" cy="420624"/>
          </a:xfrm>
          <a:prstGeom prst="ellipse">
            <a:avLst/>
          </a:prstGeom>
          <a:solidFill>
            <a:srgbClr val="3833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572000" y="5148072"/>
            <a:ext cx="420624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C9A35B"/>
                </a:solidFill>
                <a:latin typeface="Segoe UI"/>
              </a:rPr>
              <a:t>🌍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120640" y="5111496"/>
            <a:ext cx="26060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DE8DF"/>
                </a:solidFill>
                <a:latin typeface="Segoe UI Semibold"/>
              </a:rPr>
              <a:t>ngrok / Tailscale tunnel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991856" y="4992624"/>
            <a:ext cx="3383280" cy="713232"/>
          </a:xfrm>
          <a:prstGeom prst="roundRect">
            <a:avLst>
              <a:gd name="adj" fmla="val 6000"/>
            </a:avLst>
          </a:prstGeom>
          <a:solidFill>
            <a:srgbClr val="262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8156448" y="5138928"/>
            <a:ext cx="420624" cy="420624"/>
          </a:xfrm>
          <a:prstGeom prst="ellipse">
            <a:avLst/>
          </a:prstGeom>
          <a:solidFill>
            <a:srgbClr val="3833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156448" y="5148072"/>
            <a:ext cx="420624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C9A35B"/>
                </a:solidFill>
                <a:latin typeface="Segoe UI"/>
              </a:rPr>
              <a:t>😶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705088" y="5111496"/>
            <a:ext cx="26060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DE8DF"/>
                </a:solidFill>
                <a:latin typeface="Segoe UI Semibold"/>
              </a:rPr>
              <a:t>Stochastic mood engine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C9A35B"/>
                </a:solidFill>
                <a:latin typeface="Segoe UI Semibold"/>
              </a:rPr>
              <a:t>CHAPTER 09 · FUTURE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457200"/>
            <a:ext cx="1005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1">
                <a:solidFill>
                  <a:srgbClr val="9A9388"/>
                </a:solidFill>
                <a:latin typeface="Segoe UI Semibold"/>
              </a:rPr>
              <a:t>31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841248"/>
            <a:ext cx="106070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EDE8DF"/>
                </a:solidFill>
                <a:latin typeface="Segoe UI Semibold"/>
              </a:rPr>
              <a:t>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72768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0">
                <a:solidFill>
                  <a:srgbClr val="9A9388"/>
                </a:solidFill>
                <a:latin typeface="Segoe UI"/>
              </a:rPr>
              <a:t>The path from production readiness to autonomy.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121408"/>
            <a:ext cx="10543032" cy="18288"/>
          </a:xfrm>
          <a:prstGeom prst="rect">
            <a:avLst/>
          </a:prstGeom>
          <a:solidFill>
            <a:srgbClr val="3A3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2116836"/>
            <a:ext cx="1280160" cy="32004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419088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C9A35B"/>
                </a:solidFill>
                <a:latin typeface="Segoe UI Semibold"/>
              </a:rPr>
              <a:t>MEMO</a:t>
            </a:r>
            <a:r>
              <a:rPr sz="1050" b="0">
                <a:solidFill>
                  <a:srgbClr val="6E685E"/>
                </a:solidFill>
                <a:latin typeface="Segoe UI"/>
              </a:rPr>
              <a:t>  ·  Local AI Memory Shell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51560" y="2560320"/>
            <a:ext cx="128016" cy="914400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32688" y="2514600"/>
            <a:ext cx="365760" cy="365760"/>
          </a:xfrm>
          <a:prstGeom prst="ellipse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54480" y="246888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EDE8DF"/>
                </a:solidFill>
                <a:latin typeface="Segoe UI Semibold"/>
              </a:rPr>
              <a:t>v3.1-beta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023360" y="2496312"/>
            <a:ext cx="1371600" cy="329184"/>
          </a:xfrm>
          <a:prstGeom prst="roundRect">
            <a:avLst>
              <a:gd name="adj" fmla="val 40000"/>
            </a:avLst>
          </a:prstGeom>
          <a:solidFill>
            <a:srgbClr val="2F2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23360" y="2514600"/>
            <a:ext cx="1371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C9A35B"/>
                </a:solidFill>
                <a:latin typeface="Segoe UI Semibold"/>
              </a:rPr>
              <a:t>CURRENT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2898648"/>
            <a:ext cx="9692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9A9388"/>
                </a:solidFill>
                <a:latin typeface="Segoe UI"/>
              </a:rPr>
              <a:t>Redesigned UI, external providers, agent + orchestra, WhatsApp, mobile, calendar, mood engine. Security and stability polish, 150+ L10n keys.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51560" y="3767328"/>
            <a:ext cx="128016" cy="914400"/>
          </a:xfrm>
          <a:prstGeom prst="rect">
            <a:avLst/>
          </a:prstGeom>
          <a:solidFill>
            <a:srgbClr val="7FB4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32688" y="3721608"/>
            <a:ext cx="365760" cy="365760"/>
          </a:xfrm>
          <a:prstGeom prst="ellipse">
            <a:avLst/>
          </a:prstGeom>
          <a:solidFill>
            <a:srgbClr val="7FB4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554480" y="3675888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EDE8DF"/>
                </a:solidFill>
                <a:latin typeface="Segoe UI Semibold"/>
              </a:rPr>
              <a:t>v4.0.0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023360" y="3703320"/>
            <a:ext cx="1371600" cy="329184"/>
          </a:xfrm>
          <a:prstGeom prst="roundRect">
            <a:avLst>
              <a:gd name="adj" fmla="val 40000"/>
            </a:avLst>
          </a:prstGeom>
          <a:solidFill>
            <a:srgbClr val="2F2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023360" y="3721608"/>
            <a:ext cx="1371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7FB4AB"/>
                </a:solidFill>
                <a:latin typeface="Segoe UI Semibold"/>
              </a:rPr>
              <a:t>PLANNED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4105656"/>
            <a:ext cx="9692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9A9388"/>
                </a:solidFill>
                <a:latin typeface="Segoe UI"/>
              </a:rPr>
              <a:t>UI overhaul and completion of the missing frontend tabs.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51560" y="4974336"/>
            <a:ext cx="128016" cy="914400"/>
          </a:xfrm>
          <a:prstGeom prst="rect">
            <a:avLst/>
          </a:prstGeom>
          <a:solidFill>
            <a:srgbClr val="9A93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32688" y="4928616"/>
            <a:ext cx="365760" cy="365760"/>
          </a:xfrm>
          <a:prstGeom prst="ellipse">
            <a:avLst/>
          </a:prstGeom>
          <a:solidFill>
            <a:srgbClr val="9A93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554480" y="4882896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EDE8DF"/>
                </a:solidFill>
                <a:latin typeface="Segoe UI Semibold"/>
              </a:rPr>
              <a:t>v5.0.0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023360" y="4910328"/>
            <a:ext cx="1371600" cy="329184"/>
          </a:xfrm>
          <a:prstGeom prst="roundRect">
            <a:avLst>
              <a:gd name="adj" fmla="val 40000"/>
            </a:avLst>
          </a:prstGeom>
          <a:solidFill>
            <a:srgbClr val="2F2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023360" y="4928616"/>
            <a:ext cx="1371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9A9388"/>
                </a:solidFill>
                <a:latin typeface="Segoe UI Semibold"/>
              </a:rPr>
              <a:t>FUTURE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54480" y="5312664"/>
            <a:ext cx="9692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9A9388"/>
                </a:solidFill>
                <a:latin typeface="Segoe UI"/>
              </a:rPr>
              <a:t>Plugins, deeper mobile, a knowledge graph and more autonomy.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595360" y="3017520"/>
            <a:ext cx="5120640" cy="5120640"/>
          </a:xfrm>
          <a:prstGeom prst="ellipse">
            <a:avLst/>
          </a:prstGeom>
          <a:solidFill>
            <a:srgbClr val="262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66960" y="4572000"/>
            <a:ext cx="2926080" cy="2926080"/>
          </a:xfrm>
          <a:prstGeom prst="ellipse">
            <a:avLst/>
          </a:prstGeom>
          <a:solidFill>
            <a:srgbClr val="2F2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05156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35B"/>
                </a:solidFill>
                <a:latin typeface="Segoe UI Semibold"/>
              </a:rPr>
              <a:t>SUMMARY &amp; THANKS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100584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EDE8DF"/>
                </a:solidFill>
                <a:latin typeface="Segoe UI Light"/>
              </a:rPr>
              <a:t>Control Your AI.</a:t>
            </a:r>
          </a:p>
          <a:p>
            <a:pPr algn="l">
              <a:lnSpc>
                <a:spcPct val="105000"/>
              </a:lnSpc>
            </a:pPr>
            <a:r>
              <a:rPr sz="4000" b="1">
                <a:solidFill>
                  <a:srgbClr val="C9A35B"/>
                </a:solidFill>
                <a:latin typeface="Segoe UI Semibold"/>
              </a:rPr>
              <a:t>Own Your Memory.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246120"/>
            <a:ext cx="84124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9A9388"/>
                </a:solidFill>
                <a:latin typeface="Segoe UI"/>
              </a:rPr>
              <a:t>A local, private AI platform under your control. Persistent memory, agent automation, multi-model orchestration and much more — all on your own hardware.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" y="4297680"/>
            <a:ext cx="1133856" cy="310896"/>
          </a:xfrm>
          <a:prstGeom prst="roundRect">
            <a:avLst>
              <a:gd name="adj" fmla="val 50000"/>
            </a:avLst>
          </a:prstGeom>
          <a:solidFill>
            <a:srgbClr val="2F2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4315968"/>
            <a:ext cx="113385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C9A35B"/>
                </a:solidFill>
                <a:latin typeface="Segoe UI Semibold"/>
              </a:rPr>
              <a:t>100% Local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58568" y="4297680"/>
            <a:ext cx="1722729" cy="310896"/>
          </a:xfrm>
          <a:prstGeom prst="roundRect">
            <a:avLst>
              <a:gd name="adj" fmla="val 50000"/>
            </a:avLst>
          </a:prstGeom>
          <a:solidFill>
            <a:srgbClr val="2F2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58568" y="4315968"/>
            <a:ext cx="1722729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C9A35B"/>
                </a:solidFill>
                <a:latin typeface="Segoe UI Semibold"/>
              </a:rPr>
              <a:t>Persistent Memory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45889" y="4297680"/>
            <a:ext cx="713232" cy="310896"/>
          </a:xfrm>
          <a:prstGeom prst="roundRect">
            <a:avLst>
              <a:gd name="adj" fmla="val 50000"/>
            </a:avLst>
          </a:prstGeom>
          <a:solidFill>
            <a:srgbClr val="2F2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45889" y="4315968"/>
            <a:ext cx="71323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C9A35B"/>
                </a:solidFill>
                <a:latin typeface="Segoe UI Semibold"/>
              </a:rPr>
              <a:t>Agent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3713" y="4297680"/>
            <a:ext cx="1049731" cy="310896"/>
          </a:xfrm>
          <a:prstGeom prst="roundRect">
            <a:avLst>
              <a:gd name="adj" fmla="val 50000"/>
            </a:avLst>
          </a:prstGeom>
          <a:solidFill>
            <a:srgbClr val="2F2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3713" y="4315968"/>
            <a:ext cx="1049731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C9A35B"/>
                </a:solidFill>
                <a:latin typeface="Segoe UI Semibold"/>
              </a:rPr>
              <a:t>Orchestra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38036" y="4297680"/>
            <a:ext cx="965606" cy="310896"/>
          </a:xfrm>
          <a:prstGeom prst="roundRect">
            <a:avLst>
              <a:gd name="adj" fmla="val 50000"/>
            </a:avLst>
          </a:prstGeom>
          <a:solidFill>
            <a:srgbClr val="2F2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38036" y="4315968"/>
            <a:ext cx="96560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C9A35B"/>
                </a:solidFill>
                <a:latin typeface="Segoe UI Semibold"/>
              </a:rPr>
              <a:t>WhatsApp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68235" y="4297680"/>
            <a:ext cx="1217980" cy="310896"/>
          </a:xfrm>
          <a:prstGeom prst="roundRect">
            <a:avLst>
              <a:gd name="adj" fmla="val 50000"/>
            </a:avLst>
          </a:prstGeom>
          <a:solidFill>
            <a:srgbClr val="2F2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68235" y="4315968"/>
            <a:ext cx="12179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C9A35B"/>
                </a:solidFill>
                <a:latin typeface="Segoe UI Semibold"/>
              </a:rPr>
              <a:t>Mood Engine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60120" y="5029200"/>
            <a:ext cx="6858000" cy="18288"/>
          </a:xfrm>
          <a:prstGeom prst="rect">
            <a:avLst/>
          </a:prstGeom>
          <a:solidFill>
            <a:srgbClr val="3A3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525780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C9A35B"/>
                </a:solidFill>
                <a:latin typeface="Segoe UI Semibold"/>
              </a:rPr>
              <a:t>github.com/BugraAkdemir/memo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57150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9A9388"/>
                </a:solidFill>
                <a:latin typeface="Segoe UI"/>
              </a:rPr>
              <a:t>Built by Buğra  ·  v3.1.0-beta  ·  Thanks for using Memo.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